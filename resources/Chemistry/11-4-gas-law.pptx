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1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886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783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3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32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341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731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413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30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091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92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813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29" r:id="rId6"/>
    <p:sldLayoutId id="2147483725" r:id="rId7"/>
    <p:sldLayoutId id="2147483726" r:id="rId8"/>
    <p:sldLayoutId id="2147483727" r:id="rId9"/>
    <p:sldLayoutId id="2147483728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anometer beer equipment">
            <a:extLst>
              <a:ext uri="{FF2B5EF4-FFF2-40B4-BE49-F238E27FC236}">
                <a16:creationId xmlns:a16="http://schemas.microsoft.com/office/drawing/2014/main" id="{5845678F-0879-875D-2926-6541CD2363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30" r="8129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8E6CE-4739-59BD-1BC6-55A9BB302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n-US" sz="4800" dirty="0"/>
              <a:t>11.4 Gas Law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AF4ECC-A901-BE28-00BB-28372785C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r>
              <a:rPr lang="en-US" sz="2000" dirty="0"/>
              <a:t>Mar. 20</a:t>
            </a:r>
            <a:r>
              <a:rPr lang="en-US" sz="2000" baseline="30000" dirty="0"/>
              <a:t>th</a:t>
            </a:r>
            <a:r>
              <a:rPr lang="en-US" sz="2000" dirty="0"/>
              <a:t>, 2026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36905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6871A-72C5-CD5A-2537-BD16B49B1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this class, we will understand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0457D-8F3E-9F71-057A-0F6B8125A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gas behave</a:t>
            </a:r>
          </a:p>
          <a:p>
            <a:r>
              <a:rPr lang="en-US" dirty="0"/>
              <a:t>What is ideal gas</a:t>
            </a:r>
          </a:p>
          <a:p>
            <a:r>
              <a:rPr lang="en-US" dirty="0"/>
              <a:t>Differences between ideal gas and real gas</a:t>
            </a:r>
          </a:p>
        </p:txBody>
      </p:sp>
    </p:spTree>
    <p:extLst>
      <p:ext uri="{BB962C8B-B14F-4D97-AF65-F5344CB8AC3E}">
        <p14:creationId xmlns:p14="http://schemas.microsoft.com/office/powerpoint/2010/main" val="752195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7D4A-5CB5-20C2-11B1-8AB220EEA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Gaseous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C982F-C919-588E-F44A-EAF8BAD87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T</a:t>
            </a:r>
            <a:r>
              <a:rPr lang="en-US" altLang="zh-CN" sz="4000" dirty="0"/>
              <a:t>hink: how does gas behave differently from solid and liquid?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68256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44">
            <a:extLst>
              <a:ext uri="{FF2B5EF4-FFF2-40B4-BE49-F238E27FC236}">
                <a16:creationId xmlns:a16="http://schemas.microsoft.com/office/drawing/2014/main" id="{DB90EDA9-2517-46EC-B6D4-3918D0478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C5FC2-2045-21AE-2176-D010FF55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36192"/>
          </a:xfrm>
        </p:spPr>
        <p:txBody>
          <a:bodyPr anchor="b">
            <a:normAutofit/>
          </a:bodyPr>
          <a:lstStyle/>
          <a:p>
            <a:r>
              <a:rPr lang="en-US" sz="5200"/>
              <a:t>Boyle’s Rule</a:t>
            </a:r>
          </a:p>
        </p:txBody>
      </p:sp>
      <p:sp>
        <p:nvSpPr>
          <p:cNvPr id="1054" name="Rectangle 1046">
            <a:extLst>
              <a:ext uri="{FF2B5EF4-FFF2-40B4-BE49-F238E27FC236}">
                <a16:creationId xmlns:a16="http://schemas.microsoft.com/office/drawing/2014/main" id="{D449B1F2-532C-44C7-8AC7-28EA15EE0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0392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Father of Chemistry, Robert Boyle">
            <a:extLst>
              <a:ext uri="{FF2B5EF4-FFF2-40B4-BE49-F238E27FC236}">
                <a16:creationId xmlns:a16="http://schemas.microsoft.com/office/drawing/2014/main" id="{941613D7-557F-BF82-6BA2-0B9CCA4C8B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64" b="23139"/>
          <a:stretch/>
        </p:blipFill>
        <p:spPr bwMode="auto">
          <a:xfrm>
            <a:off x="7684008" y="10"/>
            <a:ext cx="4507992" cy="293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5" name="Rectangle 1048">
            <a:extLst>
              <a:ext uri="{FF2B5EF4-FFF2-40B4-BE49-F238E27FC236}">
                <a16:creationId xmlns:a16="http://schemas.microsoft.com/office/drawing/2014/main" id="{EE7D3784-5CF9-4282-9B1C-52395785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F8E8B-8916-D0E6-5851-4ABA7A81D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72784" cy="2825496"/>
          </a:xfrm>
        </p:spPr>
        <p:txBody>
          <a:bodyPr>
            <a:normAutofit/>
          </a:bodyPr>
          <a:lstStyle/>
          <a:p>
            <a:r>
              <a:rPr lang="en-US" sz="1800"/>
              <a:t>BOYLE’S LAW: the volume of a confined gas is inversely proportional to the pressure exerted on the gas. </a:t>
            </a:r>
          </a:p>
          <a:p>
            <a:r>
              <a:rPr lang="en-US" sz="1800"/>
              <a:t>Real life example?</a:t>
            </a:r>
          </a:p>
          <a:p>
            <a:r>
              <a:rPr lang="en-US" sz="1800"/>
              <a:t>PV=k</a:t>
            </a:r>
          </a:p>
          <a:p>
            <a:pPr marL="0" indent="0">
              <a:buNone/>
            </a:pPr>
            <a:endParaRPr lang="en-US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8EC21E-4E62-2FBD-6EE2-C3BA5DA6EF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22" r="3296" b="3"/>
          <a:stretch/>
        </p:blipFill>
        <p:spPr>
          <a:xfrm>
            <a:off x="7684008" y="3172968"/>
            <a:ext cx="4507992" cy="368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98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4" name="Rectangle 2063">
            <a:extLst>
              <a:ext uri="{FF2B5EF4-FFF2-40B4-BE49-F238E27FC236}">
                <a16:creationId xmlns:a16="http://schemas.microsoft.com/office/drawing/2014/main" id="{6D24BC9E-AC6A-42EE-AFD8-B290720B8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66" name="Rectangle 2065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107624"/>
            <a:ext cx="11167447" cy="208931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934262-02C8-681B-1568-2E6255AA3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329321"/>
            <a:ext cx="3538728" cy="1645920"/>
          </a:xfrm>
        </p:spPr>
        <p:txBody>
          <a:bodyPr>
            <a:normAutofit/>
          </a:bodyPr>
          <a:lstStyle/>
          <a:p>
            <a:r>
              <a:rPr lang="en-US" sz="3200"/>
              <a:t>Charles’ Law</a:t>
            </a:r>
          </a:p>
        </p:txBody>
      </p:sp>
      <p:pic>
        <p:nvPicPr>
          <p:cNvPr id="2050" name="Picture 2" descr="Painting of a person holding a book&#10;&#10;Description automatically generated with medium confidence">
            <a:extLst>
              <a:ext uri="{FF2B5EF4-FFF2-40B4-BE49-F238E27FC236}">
                <a16:creationId xmlns:a16="http://schemas.microsoft.com/office/drawing/2014/main" id="{00C341C5-8D2F-2D3B-D1CD-6891321F11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5" r="9832"/>
          <a:stretch/>
        </p:blipFill>
        <p:spPr bwMode="auto">
          <a:xfrm>
            <a:off x="2155954" y="361910"/>
            <a:ext cx="2290058" cy="348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iagram&#10;&#10;Description automatically generated">
            <a:extLst>
              <a:ext uri="{FF2B5EF4-FFF2-40B4-BE49-F238E27FC236}">
                <a16:creationId xmlns:a16="http://schemas.microsoft.com/office/drawing/2014/main" id="{AB5EAC1B-BB3F-BB9B-4FEE-826A93FA4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53707" y="357251"/>
            <a:ext cx="4613335" cy="348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8" name="Rectangle 2067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80023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0" name="Rectangle 2069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8113" y="5147709"/>
            <a:ext cx="146304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8F490-4D7E-8352-13C5-E23A03B39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9240" y="4329321"/>
            <a:ext cx="6007608" cy="1645920"/>
          </a:xfrm>
        </p:spPr>
        <p:txBody>
          <a:bodyPr anchor="ctr">
            <a:normAutofit/>
          </a:bodyPr>
          <a:lstStyle/>
          <a:p>
            <a:r>
              <a:rPr lang="en-US" sz="1800"/>
              <a:t>If a given quantity of gas is held at a constant pressure, then its volume is directly proportional to the absolute temperature.</a:t>
            </a:r>
          </a:p>
        </p:txBody>
      </p:sp>
    </p:spTree>
    <p:extLst>
      <p:ext uri="{BB962C8B-B14F-4D97-AF65-F5344CB8AC3E}">
        <p14:creationId xmlns:p14="http://schemas.microsoft.com/office/powerpoint/2010/main" val="3507754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C5C28-F3B7-ED5B-BAF8-72457A465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/>
              <a:t>Avogadro’s Law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F9E04-A0AE-EE40-9985-BB2D44DB4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/>
              <a:t>The volume of a gas, at a given temperature and pressure, is directly proportional to the quantity of gas.</a:t>
            </a:r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789DCF3A-A5E8-A22A-E827-A7CA2D7AA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863" y="841248"/>
            <a:ext cx="5878650" cy="52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605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8A19-A12E-B76F-ADB4-14F1FB1E1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Ideal Gas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CD259-08F0-8C91-0EB5-5D4C93F7C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8856568" cy="1058806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buNone/>
            </a:pPr>
            <a:r>
              <a:rPr lang="en-US" sz="6600" dirty="0"/>
              <a:t>PV=</a:t>
            </a:r>
            <a:r>
              <a:rPr lang="en-US" sz="6600" dirty="0" err="1"/>
              <a:t>nRT</a:t>
            </a:r>
            <a:endParaRPr lang="en-US" sz="6600" dirty="0"/>
          </a:p>
          <a:p>
            <a:pPr marL="0" indent="0" algn="ctr">
              <a:buNone/>
            </a:pPr>
            <a:r>
              <a:rPr lang="en-US" sz="6600" dirty="0"/>
              <a:t>R=0.08206 L atm mol</a:t>
            </a:r>
            <a:r>
              <a:rPr lang="en-US" sz="6600" baseline="30000" dirty="0"/>
              <a:t>−1 </a:t>
            </a:r>
            <a:r>
              <a:rPr lang="en-US" sz="6600" dirty="0"/>
              <a:t>K </a:t>
            </a:r>
            <a:r>
              <a:rPr lang="en-US" sz="6600" baseline="30000" dirty="0"/>
              <a:t>−1 </a:t>
            </a:r>
          </a:p>
        </p:txBody>
      </p:sp>
    </p:spTree>
    <p:extLst>
      <p:ext uri="{BB962C8B-B14F-4D97-AF65-F5344CB8AC3E}">
        <p14:creationId xmlns:p14="http://schemas.microsoft.com/office/powerpoint/2010/main" val="1821897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380AD67-C5CA-4918-B4BB-C359BB03E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29A3C8-FDB2-C29A-079F-1AFBE35AF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216" y="1076324"/>
            <a:ext cx="6272784" cy="1535051"/>
          </a:xfrm>
        </p:spPr>
        <p:txBody>
          <a:bodyPr anchor="b">
            <a:normAutofit/>
          </a:bodyPr>
          <a:lstStyle/>
          <a:p>
            <a:r>
              <a:rPr lang="en-US" sz="5200"/>
              <a:t>I</a:t>
            </a:r>
            <a:r>
              <a:rPr lang="en-US" altLang="zh-CN" sz="5200"/>
              <a:t>deal Gas Property</a:t>
            </a:r>
            <a:endParaRPr lang="en-US" sz="5200"/>
          </a:p>
        </p:txBody>
      </p:sp>
      <p:pic>
        <p:nvPicPr>
          <p:cNvPr id="5" name="Picture 4" descr="A swirling meteorite">
            <a:extLst>
              <a:ext uri="{FF2B5EF4-FFF2-40B4-BE49-F238E27FC236}">
                <a16:creationId xmlns:a16="http://schemas.microsoft.com/office/drawing/2014/main" id="{982A2668-76F3-D0A8-72EB-4A79C21013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087" r="26376" b="1"/>
          <a:stretch/>
        </p:blipFill>
        <p:spPr>
          <a:xfrm>
            <a:off x="20" y="10"/>
            <a:ext cx="4505305" cy="6857990"/>
          </a:xfrm>
          <a:prstGeom prst="rect">
            <a:avLst/>
          </a:prstGeom>
        </p:spPr>
      </p:pic>
      <p:sp>
        <p:nvSpPr>
          <p:cNvPr id="11" name="!!accent">
            <a:extLst>
              <a:ext uri="{FF2B5EF4-FFF2-40B4-BE49-F238E27FC236}">
                <a16:creationId xmlns:a16="http://schemas.microsoft.com/office/drawing/2014/main" id="{EABAD4DA-87BA-4F70-9EF0-45C6BCF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5128D9-2797-47FA-B6FE-EC24E6B84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B04DD-6C20-3FB3-DA33-68C90E367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216" y="3351276"/>
            <a:ext cx="6272784" cy="282568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sz="1800" b="0" i="0" dirty="0">
                <a:effectLst/>
                <a:latin typeface="Times New Roman" panose="02020603050405020304" pitchFamily="18" charset="0"/>
              </a:rPr>
              <a:t>The gas particles have negligible volume.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sz="1800" b="0" i="0" dirty="0">
                <a:effectLst/>
                <a:latin typeface="Times New Roman" panose="02020603050405020304" pitchFamily="18" charset="0"/>
              </a:rPr>
              <a:t>The gas particles are equally sized and do not have intermolecular forces (attraction or repulsion) with other gas particles.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sz="1800" b="0" i="0" dirty="0">
                <a:effectLst/>
                <a:latin typeface="Times New Roman" panose="02020603050405020304" pitchFamily="18" charset="0"/>
              </a:rPr>
              <a:t>The gas particles move randomly in agreement with Newton’s Laws of Motion.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sz="1800" b="0" i="0" dirty="0">
                <a:effectLst/>
                <a:latin typeface="Times New Roman" panose="02020603050405020304" pitchFamily="18" charset="0"/>
              </a:rPr>
              <a:t>The gas particles have perfect elastic collisions with no energy loss.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71991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B84E5-B2F9-89E6-B938-AAB9B081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US" altLang="zh-CN" dirty="0"/>
              <a:t>iscussion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5F61F-737E-B8C8-9DEC-D689B35C0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</a:t>
            </a:r>
            <a:r>
              <a:rPr lang="en-US" altLang="zh-CN" dirty="0"/>
              <a:t>hich of the following gas behaves most ideally?</a:t>
            </a:r>
          </a:p>
          <a:p>
            <a:pPr marL="0" indent="0">
              <a:buNone/>
            </a:pPr>
            <a:r>
              <a:rPr lang="en-US" dirty="0"/>
              <a:t>A. H</a:t>
            </a:r>
            <a:r>
              <a:rPr lang="en-US" baseline="-25000" dirty="0"/>
              <a:t>2</a:t>
            </a:r>
            <a:r>
              <a:rPr lang="en-US" dirty="0"/>
              <a:t>		B. He		C. Kr		D. Xe</a:t>
            </a:r>
          </a:p>
        </p:txBody>
      </p:sp>
    </p:spTree>
    <p:extLst>
      <p:ext uri="{BB962C8B-B14F-4D97-AF65-F5344CB8AC3E}">
        <p14:creationId xmlns:p14="http://schemas.microsoft.com/office/powerpoint/2010/main" val="2638387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E89FB-17BF-2A18-E2BD-41FE5FEF2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Gas Calibration</a:t>
            </a:r>
          </a:p>
        </p:txBody>
      </p:sp>
      <p:pic>
        <p:nvPicPr>
          <p:cNvPr id="3074" name="Picture 2" descr="CAN we use the van der Waals equation for both real and ideal gases? - Quora">
            <a:extLst>
              <a:ext uri="{FF2B5EF4-FFF2-40B4-BE49-F238E27FC236}">
                <a16:creationId xmlns:a16="http://schemas.microsoft.com/office/drawing/2014/main" id="{9EABE6C1-7A9B-06BB-968E-5FAB5B995EA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905" y="2054825"/>
            <a:ext cx="47625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7456BB-6F88-CA9A-02F5-BC69D09FA225}"/>
              </a:ext>
            </a:extLst>
          </p:cNvPr>
          <p:cNvSpPr txBox="1"/>
          <p:nvPr/>
        </p:nvSpPr>
        <p:spPr>
          <a:xfrm>
            <a:off x="2064473" y="4436075"/>
            <a:ext cx="77466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a: intermolecular force</a:t>
            </a:r>
          </a:p>
          <a:p>
            <a:pPr algn="ctr"/>
            <a:r>
              <a:rPr lang="en-US" dirty="0"/>
              <a:t>b: volume of gas molecules</a:t>
            </a:r>
          </a:p>
          <a:p>
            <a:pPr algn="ctr"/>
            <a:r>
              <a:rPr lang="en-US" dirty="0"/>
              <a:t>a and b need to be determined experimentally for each gas.</a:t>
            </a:r>
          </a:p>
        </p:txBody>
      </p:sp>
    </p:spTree>
    <p:extLst>
      <p:ext uri="{BB962C8B-B14F-4D97-AF65-F5344CB8AC3E}">
        <p14:creationId xmlns:p14="http://schemas.microsoft.com/office/powerpoint/2010/main" val="4085625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D733C-8C47-D928-121C-EA130852A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478AF-A56C-21DB-E7C2-9C4330B8A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1: </a:t>
            </a:r>
            <a:r>
              <a:rPr lang="en-US" dirty="0"/>
              <a:t>A gas occupies a volume of </a:t>
            </a:r>
            <a:r>
              <a:rPr lang="en-US" b="1" dirty="0"/>
              <a:t>4.50 L</a:t>
            </a:r>
            <a:r>
              <a:rPr lang="en-US" dirty="0"/>
              <a:t> at a pressure of </a:t>
            </a:r>
            <a:r>
              <a:rPr lang="en-US" b="1" dirty="0"/>
              <a:t>1.20 atm</a:t>
            </a:r>
            <a:r>
              <a:rPr lang="en-US" dirty="0"/>
              <a:t> and a temperature of </a:t>
            </a:r>
            <a:r>
              <a:rPr lang="en-US" b="1" dirty="0"/>
              <a:t>298 K</a:t>
            </a:r>
            <a:r>
              <a:rPr lang="en-US" dirty="0"/>
              <a:t>. Calculate the number of moles of gas present.</a:t>
            </a:r>
          </a:p>
          <a:p>
            <a:pPr marL="0" indent="0">
              <a:buNone/>
            </a:pPr>
            <a:r>
              <a:rPr lang="en-US" b="1" dirty="0"/>
              <a:t>2: </a:t>
            </a:r>
            <a:r>
              <a:rPr lang="en-US" dirty="0"/>
              <a:t>A sample of gas contains </a:t>
            </a:r>
            <a:r>
              <a:rPr lang="en-US" b="1" dirty="0"/>
              <a:t>0.250 mol</a:t>
            </a:r>
            <a:r>
              <a:rPr lang="en-US" dirty="0"/>
              <a:t> and occupies </a:t>
            </a:r>
            <a:r>
              <a:rPr lang="en-US" b="1" dirty="0"/>
              <a:t>3.00 L</a:t>
            </a:r>
            <a:r>
              <a:rPr lang="en-US" dirty="0"/>
              <a:t> at a pressure of </a:t>
            </a:r>
            <a:r>
              <a:rPr lang="en-US" b="1" dirty="0"/>
              <a:t>0.950 atm</a:t>
            </a:r>
            <a:r>
              <a:rPr lang="en-US" dirty="0"/>
              <a:t>. Calculate the temperature of the gas in </a:t>
            </a:r>
            <a:r>
              <a:rPr lang="en-US" b="1" dirty="0"/>
              <a:t>Kelvin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3: </a:t>
            </a:r>
            <a:r>
              <a:rPr lang="en-US" dirty="0"/>
              <a:t>A gas sample has </a:t>
            </a:r>
            <a:r>
              <a:rPr lang="en-US" b="1" dirty="0"/>
              <a:t>0.750 mol</a:t>
            </a:r>
            <a:r>
              <a:rPr lang="en-US" dirty="0"/>
              <a:t> at a temperature of </a:t>
            </a:r>
            <a:r>
              <a:rPr lang="en-US" b="1" dirty="0"/>
              <a:t>310 K</a:t>
            </a:r>
            <a:r>
              <a:rPr lang="en-US" dirty="0"/>
              <a:t> and a pressure of </a:t>
            </a:r>
            <a:r>
              <a:rPr lang="en-US" b="1" dirty="0"/>
              <a:t>2.00 atm</a:t>
            </a:r>
            <a:r>
              <a:rPr lang="en-US" dirty="0"/>
              <a:t>. Calculate the volume of the gas.</a:t>
            </a:r>
          </a:p>
          <a:p>
            <a:pPr marL="0" indent="0">
              <a:buNone/>
            </a:pPr>
            <a:r>
              <a:rPr lang="en-US" b="1" dirty="0"/>
              <a:t>4: </a:t>
            </a:r>
            <a:r>
              <a:rPr lang="en-US" dirty="0"/>
              <a:t>Calculate the volume of 1 mol air at 1 atm and 30 </a:t>
            </a:r>
            <a:r>
              <a:rPr lang="en-US" baseline="30000" dirty="0" err="1"/>
              <a:t>o</a:t>
            </a:r>
            <a:r>
              <a:rPr lang="en-US" dirty="0" err="1"/>
              <a:t>C.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427333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1498</TotalTime>
  <Words>357</Words>
  <Application>Microsoft Macintosh PowerPoint</Application>
  <PresentationFormat>Widescreen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Avenir Next LT Pro</vt:lpstr>
      <vt:lpstr>Calibri</vt:lpstr>
      <vt:lpstr>Times New Roman</vt:lpstr>
      <vt:lpstr>AccentBoxVTI</vt:lpstr>
      <vt:lpstr>11.4 Gas Law</vt:lpstr>
      <vt:lpstr>In this class, we will understand</vt:lpstr>
      <vt:lpstr>Gaseous behavior</vt:lpstr>
      <vt:lpstr>Boyle’s Rule</vt:lpstr>
      <vt:lpstr>Charles’ Law</vt:lpstr>
      <vt:lpstr>Avogadro’s Law</vt:lpstr>
      <vt:lpstr>Ideal Gas Equation</vt:lpstr>
      <vt:lpstr>Ideal Gas Property</vt:lpstr>
      <vt:lpstr>Discussion</vt:lpstr>
      <vt:lpstr>Real Gas Calibration</vt:lpstr>
      <vt:lpstr>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10.4 Gas Law</dc:title>
  <dc:creator>Chen, Xinyu</dc:creator>
  <cp:lastModifiedBy>Xinyu Chen</cp:lastModifiedBy>
  <cp:revision>4</cp:revision>
  <dcterms:created xsi:type="dcterms:W3CDTF">2023-03-20T00:56:33Z</dcterms:created>
  <dcterms:modified xsi:type="dcterms:W3CDTF">2026-03-20T01:39:56Z</dcterms:modified>
</cp:coreProperties>
</file>