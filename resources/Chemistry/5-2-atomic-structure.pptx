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6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5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6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7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8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4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0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44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6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3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1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10/15/25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44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8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6857B-7DC8-BA0E-A52D-7512FFB5E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2184" y="2386295"/>
            <a:ext cx="3730839" cy="3569150"/>
          </a:xfrm>
        </p:spPr>
        <p:txBody>
          <a:bodyPr anchor="b">
            <a:normAutofit/>
          </a:bodyPr>
          <a:lstStyle/>
          <a:p>
            <a:r>
              <a:rPr lang="en-US" sz="4000"/>
              <a:t>Unit </a:t>
            </a:r>
            <a:r>
              <a:rPr lang="en-US" altLang="zh-CN" sz="4000"/>
              <a:t>5</a:t>
            </a:r>
            <a:r>
              <a:rPr lang="en-US" sz="4000"/>
              <a:t>.2 Atomic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7462C-F94B-3814-34A0-7BFF2DF98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5300" y="1208146"/>
            <a:ext cx="3137031" cy="979680"/>
          </a:xfrm>
        </p:spPr>
        <p:txBody>
          <a:bodyPr anchor="t">
            <a:normAutofit/>
          </a:bodyPr>
          <a:lstStyle/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F29CB-C7F6-F5FD-E436-95118DB653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21" r="1" b="1"/>
          <a:stretch/>
        </p:blipFill>
        <p:spPr>
          <a:xfrm>
            <a:off x="20" y="10"/>
            <a:ext cx="7320707" cy="685798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945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736AE-BB8A-1F76-46D4-DD6E2003F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846" y="860615"/>
            <a:ext cx="5922279" cy="1272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Mass and charge of subatomic particles</a:t>
            </a:r>
            <a:endParaRPr lang="en-US"/>
          </a:p>
        </p:txBody>
      </p:sp>
      <p:pic>
        <p:nvPicPr>
          <p:cNvPr id="1028" name="Picture 4" descr="How to write and determine the atomic number of an element">
            <a:extLst>
              <a:ext uri="{FF2B5EF4-FFF2-40B4-BE49-F238E27FC236}">
                <a16:creationId xmlns:a16="http://schemas.microsoft.com/office/drawing/2014/main" id="{5018918D-3650-8C49-201D-D9EAE9832A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722" b="2"/>
          <a:stretch/>
        </p:blipFill>
        <p:spPr bwMode="auto">
          <a:xfrm>
            <a:off x="20" y="-17929"/>
            <a:ext cx="4876780" cy="687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5000" y="738013"/>
            <a:ext cx="5676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69860-BB3E-3481-0D48-E1AA04C47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943" y="2133600"/>
            <a:ext cx="6005933" cy="377446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The mass and charge of an electron were determined by Millikan’s oil drop experiment.</a:t>
            </a:r>
          </a:p>
          <a:p>
            <a:pPr>
              <a:lnSpc>
                <a:spcPct val="110000"/>
              </a:lnSpc>
            </a:pPr>
            <a:r>
              <a:rPr lang="en-US" sz="1600" dirty="0" err="1"/>
              <a:t>Mass</a:t>
            </a:r>
            <a:r>
              <a:rPr lang="en-US" sz="1600" baseline="-25000" dirty="0" err="1"/>
              <a:t>electron</a:t>
            </a:r>
            <a:r>
              <a:rPr lang="en-US" sz="1600" dirty="0"/>
              <a:t>=</a:t>
            </a:r>
            <a:r>
              <a:rPr lang="en-US" sz="1600" b="0" i="0" dirty="0">
                <a:effectLst/>
              </a:rPr>
              <a:t> 9.1093837 × 10</a:t>
            </a:r>
            <a:r>
              <a:rPr lang="en-US" sz="1600" b="0" i="0" baseline="30000" dirty="0">
                <a:effectLst/>
              </a:rPr>
              <a:t>-31</a:t>
            </a:r>
            <a:r>
              <a:rPr lang="en-US" sz="1600" b="0" i="0" dirty="0">
                <a:effectLst/>
              </a:rPr>
              <a:t> kg  </a:t>
            </a:r>
            <a:r>
              <a:rPr lang="en-US" sz="1600" b="0" i="0" dirty="0" err="1">
                <a:effectLst/>
              </a:rPr>
              <a:t>Charge</a:t>
            </a:r>
            <a:r>
              <a:rPr lang="en-US" sz="1600" b="0" i="0" baseline="-25000" dirty="0" err="1">
                <a:effectLst/>
              </a:rPr>
              <a:t>electron</a:t>
            </a:r>
            <a:r>
              <a:rPr lang="en-US" sz="1600" b="0" i="0" dirty="0">
                <a:effectLst/>
              </a:rPr>
              <a:t>=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-</a:t>
            </a:r>
            <a:r>
              <a:rPr lang="en-US" sz="1600" b="0" i="0" dirty="0">
                <a:effectLst/>
              </a:rPr>
              <a:t>1.602176634×10</a:t>
            </a:r>
            <a:r>
              <a:rPr lang="en-US" sz="1600" b="0" i="0" baseline="30000" dirty="0">
                <a:effectLst/>
              </a:rPr>
              <a:t>−19</a:t>
            </a:r>
            <a:r>
              <a:rPr lang="en-US" sz="1600" b="0" i="0" dirty="0">
                <a:effectLst/>
              </a:rPr>
              <a:t> C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The proton was observed by Goldstein’s canal ray experiment and named by Rutherford.</a:t>
            </a:r>
          </a:p>
          <a:p>
            <a:pPr>
              <a:lnSpc>
                <a:spcPct val="110000"/>
              </a:lnSpc>
            </a:pPr>
            <a:r>
              <a:rPr lang="en-US" sz="1600" dirty="0" err="1"/>
              <a:t>Mass</a:t>
            </a:r>
            <a:r>
              <a:rPr lang="en-US" sz="1600" baseline="-25000" dirty="0" err="1"/>
              <a:t>proton</a:t>
            </a:r>
            <a:r>
              <a:rPr lang="en-US" sz="1600" dirty="0"/>
              <a:t>=</a:t>
            </a:r>
            <a:r>
              <a:rPr lang="en-US" sz="1600" b="0" i="0" dirty="0">
                <a:effectLst/>
              </a:rPr>
              <a:t> 1.67262192369(51)×10</a:t>
            </a:r>
            <a:r>
              <a:rPr lang="en-US" sz="1600" b="0" i="0" baseline="30000" dirty="0">
                <a:effectLst/>
              </a:rPr>
              <a:t>−27</a:t>
            </a:r>
            <a:r>
              <a:rPr lang="en-US" sz="1600" b="0" i="0" dirty="0">
                <a:effectLst/>
              </a:rPr>
              <a:t> kg </a:t>
            </a:r>
            <a:r>
              <a:rPr lang="en-US" sz="1600" b="0" i="0" dirty="0" err="1">
                <a:effectLst/>
              </a:rPr>
              <a:t>Charge</a:t>
            </a:r>
            <a:r>
              <a:rPr lang="en-US" sz="1600" b="0" i="0" baseline="-25000" dirty="0" err="1">
                <a:effectLst/>
              </a:rPr>
              <a:t>proton</a:t>
            </a:r>
            <a:r>
              <a:rPr lang="en-US" sz="1600" b="0" i="0" dirty="0">
                <a:effectLst/>
              </a:rPr>
              <a:t>=</a:t>
            </a:r>
            <a:r>
              <a:rPr lang="en-US" sz="1600" dirty="0">
                <a:latin typeface="Arial" panose="020B0604020202020204" pitchFamily="34" charset="0"/>
              </a:rPr>
              <a:t>+</a:t>
            </a:r>
            <a:r>
              <a:rPr lang="en-US" sz="1600" b="0" i="0" dirty="0">
                <a:effectLst/>
              </a:rPr>
              <a:t>1.602176634×10</a:t>
            </a:r>
            <a:r>
              <a:rPr lang="en-US" sz="1600" b="0" i="0" baseline="30000" dirty="0">
                <a:effectLst/>
              </a:rPr>
              <a:t>−19</a:t>
            </a:r>
            <a:r>
              <a:rPr lang="en-US" sz="1600" b="0" i="0" dirty="0">
                <a:effectLst/>
              </a:rPr>
              <a:t> C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The neutron was discovered and measured by James Chadwick</a:t>
            </a:r>
          </a:p>
          <a:p>
            <a:pPr>
              <a:lnSpc>
                <a:spcPct val="110000"/>
              </a:lnSpc>
            </a:pPr>
            <a:r>
              <a:rPr lang="en-US" sz="1600" dirty="0" err="1"/>
              <a:t>Mass</a:t>
            </a:r>
            <a:r>
              <a:rPr lang="en-US" sz="1600" baseline="-25000" dirty="0" err="1"/>
              <a:t>neutron</a:t>
            </a:r>
            <a:r>
              <a:rPr lang="en-US" sz="1600" dirty="0"/>
              <a:t>=</a:t>
            </a:r>
            <a:r>
              <a:rPr lang="en-US" sz="1600" i="0" dirty="0">
                <a:effectLst/>
              </a:rPr>
              <a:t>1.67492749804 × 10</a:t>
            </a:r>
            <a:r>
              <a:rPr lang="en-US" sz="1600" i="0" baseline="30000" dirty="0">
                <a:effectLst/>
              </a:rPr>
              <a:t>−27</a:t>
            </a:r>
            <a:r>
              <a:rPr lang="en-US" sz="1600" i="0" dirty="0">
                <a:effectLst/>
              </a:rPr>
              <a:t> kg </a:t>
            </a:r>
            <a:r>
              <a:rPr lang="en-US" sz="1600" i="0" dirty="0" err="1">
                <a:effectLst/>
              </a:rPr>
              <a:t>Charge</a:t>
            </a:r>
            <a:r>
              <a:rPr lang="en-US" sz="1600" i="0" baseline="-25000" dirty="0" err="1">
                <a:effectLst/>
              </a:rPr>
              <a:t>neutron</a:t>
            </a:r>
            <a:r>
              <a:rPr lang="en-US" sz="1600" i="0" dirty="0">
                <a:effectLst/>
              </a:rPr>
              <a:t>=0</a:t>
            </a:r>
            <a:endParaRPr lang="en-US" sz="1600" dirty="0"/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5000" y="6134100"/>
            <a:ext cx="5676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utoShape 2" descr="How to write and determine the atomic number of an element">
            <a:extLst>
              <a:ext uri="{FF2B5EF4-FFF2-40B4-BE49-F238E27FC236}">
                <a16:creationId xmlns:a16="http://schemas.microsoft.com/office/drawing/2014/main" id="{99415273-D6A4-4667-30A7-B03939B2BC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0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42C2B9-F512-4486-04E3-753640BF4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7115"/>
            <a:ext cx="2364043" cy="55668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Summary of subatomic particles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30209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21FBD0-A723-A246-F950-6CB1117694CE}"/>
              </a:ext>
            </a:extLst>
          </p:cNvPr>
          <p:cNvSpPr txBox="1"/>
          <p:nvPr/>
        </p:nvSpPr>
        <p:spPr>
          <a:xfrm>
            <a:off x="3993820" y="4432752"/>
            <a:ext cx="7470959" cy="1787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a.m.u</a:t>
            </a:r>
            <a:r>
              <a:rPr lang="en-US" b="1" dirty="0"/>
              <a:t>: atomic mass unit, 1 </a:t>
            </a:r>
            <a:r>
              <a:rPr lang="en-US" b="1"/>
              <a:t>a.m.u.</a:t>
            </a:r>
            <a:r>
              <a:rPr lang="en-US" b="1" dirty="0"/>
              <a:t>=1/12 </a:t>
            </a:r>
            <a:r>
              <a:rPr lang="en-US" b="1" baseline="30000" dirty="0"/>
              <a:t>12</a:t>
            </a:r>
            <a:r>
              <a:rPr lang="en-US" b="1" dirty="0"/>
              <a:t>C mass</a:t>
            </a:r>
            <a:endParaRPr lang="en-US" b="1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EF62E21-96AF-D254-4961-3FDAD816B8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9668411"/>
              </p:ext>
            </p:extLst>
          </p:nvPr>
        </p:nvGraphicFramePr>
        <p:xfrm>
          <a:off x="4183252" y="982218"/>
          <a:ext cx="7087448" cy="295046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14127">
                  <a:extLst>
                    <a:ext uri="{9D8B030D-6E8A-4147-A177-3AD203B41FA5}">
                      <a16:colId xmlns:a16="http://schemas.microsoft.com/office/drawing/2014/main" val="822682375"/>
                    </a:ext>
                  </a:extLst>
                </a:gridCol>
                <a:gridCol w="3022177">
                  <a:extLst>
                    <a:ext uri="{9D8B030D-6E8A-4147-A177-3AD203B41FA5}">
                      <a16:colId xmlns:a16="http://schemas.microsoft.com/office/drawing/2014/main" val="3451355247"/>
                    </a:ext>
                  </a:extLst>
                </a:gridCol>
                <a:gridCol w="1951144">
                  <a:extLst>
                    <a:ext uri="{9D8B030D-6E8A-4147-A177-3AD203B41FA5}">
                      <a16:colId xmlns:a16="http://schemas.microsoft.com/office/drawing/2014/main" val="1584921578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Particle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Mass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Charge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79465750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Proton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1 a.m.u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+1 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69886170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Neutron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1 a.m.u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8000885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Electron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1/1840 a.m.u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/>
                        <a:t>-1 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644440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023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1337B-74E7-D3B7-D511-0FAAED2C7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852004" cy="13620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 of the atomic symbol</a:t>
            </a:r>
          </a:p>
        </p:txBody>
      </p:sp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7F1E95A2-E5F1-4C8A-92DC-CE369D193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D42A9C-3969-196E-EB20-E68B74630FFA}"/>
              </a:ext>
            </a:extLst>
          </p:cNvPr>
          <p:cNvSpPr txBox="1"/>
          <p:nvPr/>
        </p:nvSpPr>
        <p:spPr>
          <a:xfrm>
            <a:off x="700088" y="2276474"/>
            <a:ext cx="6804626" cy="3553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proton number is the I.D. of an element. Same proton number, same element.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Every atom is charge neutral. Therefore, the proton number=electron number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mass number is the sum of proton and neutron number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Remember! The mass number usually </a:t>
            </a:r>
            <a:r>
              <a:rPr lang="en-US" altLang="zh-CN" b="1" dirty="0"/>
              <a:t>≥ the proton number!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Proton number determines the identity of the element, electrons determine the radius and chemical properties of the element.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77B838FB-720D-4B9D-3646-A57AC799C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1335324"/>
            <a:ext cx="3276600" cy="4187348"/>
          </a:xfrm>
          <a:prstGeom prst="rect">
            <a:avLst/>
          </a:prstGeom>
        </p:spPr>
      </p:pic>
      <p:cxnSp>
        <p:nvCxnSpPr>
          <p:cNvPr id="19" name="Straight Connector 14">
            <a:extLst>
              <a:ext uri="{FF2B5EF4-FFF2-40B4-BE49-F238E27FC236}">
                <a16:creationId xmlns:a16="http://schemas.microsoft.com/office/drawing/2014/main" id="{AFCF674C-D208-4497-A189-02E8503DA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8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DC3B9-7247-16AF-B708-2D37C113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50B2754-590E-06DC-0D62-CDC368DB57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116711"/>
              </p:ext>
            </p:extLst>
          </p:nvPr>
        </p:nvGraphicFramePr>
        <p:xfrm>
          <a:off x="1057275" y="1920874"/>
          <a:ext cx="9665493" cy="37941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89036">
                  <a:extLst>
                    <a:ext uri="{9D8B030D-6E8A-4147-A177-3AD203B41FA5}">
                      <a16:colId xmlns:a16="http://schemas.microsoft.com/office/drawing/2014/main" val="3679713444"/>
                    </a:ext>
                  </a:extLst>
                </a:gridCol>
                <a:gridCol w="2758819">
                  <a:extLst>
                    <a:ext uri="{9D8B030D-6E8A-4147-A177-3AD203B41FA5}">
                      <a16:colId xmlns:a16="http://schemas.microsoft.com/office/drawing/2014/main" val="190006083"/>
                    </a:ext>
                  </a:extLst>
                </a:gridCol>
                <a:gridCol w="2758819">
                  <a:extLst>
                    <a:ext uri="{9D8B030D-6E8A-4147-A177-3AD203B41FA5}">
                      <a16:colId xmlns:a16="http://schemas.microsoft.com/office/drawing/2014/main" val="686197612"/>
                    </a:ext>
                  </a:extLst>
                </a:gridCol>
                <a:gridCol w="2758819">
                  <a:extLst>
                    <a:ext uri="{9D8B030D-6E8A-4147-A177-3AD203B41FA5}">
                      <a16:colId xmlns:a16="http://schemas.microsoft.com/office/drawing/2014/main" val="1355926835"/>
                    </a:ext>
                  </a:extLst>
                </a:gridCol>
              </a:tblGrid>
              <a:tr h="632354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protons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neutrons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electrons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812186"/>
                  </a:ext>
                </a:extLst>
              </a:tr>
              <a:tr h="6323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484693"/>
                  </a:ext>
                </a:extLst>
              </a:tr>
              <a:tr h="63235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010945"/>
                  </a:ext>
                </a:extLst>
              </a:tr>
              <a:tr h="6323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r>
                        <a:rPr lang="en-US" baseline="30000" dirty="0"/>
                        <a:t>2-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312520"/>
                  </a:ext>
                </a:extLst>
              </a:tr>
              <a:tr h="6323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</a:t>
                      </a:r>
                      <a:r>
                        <a:rPr lang="en-US" baseline="30000" dirty="0"/>
                        <a:t>3+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375342"/>
                  </a:ext>
                </a:extLst>
              </a:tr>
              <a:tr h="63235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695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1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B805F-8FA8-5B5D-8B7F-A240CFBC4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587" y="907128"/>
            <a:ext cx="6699564" cy="1378871"/>
          </a:xfrm>
        </p:spPr>
        <p:txBody>
          <a:bodyPr>
            <a:normAutofit/>
          </a:bodyPr>
          <a:lstStyle/>
          <a:p>
            <a:r>
              <a:rPr lang="en-US" dirty="0"/>
              <a:t>Let’s go back to </a:t>
            </a:r>
            <a:r>
              <a:rPr lang="en-US" dirty="0" err="1"/>
              <a:t>a.m.u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C5C3A40-CF7B-2550-F645-F56D6AF92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2285999"/>
            <a:ext cx="6766748" cy="36490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If 1 </a:t>
            </a:r>
            <a:r>
              <a:rPr lang="en-US" sz="4800" dirty="0" err="1"/>
              <a:t>a.m.u.</a:t>
            </a:r>
            <a:r>
              <a:rPr lang="en-US" sz="4800" dirty="0"/>
              <a:t>= 1/12 of </a:t>
            </a:r>
            <a:r>
              <a:rPr lang="en-US" sz="4800" baseline="30000" dirty="0"/>
              <a:t>12</a:t>
            </a:r>
            <a:r>
              <a:rPr lang="en-US" sz="4800" dirty="0"/>
              <a:t>C mass…</a:t>
            </a:r>
          </a:p>
          <a:p>
            <a:pPr marL="0" indent="0" algn="ctr">
              <a:buNone/>
            </a:pPr>
            <a:r>
              <a:rPr lang="en-US" sz="4800" dirty="0"/>
              <a:t>Then mass of </a:t>
            </a:r>
            <a:r>
              <a:rPr lang="en-US" sz="4800" baseline="30000" dirty="0"/>
              <a:t>12 </a:t>
            </a:r>
            <a:r>
              <a:rPr lang="en-US" sz="4800" dirty="0"/>
              <a:t>C</a:t>
            </a:r>
            <a:r>
              <a:rPr lang="en-US" sz="4800" baseline="30000" dirty="0"/>
              <a:t> </a:t>
            </a:r>
            <a:r>
              <a:rPr lang="en-US" sz="4800" dirty="0"/>
              <a:t>= 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A3C59D-8641-484F-A35C-361AD7E15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2521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1A308DF6-92F5-50CB-B214-A361601BCD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38" r="33182" b="-1"/>
          <a:stretch/>
        </p:blipFill>
        <p:spPr>
          <a:xfrm>
            <a:off x="8115300" y="10"/>
            <a:ext cx="40767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41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CFD1A-57C1-9E4C-1EA8-2B1136BC9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However…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08342B73-CB0F-51C4-5307-CE8779936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112712"/>
            <a:ext cx="7353299" cy="463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82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BA05F-CBC0-C9B6-54FF-AA6EE8CA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897753"/>
            <a:ext cx="3635046" cy="1575391"/>
          </a:xfrm>
        </p:spPr>
        <p:txBody>
          <a:bodyPr>
            <a:normAutofit/>
          </a:bodyPr>
          <a:lstStyle/>
          <a:p>
            <a:r>
              <a:rPr lang="en-US" dirty="0"/>
              <a:t>ISOTOPES</a:t>
            </a: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ACDD4-DA04-4F3B-A246-A90A88B3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710035"/>
            <a:ext cx="3587668" cy="3500265"/>
          </a:xfrm>
        </p:spPr>
        <p:txBody>
          <a:bodyPr>
            <a:normAutofit/>
          </a:bodyPr>
          <a:lstStyle/>
          <a:p>
            <a:r>
              <a:rPr lang="en-US" dirty="0"/>
              <a:t>Elements with same proton number, but different numbers of neutrons and mass.</a:t>
            </a:r>
          </a:p>
          <a:p>
            <a:r>
              <a:rPr lang="en-US" dirty="0"/>
              <a:t>Carbon has three isotopes with different abundance.</a:t>
            </a:r>
          </a:p>
          <a:p>
            <a:endParaRPr lang="en-US" dirty="0"/>
          </a:p>
        </p:txBody>
      </p:sp>
      <p:pic>
        <p:nvPicPr>
          <p:cNvPr id="2050" name="Picture 2" descr="Global Monitoring Laboratory - Carbon Cycle Greenhouse Gases">
            <a:extLst>
              <a:ext uri="{FF2B5EF4-FFF2-40B4-BE49-F238E27FC236}">
                <a16:creationId xmlns:a16="http://schemas.microsoft.com/office/drawing/2014/main" id="{648DF421-F344-21C2-21D0-BE680CE46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3993" y="723900"/>
            <a:ext cx="6440714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565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046E-0FB6-F11C-9AC0-F7B7DAD8C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atomic mass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CEB4D-CB3C-E72F-9044-6B0E11869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Average Atomic Mass= mass</a:t>
            </a:r>
            <a:r>
              <a:rPr lang="en-US" baseline="-25000" dirty="0"/>
              <a:t>isotope1 </a:t>
            </a:r>
            <a:r>
              <a:rPr lang="en-US" dirty="0"/>
              <a:t>x abundance</a:t>
            </a:r>
            <a:r>
              <a:rPr lang="en-US" baseline="-25000" dirty="0"/>
              <a:t>isotope1</a:t>
            </a:r>
            <a:r>
              <a:rPr lang="en-US" dirty="0"/>
              <a:t> + Mass</a:t>
            </a:r>
            <a:r>
              <a:rPr lang="en-US" baseline="-25000" dirty="0"/>
              <a:t>isotope2 </a:t>
            </a:r>
            <a:r>
              <a:rPr lang="en-US" dirty="0"/>
              <a:t>x abundance</a:t>
            </a:r>
            <a:r>
              <a:rPr lang="en-US" baseline="-25000" dirty="0"/>
              <a:t>isotope2</a:t>
            </a:r>
            <a:r>
              <a:rPr lang="en-US" dirty="0"/>
              <a:t> + …..</a:t>
            </a:r>
          </a:p>
          <a:p>
            <a:r>
              <a:rPr lang="en-US" dirty="0"/>
              <a:t>Knowing chlorine has only two isotopes, </a:t>
            </a:r>
            <a:r>
              <a:rPr lang="en-US" baseline="30000" dirty="0"/>
              <a:t>35</a:t>
            </a:r>
            <a:r>
              <a:rPr lang="en-US" dirty="0"/>
              <a:t>Cl and </a:t>
            </a:r>
            <a:r>
              <a:rPr lang="en-US" baseline="30000" dirty="0"/>
              <a:t>37</a:t>
            </a:r>
            <a:r>
              <a:rPr lang="en-US" dirty="0"/>
              <a:t>Cl, and its average atomic mass is 35.5. Calculate the abundance of each isotope.</a:t>
            </a:r>
          </a:p>
        </p:txBody>
      </p:sp>
    </p:spTree>
    <p:extLst>
      <p:ext uri="{BB962C8B-B14F-4D97-AF65-F5344CB8AC3E}">
        <p14:creationId xmlns:p14="http://schemas.microsoft.com/office/powerpoint/2010/main" val="979838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40FD-011D-E6A6-B4EE-B0B202663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A336D-DFD0-1BC3-5978-D505AAD3F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Do a simple research on the mass spectroscopy, and explain how it works, and how it is used to determine the abundance of element isotopes.</a:t>
            </a:r>
          </a:p>
        </p:txBody>
      </p:sp>
    </p:spTree>
    <p:extLst>
      <p:ext uri="{BB962C8B-B14F-4D97-AF65-F5344CB8AC3E}">
        <p14:creationId xmlns:p14="http://schemas.microsoft.com/office/powerpoint/2010/main" val="288013768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LightSeedRightStep">
      <a:dk1>
        <a:srgbClr val="000000"/>
      </a:dk1>
      <a:lt1>
        <a:srgbClr val="FFFFFF"/>
      </a:lt1>
      <a:dk2>
        <a:srgbClr val="243841"/>
      </a:dk2>
      <a:lt2>
        <a:srgbClr val="E8E5E2"/>
      </a:lt2>
      <a:accent1>
        <a:srgbClr val="8DA6C2"/>
      </a:accent1>
      <a:accent2>
        <a:srgbClr val="7F82BA"/>
      </a:accent2>
      <a:accent3>
        <a:srgbClr val="A896C6"/>
      </a:accent3>
      <a:accent4>
        <a:srgbClr val="AD7FBA"/>
      </a:accent4>
      <a:accent5>
        <a:srgbClr val="C493BB"/>
      </a:accent5>
      <a:accent6>
        <a:srgbClr val="BA7F96"/>
      </a:accent6>
      <a:hlink>
        <a:srgbClr val="9A7E5D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370</Words>
  <Application>Microsoft Macintosh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Unit 5.2 Atomic Structure</vt:lpstr>
      <vt:lpstr>Mass and charge of subatomic particles</vt:lpstr>
      <vt:lpstr>Summary of subatomic particles</vt:lpstr>
      <vt:lpstr>Understand of the atomic symbol</vt:lpstr>
      <vt:lpstr>Practices</vt:lpstr>
      <vt:lpstr>Let’s go back to a.m.u</vt:lpstr>
      <vt:lpstr>However…</vt:lpstr>
      <vt:lpstr>ISOTOPES</vt:lpstr>
      <vt:lpstr>Average atomic mass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4.2 Atomic Structure</dc:title>
  <dc:creator>Chen, Xinyu</dc:creator>
  <cp:lastModifiedBy>Chen, Xinyu</cp:lastModifiedBy>
  <cp:revision>5</cp:revision>
  <dcterms:created xsi:type="dcterms:W3CDTF">2022-09-26T00:58:12Z</dcterms:created>
  <dcterms:modified xsi:type="dcterms:W3CDTF">2025-10-15T02:04:24Z</dcterms:modified>
</cp:coreProperties>
</file>