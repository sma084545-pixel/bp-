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2"/>
    <p:restoredTop sz="94690"/>
  </p:normalViewPr>
  <p:slideViewPr>
    <p:cSldViewPr snapToGrid="0">
      <p:cViewPr varScale="1">
        <p:scale>
          <a:sx n="91" d="100"/>
          <a:sy n="91" d="100"/>
        </p:scale>
        <p:origin x="192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17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07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2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71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37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49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47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45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0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3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355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99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8E1B6-3B57-AEE9-9FB0-4CB8D3C78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4900"/>
              <a:t>12.3</a:t>
            </a:r>
            <a:r>
              <a:rPr lang="zh-CN" altLang="en-US" sz="4900"/>
              <a:t> </a:t>
            </a:r>
            <a:r>
              <a:rPr lang="en-US" altLang="zh-CN" sz="4900"/>
              <a:t>Acid base reactions, salt pH, and ionic equations</a:t>
            </a:r>
            <a:endParaRPr lang="en-CN" sz="49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885C5-2BEA-2C50-80D4-753DC0358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endParaRPr lang="en-C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0E601BC-4E41-DA6A-4895-2F846661FE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9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92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A670E-A5CB-AAE4-ACF7-8C08D9F8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In this class, we will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5BF45-C8A1-7DB5-F792-53378C7BF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CN" dirty="0"/>
              <a:t>tudy the typical reactions of acid and base</a:t>
            </a:r>
          </a:p>
          <a:p>
            <a:r>
              <a:rPr lang="en-CN" dirty="0"/>
              <a:t>Understand how salt affect the solution pH</a:t>
            </a:r>
          </a:p>
          <a:p>
            <a:r>
              <a:rPr lang="en-CN" dirty="0"/>
              <a:t>Write the ionic equation for chemical reactions</a:t>
            </a:r>
          </a:p>
        </p:txBody>
      </p:sp>
    </p:spTree>
    <p:extLst>
      <p:ext uri="{BB962C8B-B14F-4D97-AF65-F5344CB8AC3E}">
        <p14:creationId xmlns:p14="http://schemas.microsoft.com/office/powerpoint/2010/main" val="2764307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9E7F6-EE6F-4E45-0C66-A71CA3664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Typical acid and base reactions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2E1A1-80D6-A8F7-A703-6DBEB3158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Neutralization Reactions (Most Fundamental)</a:t>
            </a:r>
          </a:p>
          <a:p>
            <a:r>
              <a:rPr lang="en-US" b="1" dirty="0"/>
              <a:t>Acid + Base → Salt + Water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General: H</a:t>
            </a:r>
            <a:r>
              <a:rPr lang="en-US" baseline="30000" dirty="0"/>
              <a:t>+</a:t>
            </a:r>
            <a:r>
              <a:rPr lang="en-US" dirty="0"/>
              <a:t>+OH</a:t>
            </a:r>
            <a:r>
              <a:rPr lang="en-US" baseline="30000" dirty="0"/>
              <a:t>−</a:t>
            </a:r>
            <a:r>
              <a:rPr lang="en-US" dirty="0"/>
              <a:t>→H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HCl+NaOH→NaCl+H2O</a:t>
            </a:r>
          </a:p>
          <a:p>
            <a:r>
              <a:rPr lang="en-US" b="1" dirty="0"/>
              <a:t>2. Acid + Metal → Salt + Hydrogen Gas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General: Acid+Metal→Salt+H2(g)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2HCl+Zn→ZnCl</a:t>
            </a:r>
            <a:r>
              <a:rPr lang="en-US" baseline="-25000" dirty="0"/>
              <a:t>2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endParaRPr lang="en-CN" baseline="-25000" dirty="0"/>
          </a:p>
        </p:txBody>
      </p:sp>
    </p:spTree>
    <p:extLst>
      <p:ext uri="{BB962C8B-B14F-4D97-AF65-F5344CB8AC3E}">
        <p14:creationId xmlns:p14="http://schemas.microsoft.com/office/powerpoint/2010/main" val="180441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825A5-F5C6-8C7F-F291-483F8161D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73" y="512956"/>
            <a:ext cx="10684727" cy="5632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Acid + Carbonate / Bicarbonate → CO₂ + Water + Salt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General: Acid+CO</a:t>
            </a:r>
            <a:r>
              <a:rPr lang="en-US" baseline="-25000" dirty="0"/>
              <a:t>3</a:t>
            </a:r>
            <a:r>
              <a:rPr lang="en-US" baseline="30000" dirty="0"/>
              <a:t>2-</a:t>
            </a:r>
            <a:r>
              <a:rPr lang="en-US" dirty="0"/>
              <a:t>→CO</a:t>
            </a:r>
            <a:r>
              <a:rPr lang="en-US" baseline="-25000" dirty="0"/>
              <a:t>2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r>
              <a:rPr lang="en-US" dirty="0"/>
              <a:t>O+Salt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Example: 2HCl+Na</a:t>
            </a:r>
            <a:r>
              <a:rPr lang="en-US" baseline="-25000" dirty="0"/>
              <a:t>2</a:t>
            </a:r>
            <a:r>
              <a:rPr lang="en-US" dirty="0"/>
              <a:t>CO</a:t>
            </a:r>
            <a:r>
              <a:rPr lang="en-US" baseline="-25000" dirty="0"/>
              <a:t>3</a:t>
            </a:r>
            <a:r>
              <a:rPr lang="en-US" dirty="0"/>
              <a:t>→2NaCl+CO</a:t>
            </a:r>
            <a:r>
              <a:rPr lang="en-US" baseline="-25000" dirty="0"/>
              <a:t>2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  <a:p>
            <a:pPr marL="0" indent="0">
              <a:buNone/>
            </a:pPr>
            <a:r>
              <a:rPr lang="en-US" b="1" dirty="0"/>
              <a:t>4. Acid + Metal Oxide → Salt + Water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General: </a:t>
            </a:r>
            <a:r>
              <a:rPr lang="en-US" dirty="0" err="1"/>
              <a:t>Acid+Metal</a:t>
            </a:r>
            <a:r>
              <a:rPr lang="en-US" dirty="0"/>
              <a:t> Oxide→Salt+H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2HCl+CuO→CuCl</a:t>
            </a:r>
            <a:r>
              <a:rPr lang="en-US" baseline="-25000" dirty="0"/>
              <a:t>2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  <a:p>
            <a:pPr marL="0" indent="0">
              <a:buNone/>
            </a:pPr>
            <a:r>
              <a:rPr lang="en-US" b="1" dirty="0"/>
              <a:t>5. Base + Nonmetal Oxide (Acidic Oxide) → Salt + Water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General: </a:t>
            </a:r>
            <a:r>
              <a:rPr lang="en-US" dirty="0" err="1"/>
              <a:t>Base+Nonmetal</a:t>
            </a:r>
            <a:r>
              <a:rPr lang="en-US" dirty="0"/>
              <a:t> Oxide→Salt+H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2NaOH+CO</a:t>
            </a:r>
            <a:r>
              <a:rPr lang="en-US" baseline="-25000" dirty="0"/>
              <a:t>2</a:t>
            </a:r>
            <a:r>
              <a:rPr lang="en-US" dirty="0"/>
              <a:t>→Na</a:t>
            </a:r>
            <a:r>
              <a:rPr lang="en-US" baseline="-25000" dirty="0"/>
              <a:t>2</a:t>
            </a:r>
            <a:r>
              <a:rPr lang="en-US" dirty="0"/>
              <a:t>CO</a:t>
            </a:r>
            <a:r>
              <a:rPr lang="en-US" baseline="-25000" dirty="0"/>
              <a:t>3</a:t>
            </a:r>
            <a:r>
              <a:rPr lang="en-US" dirty="0"/>
              <a:t>+H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  <a:p>
            <a:pPr marL="0" indent="0">
              <a:buNone/>
            </a:pPr>
            <a:r>
              <a:rPr lang="en-CN" b="1" dirty="0"/>
              <a:t>6. Base+ ammonium salt</a:t>
            </a:r>
            <a:r>
              <a:rPr lang="en-US" b="1" dirty="0"/>
              <a:t> →</a:t>
            </a:r>
            <a:r>
              <a:rPr lang="en-US" b="1" dirty="0" err="1"/>
              <a:t>Salt+ammonia+water</a:t>
            </a:r>
            <a:endParaRPr lang="en-US" b="1" dirty="0"/>
          </a:p>
          <a:p>
            <a:r>
              <a:rPr lang="en-CN" dirty="0"/>
              <a:t>Example: NaOH + NH</a:t>
            </a:r>
            <a:r>
              <a:rPr lang="en-CN" baseline="-25000" dirty="0"/>
              <a:t>4</a:t>
            </a:r>
            <a:r>
              <a:rPr lang="en-CN" dirty="0"/>
              <a:t>Cl </a:t>
            </a:r>
            <a:r>
              <a:rPr lang="en-US" dirty="0"/>
              <a:t>→ NaCl + NH</a:t>
            </a:r>
            <a:r>
              <a:rPr lang="en-US" baseline="-25000" dirty="0"/>
              <a:t>3</a:t>
            </a:r>
            <a:r>
              <a:rPr lang="en-US" dirty="0"/>
              <a:t> + H</a:t>
            </a:r>
            <a:r>
              <a:rPr lang="en-US" baseline="-25000" dirty="0"/>
              <a:t>2</a:t>
            </a:r>
            <a:r>
              <a:rPr lang="en-US" dirty="0"/>
              <a:t>O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26917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95B0-B680-EDB4-A2D8-DE6BC2BC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Determine the pH after neutralization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036BE-50FD-82CA-2CA1-A1482F594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Determine the limited/excess reagent</a:t>
            </a:r>
          </a:p>
          <a:p>
            <a:r>
              <a:rPr lang="en-CN" dirty="0"/>
              <a:t>Determine the excess amount of H</a:t>
            </a:r>
            <a:r>
              <a:rPr lang="en-CN" baseline="30000" dirty="0"/>
              <a:t>+ </a:t>
            </a:r>
            <a:r>
              <a:rPr lang="en-CN" dirty="0"/>
              <a:t>or OH</a:t>
            </a:r>
            <a:r>
              <a:rPr lang="en-CN" baseline="30000" dirty="0"/>
              <a:t>-</a:t>
            </a:r>
            <a:r>
              <a:rPr lang="en-CN" dirty="0"/>
              <a:t> in the solution</a:t>
            </a:r>
          </a:p>
          <a:p>
            <a:r>
              <a:rPr lang="en-CN" dirty="0"/>
              <a:t>Calculate the volume of the final solution, assuming volume is additive.</a:t>
            </a:r>
          </a:p>
          <a:p>
            <a:r>
              <a:rPr lang="en-CN" dirty="0"/>
              <a:t>Determine the pH of the solution</a:t>
            </a:r>
          </a:p>
        </p:txBody>
      </p:sp>
    </p:spTree>
    <p:extLst>
      <p:ext uri="{BB962C8B-B14F-4D97-AF65-F5344CB8AC3E}">
        <p14:creationId xmlns:p14="http://schemas.microsoft.com/office/powerpoint/2010/main" val="1910908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9E79E-30FA-EB1D-27CC-FC2A928C0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The pH of the salt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C6142-BA1E-A6BA-931E-C3424873C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N" dirty="0"/>
              <a:t>Three working examples-</a:t>
            </a:r>
          </a:p>
          <a:p>
            <a:pPr marL="0" indent="0">
              <a:buNone/>
            </a:pPr>
            <a:r>
              <a:rPr lang="en-CN" dirty="0"/>
              <a:t>NaCl(aq)</a:t>
            </a:r>
          </a:p>
          <a:p>
            <a:pPr marL="0" indent="0">
              <a:buNone/>
            </a:pPr>
            <a:endParaRPr lang="en-CN" dirty="0"/>
          </a:p>
          <a:p>
            <a:pPr marL="0" indent="0">
              <a:buNone/>
            </a:pPr>
            <a:r>
              <a:rPr lang="en-CN" dirty="0"/>
              <a:t>NaCH</a:t>
            </a:r>
            <a:r>
              <a:rPr lang="en-CN" baseline="-25000" dirty="0"/>
              <a:t>3</a:t>
            </a:r>
            <a:r>
              <a:rPr lang="en-CN" dirty="0"/>
              <a:t>COO(aq)</a:t>
            </a:r>
          </a:p>
          <a:p>
            <a:pPr marL="0" indent="0">
              <a:buNone/>
            </a:pPr>
            <a:endParaRPr lang="en-CN" dirty="0"/>
          </a:p>
          <a:p>
            <a:pPr marL="0" indent="0">
              <a:buNone/>
            </a:pPr>
            <a:r>
              <a:rPr lang="en-CN" dirty="0"/>
              <a:t>FeCl</a:t>
            </a:r>
            <a:r>
              <a:rPr lang="en-CN" baseline="-25000" dirty="0"/>
              <a:t>3</a:t>
            </a:r>
            <a:r>
              <a:rPr lang="en-CN" dirty="0"/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498968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5D991-823D-23C9-CB0C-37686627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Challenge: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BAF37-20AD-EFB7-2525-66CF89D3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N" dirty="0"/>
              <a:t>What is the pH of CH</a:t>
            </a:r>
            <a:r>
              <a:rPr lang="en-CN" baseline="-25000" dirty="0"/>
              <a:t>3</a:t>
            </a:r>
            <a:r>
              <a:rPr lang="en-CN" dirty="0"/>
              <a:t>COO</a:t>
            </a:r>
            <a:r>
              <a:rPr lang="en-CN" baseline="30000" dirty="0"/>
              <a:t>-</a:t>
            </a:r>
            <a:r>
              <a:rPr lang="en-CN" dirty="0"/>
              <a:t>NH</a:t>
            </a:r>
            <a:r>
              <a:rPr lang="en-CN" baseline="-25000" dirty="0"/>
              <a:t>4</a:t>
            </a:r>
            <a:r>
              <a:rPr lang="en-CN" baseline="30000" dirty="0"/>
              <a:t>+</a:t>
            </a:r>
            <a:r>
              <a:rPr lang="en-CN" dirty="0"/>
              <a:t>?</a:t>
            </a:r>
          </a:p>
          <a:p>
            <a:pPr marL="0" indent="0">
              <a:buNone/>
            </a:pPr>
            <a:r>
              <a:rPr lang="en-CN" dirty="0"/>
              <a:t>What prediction do you make?</a:t>
            </a:r>
          </a:p>
          <a:p>
            <a:pPr marL="0" indent="0">
              <a:buNone/>
            </a:pPr>
            <a:r>
              <a:rPr lang="en-CN" dirty="0"/>
              <a:t>What assumption do you make?</a:t>
            </a:r>
          </a:p>
          <a:p>
            <a:pPr marL="0" indent="0">
              <a:buNone/>
            </a:pPr>
            <a:r>
              <a:rPr lang="en-CN" dirty="0"/>
              <a:t>What information do you need?</a:t>
            </a:r>
          </a:p>
        </p:txBody>
      </p:sp>
    </p:spTree>
    <p:extLst>
      <p:ext uri="{BB962C8B-B14F-4D97-AF65-F5344CB8AC3E}">
        <p14:creationId xmlns:p14="http://schemas.microsoft.com/office/powerpoint/2010/main" val="3550373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0B8AE-5FEA-E0A6-DE67-5CD9F2FDE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Ionic equation and net ionic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2F234-9703-D38B-3181-D354B1F4A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1: Write the Balanced Molecular Equation</a:t>
            </a:r>
          </a:p>
          <a:p>
            <a:r>
              <a:rPr lang="en-US" dirty="0"/>
              <a:t>Start with the full chemical equation.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</a:p>
          <a:p>
            <a:r>
              <a:rPr lang="en-US" dirty="0"/>
              <a:t>HCl(</a:t>
            </a:r>
            <a:r>
              <a:rPr lang="en-US" dirty="0" err="1"/>
              <a:t>aq</a:t>
            </a:r>
            <a:r>
              <a:rPr lang="en-US" dirty="0"/>
              <a:t>)+NaOH(</a:t>
            </a:r>
            <a:r>
              <a:rPr lang="en-US" dirty="0" err="1"/>
              <a:t>aq</a:t>
            </a:r>
            <a:r>
              <a:rPr lang="en-US" dirty="0"/>
              <a:t>)→NaCl(</a:t>
            </a:r>
            <a:r>
              <a:rPr lang="en-US" dirty="0" err="1"/>
              <a:t>aq</a:t>
            </a:r>
            <a:r>
              <a:rPr lang="en-US" dirty="0"/>
              <a:t>)+H2O(l)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066220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1FE61-9FDF-0E1D-53A6-E319EAA56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6" y="1360257"/>
            <a:ext cx="10890928" cy="522573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6200" b="1" dirty="0"/>
              <a:t>Step 2: Break Strong Electrolytes into Ions</a:t>
            </a:r>
          </a:p>
          <a:p>
            <a:r>
              <a:rPr lang="en-US" sz="5000" dirty="0"/>
              <a:t>Split </a:t>
            </a:r>
            <a:r>
              <a:rPr lang="en-US" sz="5000" b="1" dirty="0"/>
              <a:t>aqueous strong electrolytes</a:t>
            </a:r>
            <a:r>
              <a:rPr lang="en-US" sz="5000" dirty="0"/>
              <a:t> into ions:</a:t>
            </a:r>
          </a:p>
          <a:p>
            <a:r>
              <a:rPr lang="en-US" sz="5000" b="1" dirty="0"/>
              <a:t>Dissociate: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000" dirty="0"/>
              <a:t>Strong acids (e.g., HCl, HNO₃)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000" dirty="0"/>
              <a:t>Strong bases (e.g., NaOH, KOH)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000" dirty="0"/>
              <a:t>Soluble salts (e.g., NaCl, KNO₃) </a:t>
            </a:r>
          </a:p>
          <a:p>
            <a:r>
              <a:rPr lang="en-US" sz="5000" b="1" dirty="0"/>
              <a:t>DO NOT dissociate: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000" dirty="0"/>
              <a:t>Solids (s)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000" dirty="0"/>
              <a:t>Liquids (l) (like H₂O)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000" dirty="0"/>
              <a:t>Weak acids/bases (e.g., CH₃COOH, NH₃)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000" dirty="0"/>
              <a:t>Gases (g)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5000" dirty="0"/>
              <a:t>Example (complete ionic):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E0BE5-6C5C-F392-ABDB-9F42AB363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920" y="6188718"/>
            <a:ext cx="6549390" cy="39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2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43F91-2EDF-141B-B93A-D833AA6DD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343152"/>
            <a:ext cx="10890928" cy="3566160"/>
          </a:xfrm>
        </p:spPr>
        <p:txBody>
          <a:bodyPr/>
          <a:lstStyle/>
          <a:p>
            <a:r>
              <a:rPr lang="en-US" b="1" dirty="0"/>
              <a:t>Step 3: Identify Spectator Ions</a:t>
            </a:r>
          </a:p>
          <a:p>
            <a:r>
              <a:rPr lang="en-US" dirty="0"/>
              <a:t>Spectator ions are ions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Appear on </a:t>
            </a:r>
            <a:r>
              <a:rPr lang="en-US" b="1" dirty="0"/>
              <a:t>both sides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 </a:t>
            </a:r>
            <a:r>
              <a:rPr lang="en-US" b="1" dirty="0"/>
              <a:t>not change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example:</a:t>
            </a:r>
            <a:br>
              <a:rPr lang="en-US" dirty="0"/>
            </a:br>
            <a:r>
              <a:rPr lang="en-US" dirty="0"/>
              <a:t>Na⁺ and Cl⁻ are spectator ions. </a:t>
            </a:r>
          </a:p>
          <a:p>
            <a:pPr marL="0" indent="0">
              <a:buNone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02791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7E893-8A14-EFFA-CE66-C4F7F47E8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0" y="1332992"/>
            <a:ext cx="10890928" cy="356616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4: Cancel Spectator Ions</a:t>
            </a:r>
          </a:p>
          <a:p>
            <a:r>
              <a:rPr lang="en-US" dirty="0"/>
              <a:t>Remove them from both sides.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Result: </a:t>
            </a:r>
          </a:p>
          <a:p>
            <a:r>
              <a:rPr lang="en-US" dirty="0"/>
              <a:t>H+(</a:t>
            </a:r>
            <a:r>
              <a:rPr lang="en-US" dirty="0" err="1"/>
              <a:t>aq</a:t>
            </a:r>
            <a:r>
              <a:rPr lang="en-US" dirty="0"/>
              <a:t>)+OH−(</a:t>
            </a:r>
            <a:r>
              <a:rPr lang="en-US" dirty="0" err="1"/>
              <a:t>aq</a:t>
            </a:r>
            <a:r>
              <a:rPr lang="en-US" dirty="0"/>
              <a:t>)→H2O(l) </a:t>
            </a:r>
          </a:p>
          <a:p>
            <a:pPr marL="0" indent="0">
              <a:buNone/>
            </a:pPr>
            <a:r>
              <a:rPr lang="en-US" b="1" dirty="0"/>
              <a:t>Step 5: Write the Net Ionic Equation</a:t>
            </a:r>
          </a:p>
          <a:p>
            <a:r>
              <a:rPr lang="en-US" dirty="0"/>
              <a:t>What remains is the </a:t>
            </a:r>
            <a:r>
              <a:rPr lang="en-US" b="1" dirty="0"/>
              <a:t>net ionic equation</a:t>
            </a:r>
            <a:r>
              <a:rPr lang="en-US" dirty="0"/>
              <a:t>.</a:t>
            </a:r>
          </a:p>
          <a:p>
            <a:r>
              <a:rPr lang="en-US" dirty="0"/>
              <a:t>✔ Only include species that actually react.</a:t>
            </a:r>
          </a:p>
          <a:p>
            <a:pPr marL="0" indent="0">
              <a:buNone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82252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519C26-EBE1-9FD3-6B82-399AE9A01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" y="1333244"/>
            <a:ext cx="11421794" cy="326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6916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539</Words>
  <Application>Microsoft Macintosh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Grandview Display</vt:lpstr>
      <vt:lpstr>DashVTI</vt:lpstr>
      <vt:lpstr>12.3 Acid base reactions, salt pH, and ionic equations</vt:lpstr>
      <vt:lpstr>In this class, we will</vt:lpstr>
      <vt:lpstr>Typical acid and base reactions</vt:lpstr>
      <vt:lpstr>PowerPoint Presentation</vt:lpstr>
      <vt:lpstr>Determine the pH after neutralization process</vt:lpstr>
      <vt:lpstr>The pH of the salt solution</vt:lpstr>
      <vt:lpstr>Challenge:</vt:lpstr>
      <vt:lpstr>Ionic equation and net ionic equation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 Chen</dc:creator>
  <cp:lastModifiedBy>Xinyu Chen</cp:lastModifiedBy>
  <cp:revision>2</cp:revision>
  <dcterms:created xsi:type="dcterms:W3CDTF">2026-04-02T02:39:03Z</dcterms:created>
  <dcterms:modified xsi:type="dcterms:W3CDTF">2026-04-02T03:11:18Z</dcterms:modified>
</cp:coreProperties>
</file>