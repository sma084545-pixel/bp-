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3" r:id="rId10"/>
    <p:sldId id="267" r:id="rId11"/>
    <p:sldId id="274" r:id="rId12"/>
    <p:sldId id="275" r:id="rId13"/>
    <p:sldId id="278" r:id="rId14"/>
    <p:sldId id="276" r:id="rId15"/>
    <p:sldId id="263" r:id="rId16"/>
    <p:sldId id="264" r:id="rId17"/>
    <p:sldId id="277" r:id="rId18"/>
    <p:sldId id="266" r:id="rId19"/>
    <p:sldId id="265" r:id="rId20"/>
    <p:sldId id="271" r:id="rId21"/>
    <p:sldId id="268" r:id="rId22"/>
    <p:sldId id="269" r:id="rId23"/>
    <p:sldId id="270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D06CFB-7B37-40C0-A621-049DC661F1B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C5E137-E739-49D5-AAA7-FE9622C8340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baseline="0"/>
            <a:t>Understand the physical and chemical concept of concentration</a:t>
          </a:r>
          <a:endParaRPr lang="en-US"/>
        </a:p>
      </dgm:t>
    </dgm:pt>
    <dgm:pt modelId="{7377BBAF-252B-41A9-972E-796AC469F722}" type="parTrans" cxnId="{9DEDAF28-E7AB-4081-A739-1EEE989CA745}">
      <dgm:prSet/>
      <dgm:spPr/>
      <dgm:t>
        <a:bodyPr/>
        <a:lstStyle/>
        <a:p>
          <a:endParaRPr lang="en-US"/>
        </a:p>
      </dgm:t>
    </dgm:pt>
    <dgm:pt modelId="{B9483093-BB6F-4041-B200-3A9F3CDAAAD0}" type="sibTrans" cxnId="{9DEDAF28-E7AB-4081-A739-1EEE989CA745}">
      <dgm:prSet/>
      <dgm:spPr/>
      <dgm:t>
        <a:bodyPr/>
        <a:lstStyle/>
        <a:p>
          <a:endParaRPr lang="en-US"/>
        </a:p>
      </dgm:t>
    </dgm:pt>
    <dgm:pt modelId="{B5E6F24A-FE77-48FD-B45C-29CE53D6C5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baseline="0"/>
            <a:t>Use the chemical concentration to perform dilution</a:t>
          </a:r>
          <a:endParaRPr lang="en-US"/>
        </a:p>
      </dgm:t>
    </dgm:pt>
    <dgm:pt modelId="{F0D0A8B4-0885-4F25-A000-69D20176A15D}" type="parTrans" cxnId="{2971A04C-4534-47ED-B9D4-25072F39A7C3}">
      <dgm:prSet/>
      <dgm:spPr/>
      <dgm:t>
        <a:bodyPr/>
        <a:lstStyle/>
        <a:p>
          <a:endParaRPr lang="en-US"/>
        </a:p>
      </dgm:t>
    </dgm:pt>
    <dgm:pt modelId="{19D1DD5E-F3AD-48AA-8EE7-5A400B21FB3B}" type="sibTrans" cxnId="{2971A04C-4534-47ED-B9D4-25072F39A7C3}">
      <dgm:prSet/>
      <dgm:spPr/>
      <dgm:t>
        <a:bodyPr/>
        <a:lstStyle/>
        <a:p>
          <a:endParaRPr lang="en-US"/>
        </a:p>
      </dgm:t>
    </dgm:pt>
    <dgm:pt modelId="{8C30B62A-435A-410D-9ACE-4747A18B65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baseline="0"/>
            <a:t>Understand the concept of titration</a:t>
          </a:r>
          <a:endParaRPr lang="en-US"/>
        </a:p>
      </dgm:t>
    </dgm:pt>
    <dgm:pt modelId="{81257E3B-02C2-4565-B0A2-6C19D6D210F9}" type="parTrans" cxnId="{E4494B65-8ACB-49C3-9C69-DE79FC8CDD98}">
      <dgm:prSet/>
      <dgm:spPr/>
      <dgm:t>
        <a:bodyPr/>
        <a:lstStyle/>
        <a:p>
          <a:endParaRPr lang="en-US"/>
        </a:p>
      </dgm:t>
    </dgm:pt>
    <dgm:pt modelId="{D54BF943-279B-468D-924D-C87917CB05D8}" type="sibTrans" cxnId="{E4494B65-8ACB-49C3-9C69-DE79FC8CDD98}">
      <dgm:prSet/>
      <dgm:spPr/>
      <dgm:t>
        <a:bodyPr/>
        <a:lstStyle/>
        <a:p>
          <a:endParaRPr lang="en-US"/>
        </a:p>
      </dgm:t>
    </dgm:pt>
    <dgm:pt modelId="{08E34F54-EA61-4B4B-B264-5105719A757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baseline="0"/>
            <a:t>Use concentration to perform titration</a:t>
          </a:r>
          <a:endParaRPr lang="en-US"/>
        </a:p>
      </dgm:t>
    </dgm:pt>
    <dgm:pt modelId="{9D6FE962-1AAB-4B6C-8677-62828F53F718}" type="parTrans" cxnId="{D4B25655-3D5B-460C-AD55-A90A133C41DB}">
      <dgm:prSet/>
      <dgm:spPr/>
      <dgm:t>
        <a:bodyPr/>
        <a:lstStyle/>
        <a:p>
          <a:endParaRPr lang="en-US"/>
        </a:p>
      </dgm:t>
    </dgm:pt>
    <dgm:pt modelId="{E79A41B7-F9D5-4CF8-BE96-34A23756FB5A}" type="sibTrans" cxnId="{D4B25655-3D5B-460C-AD55-A90A133C41DB}">
      <dgm:prSet/>
      <dgm:spPr/>
      <dgm:t>
        <a:bodyPr/>
        <a:lstStyle/>
        <a:p>
          <a:endParaRPr lang="en-US"/>
        </a:p>
      </dgm:t>
    </dgm:pt>
    <dgm:pt modelId="{CFB9730C-7BE7-493D-9B7B-FDAA0CF05E5B}" type="pres">
      <dgm:prSet presAssocID="{CFD06CFB-7B37-40C0-A621-049DC661F1BF}" presName="root" presStyleCnt="0">
        <dgm:presLayoutVars>
          <dgm:dir/>
          <dgm:resizeHandles val="exact"/>
        </dgm:presLayoutVars>
      </dgm:prSet>
      <dgm:spPr/>
    </dgm:pt>
    <dgm:pt modelId="{B3B449B2-815F-4179-A7D5-AAC91F7CEDCD}" type="pres">
      <dgm:prSet presAssocID="{4BC5E137-E739-49D5-AAA7-FE9622C8340D}" presName="compNode" presStyleCnt="0"/>
      <dgm:spPr/>
    </dgm:pt>
    <dgm:pt modelId="{B6989233-2CBE-4BF4-AE8B-ACE4CBB5ABD2}" type="pres">
      <dgm:prSet presAssocID="{4BC5E137-E739-49D5-AAA7-FE9622C8340D}" presName="bgRect" presStyleLbl="bgShp" presStyleIdx="0" presStyleCnt="4"/>
      <dgm:spPr/>
    </dgm:pt>
    <dgm:pt modelId="{7AA78926-2448-49D7-A1E0-1504CC5C02BF}" type="pres">
      <dgm:prSet presAssocID="{4BC5E137-E739-49D5-AAA7-FE9622C8340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706A4BEF-CF60-4B97-B345-0471579C185C}" type="pres">
      <dgm:prSet presAssocID="{4BC5E137-E739-49D5-AAA7-FE9622C8340D}" presName="spaceRect" presStyleCnt="0"/>
      <dgm:spPr/>
    </dgm:pt>
    <dgm:pt modelId="{A29F9056-2C51-4E65-9D16-5A81FE12F2F6}" type="pres">
      <dgm:prSet presAssocID="{4BC5E137-E739-49D5-AAA7-FE9622C8340D}" presName="parTx" presStyleLbl="revTx" presStyleIdx="0" presStyleCnt="4">
        <dgm:presLayoutVars>
          <dgm:chMax val="0"/>
          <dgm:chPref val="0"/>
        </dgm:presLayoutVars>
      </dgm:prSet>
      <dgm:spPr/>
    </dgm:pt>
    <dgm:pt modelId="{660F8512-C9A5-4B80-B523-467C6945FDA1}" type="pres">
      <dgm:prSet presAssocID="{B9483093-BB6F-4041-B200-3A9F3CDAAAD0}" presName="sibTrans" presStyleCnt="0"/>
      <dgm:spPr/>
    </dgm:pt>
    <dgm:pt modelId="{E41BBF76-49E5-4D35-BB71-D6D37DC743FE}" type="pres">
      <dgm:prSet presAssocID="{B5E6F24A-FE77-48FD-B45C-29CE53D6C599}" presName="compNode" presStyleCnt="0"/>
      <dgm:spPr/>
    </dgm:pt>
    <dgm:pt modelId="{7F7D17FB-A466-4D44-9D0C-B34A16F76BE9}" type="pres">
      <dgm:prSet presAssocID="{B5E6F24A-FE77-48FD-B45C-29CE53D6C599}" presName="bgRect" presStyleLbl="bgShp" presStyleIdx="1" presStyleCnt="4"/>
      <dgm:spPr/>
    </dgm:pt>
    <dgm:pt modelId="{1B2966DB-6DC9-492F-99F0-159A475BDB49}" type="pres">
      <dgm:prSet presAssocID="{B5E6F24A-FE77-48FD-B45C-29CE53D6C59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C9B02839-EAA4-4F7A-AD07-83D250989006}" type="pres">
      <dgm:prSet presAssocID="{B5E6F24A-FE77-48FD-B45C-29CE53D6C599}" presName="spaceRect" presStyleCnt="0"/>
      <dgm:spPr/>
    </dgm:pt>
    <dgm:pt modelId="{82891AD7-9998-48A2-A0DA-A42E13D51EF4}" type="pres">
      <dgm:prSet presAssocID="{B5E6F24A-FE77-48FD-B45C-29CE53D6C599}" presName="parTx" presStyleLbl="revTx" presStyleIdx="1" presStyleCnt="4">
        <dgm:presLayoutVars>
          <dgm:chMax val="0"/>
          <dgm:chPref val="0"/>
        </dgm:presLayoutVars>
      </dgm:prSet>
      <dgm:spPr/>
    </dgm:pt>
    <dgm:pt modelId="{2AEE0C88-E1D2-413D-934D-AF12A7CE2BBE}" type="pres">
      <dgm:prSet presAssocID="{19D1DD5E-F3AD-48AA-8EE7-5A400B21FB3B}" presName="sibTrans" presStyleCnt="0"/>
      <dgm:spPr/>
    </dgm:pt>
    <dgm:pt modelId="{D396AF7B-F3EA-4174-B6C2-A02EEF5E3594}" type="pres">
      <dgm:prSet presAssocID="{8C30B62A-435A-410D-9ACE-4747A18B6530}" presName="compNode" presStyleCnt="0"/>
      <dgm:spPr/>
    </dgm:pt>
    <dgm:pt modelId="{4C7CF309-6DB7-4D7E-B1AB-D309BBBC7FE2}" type="pres">
      <dgm:prSet presAssocID="{8C30B62A-435A-410D-9ACE-4747A18B6530}" presName="bgRect" presStyleLbl="bgShp" presStyleIdx="2" presStyleCnt="4"/>
      <dgm:spPr/>
    </dgm:pt>
    <dgm:pt modelId="{DD0C528F-3BCC-4F06-B01D-E5539068DC5D}" type="pres">
      <dgm:prSet presAssocID="{8C30B62A-435A-410D-9ACE-4747A18B6530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9C1D1E8-3C8C-4BBF-8D66-34BB4722F3F0}" type="pres">
      <dgm:prSet presAssocID="{8C30B62A-435A-410D-9ACE-4747A18B6530}" presName="spaceRect" presStyleCnt="0"/>
      <dgm:spPr/>
    </dgm:pt>
    <dgm:pt modelId="{EFF61C33-257B-476C-92A7-BF20BEDC041A}" type="pres">
      <dgm:prSet presAssocID="{8C30B62A-435A-410D-9ACE-4747A18B6530}" presName="parTx" presStyleLbl="revTx" presStyleIdx="2" presStyleCnt="4">
        <dgm:presLayoutVars>
          <dgm:chMax val="0"/>
          <dgm:chPref val="0"/>
        </dgm:presLayoutVars>
      </dgm:prSet>
      <dgm:spPr/>
    </dgm:pt>
    <dgm:pt modelId="{7B46D2FA-D380-4362-BFDB-092737305453}" type="pres">
      <dgm:prSet presAssocID="{D54BF943-279B-468D-924D-C87917CB05D8}" presName="sibTrans" presStyleCnt="0"/>
      <dgm:spPr/>
    </dgm:pt>
    <dgm:pt modelId="{114C902E-877A-4D08-AFF7-EB8CB37833B3}" type="pres">
      <dgm:prSet presAssocID="{08E34F54-EA61-4B4B-B264-5105719A7573}" presName="compNode" presStyleCnt="0"/>
      <dgm:spPr/>
    </dgm:pt>
    <dgm:pt modelId="{16B8E091-237B-406D-8C48-D74F4066699A}" type="pres">
      <dgm:prSet presAssocID="{08E34F54-EA61-4B4B-B264-5105719A7573}" presName="bgRect" presStyleLbl="bgShp" presStyleIdx="3" presStyleCnt="4"/>
      <dgm:spPr/>
    </dgm:pt>
    <dgm:pt modelId="{EB93B409-72C9-47CE-ADAD-15966D01A4D1}" type="pres">
      <dgm:prSet presAssocID="{08E34F54-EA61-4B4B-B264-5105719A757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A41FE88-AA09-4690-AEC3-9274758892B6}" type="pres">
      <dgm:prSet presAssocID="{08E34F54-EA61-4B4B-B264-5105719A7573}" presName="spaceRect" presStyleCnt="0"/>
      <dgm:spPr/>
    </dgm:pt>
    <dgm:pt modelId="{BFAC969D-412C-4C6B-A4E0-2E6DBDF2CD5B}" type="pres">
      <dgm:prSet presAssocID="{08E34F54-EA61-4B4B-B264-5105719A757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C596314-150B-43C0-BAE8-B812C3EC8F68}" type="presOf" srcId="{8C30B62A-435A-410D-9ACE-4747A18B6530}" destId="{EFF61C33-257B-476C-92A7-BF20BEDC041A}" srcOrd="0" destOrd="0" presId="urn:microsoft.com/office/officeart/2018/2/layout/IconVerticalSolidList"/>
    <dgm:cxn modelId="{87159120-376C-4749-8EF7-F8B05195071A}" type="presOf" srcId="{B5E6F24A-FE77-48FD-B45C-29CE53D6C599}" destId="{82891AD7-9998-48A2-A0DA-A42E13D51EF4}" srcOrd="0" destOrd="0" presId="urn:microsoft.com/office/officeart/2018/2/layout/IconVerticalSolidList"/>
    <dgm:cxn modelId="{D75E0A23-976B-4F39-ADD1-FFCE84AE98B4}" type="presOf" srcId="{08E34F54-EA61-4B4B-B264-5105719A7573}" destId="{BFAC969D-412C-4C6B-A4E0-2E6DBDF2CD5B}" srcOrd="0" destOrd="0" presId="urn:microsoft.com/office/officeart/2018/2/layout/IconVerticalSolidList"/>
    <dgm:cxn modelId="{9DEDAF28-E7AB-4081-A739-1EEE989CA745}" srcId="{CFD06CFB-7B37-40C0-A621-049DC661F1BF}" destId="{4BC5E137-E739-49D5-AAA7-FE9622C8340D}" srcOrd="0" destOrd="0" parTransId="{7377BBAF-252B-41A9-972E-796AC469F722}" sibTransId="{B9483093-BB6F-4041-B200-3A9F3CDAAAD0}"/>
    <dgm:cxn modelId="{2971A04C-4534-47ED-B9D4-25072F39A7C3}" srcId="{CFD06CFB-7B37-40C0-A621-049DC661F1BF}" destId="{B5E6F24A-FE77-48FD-B45C-29CE53D6C599}" srcOrd="1" destOrd="0" parTransId="{F0D0A8B4-0885-4F25-A000-69D20176A15D}" sibTransId="{19D1DD5E-F3AD-48AA-8EE7-5A400B21FB3B}"/>
    <dgm:cxn modelId="{D4B25655-3D5B-460C-AD55-A90A133C41DB}" srcId="{CFD06CFB-7B37-40C0-A621-049DC661F1BF}" destId="{08E34F54-EA61-4B4B-B264-5105719A7573}" srcOrd="3" destOrd="0" parTransId="{9D6FE962-1AAB-4B6C-8677-62828F53F718}" sibTransId="{E79A41B7-F9D5-4CF8-BE96-34A23756FB5A}"/>
    <dgm:cxn modelId="{E4494B65-8ACB-49C3-9C69-DE79FC8CDD98}" srcId="{CFD06CFB-7B37-40C0-A621-049DC661F1BF}" destId="{8C30B62A-435A-410D-9ACE-4747A18B6530}" srcOrd="2" destOrd="0" parTransId="{81257E3B-02C2-4565-B0A2-6C19D6D210F9}" sibTransId="{D54BF943-279B-468D-924D-C87917CB05D8}"/>
    <dgm:cxn modelId="{6B250BA9-1C26-49BC-9CC6-7840F541EA7C}" type="presOf" srcId="{CFD06CFB-7B37-40C0-A621-049DC661F1BF}" destId="{CFB9730C-7BE7-493D-9B7B-FDAA0CF05E5B}" srcOrd="0" destOrd="0" presId="urn:microsoft.com/office/officeart/2018/2/layout/IconVerticalSolidList"/>
    <dgm:cxn modelId="{9619BDE7-B009-42B4-A62A-0D70E3E1FA7E}" type="presOf" srcId="{4BC5E137-E739-49D5-AAA7-FE9622C8340D}" destId="{A29F9056-2C51-4E65-9D16-5A81FE12F2F6}" srcOrd="0" destOrd="0" presId="urn:microsoft.com/office/officeart/2018/2/layout/IconVerticalSolidList"/>
    <dgm:cxn modelId="{058B9B35-10CF-4EED-A203-7A4B4738BCB0}" type="presParOf" srcId="{CFB9730C-7BE7-493D-9B7B-FDAA0CF05E5B}" destId="{B3B449B2-815F-4179-A7D5-AAC91F7CEDCD}" srcOrd="0" destOrd="0" presId="urn:microsoft.com/office/officeart/2018/2/layout/IconVerticalSolidList"/>
    <dgm:cxn modelId="{F9782B6C-78B6-4DF6-9DED-E70DD5B687C1}" type="presParOf" srcId="{B3B449B2-815F-4179-A7D5-AAC91F7CEDCD}" destId="{B6989233-2CBE-4BF4-AE8B-ACE4CBB5ABD2}" srcOrd="0" destOrd="0" presId="urn:microsoft.com/office/officeart/2018/2/layout/IconVerticalSolidList"/>
    <dgm:cxn modelId="{3D8CBD6B-6F84-477C-A59C-D26B4B15800F}" type="presParOf" srcId="{B3B449B2-815F-4179-A7D5-AAC91F7CEDCD}" destId="{7AA78926-2448-49D7-A1E0-1504CC5C02BF}" srcOrd="1" destOrd="0" presId="urn:microsoft.com/office/officeart/2018/2/layout/IconVerticalSolidList"/>
    <dgm:cxn modelId="{5DA1748C-4DF9-4BB7-9437-76000293B090}" type="presParOf" srcId="{B3B449B2-815F-4179-A7D5-AAC91F7CEDCD}" destId="{706A4BEF-CF60-4B97-B345-0471579C185C}" srcOrd="2" destOrd="0" presId="urn:microsoft.com/office/officeart/2018/2/layout/IconVerticalSolidList"/>
    <dgm:cxn modelId="{CA580197-6530-4D0F-BEFE-3766C44D2396}" type="presParOf" srcId="{B3B449B2-815F-4179-A7D5-AAC91F7CEDCD}" destId="{A29F9056-2C51-4E65-9D16-5A81FE12F2F6}" srcOrd="3" destOrd="0" presId="urn:microsoft.com/office/officeart/2018/2/layout/IconVerticalSolidList"/>
    <dgm:cxn modelId="{43CB9D7F-DC9F-41DC-B758-56A30102D6AB}" type="presParOf" srcId="{CFB9730C-7BE7-493D-9B7B-FDAA0CF05E5B}" destId="{660F8512-C9A5-4B80-B523-467C6945FDA1}" srcOrd="1" destOrd="0" presId="urn:microsoft.com/office/officeart/2018/2/layout/IconVerticalSolidList"/>
    <dgm:cxn modelId="{8451B92A-F5B6-417D-9966-CFCE1A51E8A1}" type="presParOf" srcId="{CFB9730C-7BE7-493D-9B7B-FDAA0CF05E5B}" destId="{E41BBF76-49E5-4D35-BB71-D6D37DC743FE}" srcOrd="2" destOrd="0" presId="urn:microsoft.com/office/officeart/2018/2/layout/IconVerticalSolidList"/>
    <dgm:cxn modelId="{A018C5CC-CD79-4606-85E6-942DEBAFF792}" type="presParOf" srcId="{E41BBF76-49E5-4D35-BB71-D6D37DC743FE}" destId="{7F7D17FB-A466-4D44-9D0C-B34A16F76BE9}" srcOrd="0" destOrd="0" presId="urn:microsoft.com/office/officeart/2018/2/layout/IconVerticalSolidList"/>
    <dgm:cxn modelId="{EBD4875A-7131-4873-8B08-A97E716CE602}" type="presParOf" srcId="{E41BBF76-49E5-4D35-BB71-D6D37DC743FE}" destId="{1B2966DB-6DC9-492F-99F0-159A475BDB49}" srcOrd="1" destOrd="0" presId="urn:microsoft.com/office/officeart/2018/2/layout/IconVerticalSolidList"/>
    <dgm:cxn modelId="{CFA36EB6-1C74-4D6E-B280-0E4ECD20F56A}" type="presParOf" srcId="{E41BBF76-49E5-4D35-BB71-D6D37DC743FE}" destId="{C9B02839-EAA4-4F7A-AD07-83D250989006}" srcOrd="2" destOrd="0" presId="urn:microsoft.com/office/officeart/2018/2/layout/IconVerticalSolidList"/>
    <dgm:cxn modelId="{B6A3BCED-6D17-4E1A-A413-7B78FC098E83}" type="presParOf" srcId="{E41BBF76-49E5-4D35-BB71-D6D37DC743FE}" destId="{82891AD7-9998-48A2-A0DA-A42E13D51EF4}" srcOrd="3" destOrd="0" presId="urn:microsoft.com/office/officeart/2018/2/layout/IconVerticalSolidList"/>
    <dgm:cxn modelId="{7343C65A-975D-4D45-86C8-F7ACC9129ED3}" type="presParOf" srcId="{CFB9730C-7BE7-493D-9B7B-FDAA0CF05E5B}" destId="{2AEE0C88-E1D2-413D-934D-AF12A7CE2BBE}" srcOrd="3" destOrd="0" presId="urn:microsoft.com/office/officeart/2018/2/layout/IconVerticalSolidList"/>
    <dgm:cxn modelId="{A9CA99AC-A0E7-432F-9A7C-F2A9614870CD}" type="presParOf" srcId="{CFB9730C-7BE7-493D-9B7B-FDAA0CF05E5B}" destId="{D396AF7B-F3EA-4174-B6C2-A02EEF5E3594}" srcOrd="4" destOrd="0" presId="urn:microsoft.com/office/officeart/2018/2/layout/IconVerticalSolidList"/>
    <dgm:cxn modelId="{5A44BCA3-702E-4D48-8619-79407B419ACA}" type="presParOf" srcId="{D396AF7B-F3EA-4174-B6C2-A02EEF5E3594}" destId="{4C7CF309-6DB7-4D7E-B1AB-D309BBBC7FE2}" srcOrd="0" destOrd="0" presId="urn:microsoft.com/office/officeart/2018/2/layout/IconVerticalSolidList"/>
    <dgm:cxn modelId="{57F8FA93-D425-4CE9-8D8A-7EA17A7A4FEB}" type="presParOf" srcId="{D396AF7B-F3EA-4174-B6C2-A02EEF5E3594}" destId="{DD0C528F-3BCC-4F06-B01D-E5539068DC5D}" srcOrd="1" destOrd="0" presId="urn:microsoft.com/office/officeart/2018/2/layout/IconVerticalSolidList"/>
    <dgm:cxn modelId="{94DF1E4B-48FB-41DE-95E7-06336B202082}" type="presParOf" srcId="{D396AF7B-F3EA-4174-B6C2-A02EEF5E3594}" destId="{29C1D1E8-3C8C-4BBF-8D66-34BB4722F3F0}" srcOrd="2" destOrd="0" presId="urn:microsoft.com/office/officeart/2018/2/layout/IconVerticalSolidList"/>
    <dgm:cxn modelId="{4DB51898-463B-4C56-B9CB-5FA481880B5B}" type="presParOf" srcId="{D396AF7B-F3EA-4174-B6C2-A02EEF5E3594}" destId="{EFF61C33-257B-476C-92A7-BF20BEDC041A}" srcOrd="3" destOrd="0" presId="urn:microsoft.com/office/officeart/2018/2/layout/IconVerticalSolidList"/>
    <dgm:cxn modelId="{3C5510BE-0310-4331-A9A9-8381C0365611}" type="presParOf" srcId="{CFB9730C-7BE7-493D-9B7B-FDAA0CF05E5B}" destId="{7B46D2FA-D380-4362-BFDB-092737305453}" srcOrd="5" destOrd="0" presId="urn:microsoft.com/office/officeart/2018/2/layout/IconVerticalSolidList"/>
    <dgm:cxn modelId="{13C83F02-A8DE-4564-936F-A85C00DBC73F}" type="presParOf" srcId="{CFB9730C-7BE7-493D-9B7B-FDAA0CF05E5B}" destId="{114C902E-877A-4D08-AFF7-EB8CB37833B3}" srcOrd="6" destOrd="0" presId="urn:microsoft.com/office/officeart/2018/2/layout/IconVerticalSolidList"/>
    <dgm:cxn modelId="{B0B451FA-98C7-47E8-BA0E-3488C8CAE96B}" type="presParOf" srcId="{114C902E-877A-4D08-AFF7-EB8CB37833B3}" destId="{16B8E091-237B-406D-8C48-D74F4066699A}" srcOrd="0" destOrd="0" presId="urn:microsoft.com/office/officeart/2018/2/layout/IconVerticalSolidList"/>
    <dgm:cxn modelId="{8B8F7A8B-6ADC-4823-A8A1-871DE78D5A4D}" type="presParOf" srcId="{114C902E-877A-4D08-AFF7-EB8CB37833B3}" destId="{EB93B409-72C9-47CE-ADAD-15966D01A4D1}" srcOrd="1" destOrd="0" presId="urn:microsoft.com/office/officeart/2018/2/layout/IconVerticalSolidList"/>
    <dgm:cxn modelId="{6DDAE2F6-718C-4D6E-B745-5FDD7E23B946}" type="presParOf" srcId="{114C902E-877A-4D08-AFF7-EB8CB37833B3}" destId="{4A41FE88-AA09-4690-AEC3-9274758892B6}" srcOrd="2" destOrd="0" presId="urn:microsoft.com/office/officeart/2018/2/layout/IconVerticalSolidList"/>
    <dgm:cxn modelId="{FE13056F-D62D-4FEA-BD80-8FCEAEA3D786}" type="presParOf" srcId="{114C902E-877A-4D08-AFF7-EB8CB37833B3}" destId="{BFAC969D-412C-4C6B-A4E0-2E6DBDF2CD5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989233-2CBE-4BF4-AE8B-ACE4CBB5ABD2}">
      <dsp:nvSpPr>
        <dsp:cNvPr id="0" name=""/>
        <dsp:cNvSpPr/>
      </dsp:nvSpPr>
      <dsp:spPr>
        <a:xfrm>
          <a:off x="0" y="1515"/>
          <a:ext cx="8770571" cy="7680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A78926-2448-49D7-A1E0-1504CC5C02BF}">
      <dsp:nvSpPr>
        <dsp:cNvPr id="0" name=""/>
        <dsp:cNvSpPr/>
      </dsp:nvSpPr>
      <dsp:spPr>
        <a:xfrm>
          <a:off x="232350" y="174337"/>
          <a:ext cx="422454" cy="42245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9F9056-2C51-4E65-9D16-5A81FE12F2F6}">
      <dsp:nvSpPr>
        <dsp:cNvPr id="0" name=""/>
        <dsp:cNvSpPr/>
      </dsp:nvSpPr>
      <dsp:spPr>
        <a:xfrm>
          <a:off x="887155" y="1515"/>
          <a:ext cx="7883415" cy="768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91" tIns="81291" rIns="81291" bIns="8129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baseline="0"/>
            <a:t>Understand the physical and chemical concept of concentration</a:t>
          </a:r>
          <a:endParaRPr lang="en-US" sz="1800" kern="1200"/>
        </a:p>
      </dsp:txBody>
      <dsp:txXfrm>
        <a:off x="887155" y="1515"/>
        <a:ext cx="7883415" cy="768099"/>
      </dsp:txXfrm>
    </dsp:sp>
    <dsp:sp modelId="{7F7D17FB-A466-4D44-9D0C-B34A16F76BE9}">
      <dsp:nvSpPr>
        <dsp:cNvPr id="0" name=""/>
        <dsp:cNvSpPr/>
      </dsp:nvSpPr>
      <dsp:spPr>
        <a:xfrm>
          <a:off x="0" y="961639"/>
          <a:ext cx="8770571" cy="7680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2966DB-6DC9-492F-99F0-159A475BDB49}">
      <dsp:nvSpPr>
        <dsp:cNvPr id="0" name=""/>
        <dsp:cNvSpPr/>
      </dsp:nvSpPr>
      <dsp:spPr>
        <a:xfrm>
          <a:off x="232350" y="1134462"/>
          <a:ext cx="422454" cy="4224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891AD7-9998-48A2-A0DA-A42E13D51EF4}">
      <dsp:nvSpPr>
        <dsp:cNvPr id="0" name=""/>
        <dsp:cNvSpPr/>
      </dsp:nvSpPr>
      <dsp:spPr>
        <a:xfrm>
          <a:off x="887155" y="961639"/>
          <a:ext cx="7883415" cy="768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91" tIns="81291" rIns="81291" bIns="8129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baseline="0"/>
            <a:t>Use the chemical concentration to perform dilution</a:t>
          </a:r>
          <a:endParaRPr lang="en-US" sz="1800" kern="1200"/>
        </a:p>
      </dsp:txBody>
      <dsp:txXfrm>
        <a:off x="887155" y="961639"/>
        <a:ext cx="7883415" cy="768099"/>
      </dsp:txXfrm>
    </dsp:sp>
    <dsp:sp modelId="{4C7CF309-6DB7-4D7E-B1AB-D309BBBC7FE2}">
      <dsp:nvSpPr>
        <dsp:cNvPr id="0" name=""/>
        <dsp:cNvSpPr/>
      </dsp:nvSpPr>
      <dsp:spPr>
        <a:xfrm>
          <a:off x="0" y="1921764"/>
          <a:ext cx="8770571" cy="7680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0C528F-3BCC-4F06-B01D-E5539068DC5D}">
      <dsp:nvSpPr>
        <dsp:cNvPr id="0" name=""/>
        <dsp:cNvSpPr/>
      </dsp:nvSpPr>
      <dsp:spPr>
        <a:xfrm>
          <a:off x="232350" y="2094586"/>
          <a:ext cx="422454" cy="42245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F61C33-257B-476C-92A7-BF20BEDC041A}">
      <dsp:nvSpPr>
        <dsp:cNvPr id="0" name=""/>
        <dsp:cNvSpPr/>
      </dsp:nvSpPr>
      <dsp:spPr>
        <a:xfrm>
          <a:off x="887155" y="1921764"/>
          <a:ext cx="7883415" cy="768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91" tIns="81291" rIns="81291" bIns="8129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baseline="0"/>
            <a:t>Understand the concept of titration</a:t>
          </a:r>
          <a:endParaRPr lang="en-US" sz="1800" kern="1200"/>
        </a:p>
      </dsp:txBody>
      <dsp:txXfrm>
        <a:off x="887155" y="1921764"/>
        <a:ext cx="7883415" cy="768099"/>
      </dsp:txXfrm>
    </dsp:sp>
    <dsp:sp modelId="{16B8E091-237B-406D-8C48-D74F4066699A}">
      <dsp:nvSpPr>
        <dsp:cNvPr id="0" name=""/>
        <dsp:cNvSpPr/>
      </dsp:nvSpPr>
      <dsp:spPr>
        <a:xfrm>
          <a:off x="0" y="2881888"/>
          <a:ext cx="8770571" cy="76809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93B409-72C9-47CE-ADAD-15966D01A4D1}">
      <dsp:nvSpPr>
        <dsp:cNvPr id="0" name=""/>
        <dsp:cNvSpPr/>
      </dsp:nvSpPr>
      <dsp:spPr>
        <a:xfrm>
          <a:off x="232350" y="3054711"/>
          <a:ext cx="422454" cy="42245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AC969D-412C-4C6B-A4E0-2E6DBDF2CD5B}">
      <dsp:nvSpPr>
        <dsp:cNvPr id="0" name=""/>
        <dsp:cNvSpPr/>
      </dsp:nvSpPr>
      <dsp:spPr>
        <a:xfrm>
          <a:off x="887155" y="2881888"/>
          <a:ext cx="7883415" cy="7680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91" tIns="81291" rIns="81291" bIns="81291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baseline="0"/>
            <a:t>Use concentration to perform titration</a:t>
          </a:r>
          <a:endParaRPr lang="en-US" sz="1800" kern="1200"/>
        </a:p>
      </dsp:txBody>
      <dsp:txXfrm>
        <a:off x="887155" y="2881888"/>
        <a:ext cx="7883415" cy="7680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avLst/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11/3/25</a:t>
            </a:fld>
            <a:endParaRPr lang="en-US" dirty="0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7818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11/3/25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674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avLst/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1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avLst/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avLst/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7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avLst/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avLst/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avLst/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5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avLst/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avLst/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avLst/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9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avLst/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avLst/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avLst/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11/3/25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747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11/3/25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183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11/3/25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6196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11/3/25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515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11/3/25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944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11/3/25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0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11/3/25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79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11/3/25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011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11/3/25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67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11/3/25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957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27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hf sldNum="0" hdr="0" ftr="0" dt="0"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libili.com/video/BV1K54y1y7am/?vd_source=2b14d6efae5269f1dc91bb0df501d75a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97AED539-2D46-0A99-6056-56FC2176C4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37" r="33251" b="-1"/>
          <a:stretch/>
        </p:blipFill>
        <p:spPr>
          <a:xfrm>
            <a:off x="4487333" y="10"/>
            <a:ext cx="7704667" cy="6877868"/>
          </a:xfrm>
          <a:custGeom>
            <a:avLst/>
            <a:gdLst/>
            <a:ahLst/>
            <a:cxnLst/>
            <a:rect l="l" t="t" r="r" b="b"/>
            <a:pathLst>
              <a:path w="7704667" h="6877878">
                <a:moveTo>
                  <a:pt x="0" y="0"/>
                </a:moveTo>
                <a:lnTo>
                  <a:pt x="7704667" y="0"/>
                </a:lnTo>
                <a:lnTo>
                  <a:pt x="7704667" y="6877878"/>
                </a:lnTo>
                <a:lnTo>
                  <a:pt x="0" y="6877878"/>
                </a:lnTo>
                <a:lnTo>
                  <a:pt x="0" y="6867939"/>
                </a:lnTo>
                <a:lnTo>
                  <a:pt x="146217" y="6867939"/>
                </a:lnTo>
                <a:lnTo>
                  <a:pt x="252811" y="6795007"/>
                </a:lnTo>
                <a:cubicBezTo>
                  <a:pt x="428996" y="6667346"/>
                  <a:pt x="601946" y="6529451"/>
                  <a:pt x="776494" y="6388681"/>
                </a:cubicBezTo>
                <a:cubicBezTo>
                  <a:pt x="1734992" y="5615677"/>
                  <a:pt x="2676361" y="4981124"/>
                  <a:pt x="2676361" y="3631852"/>
                </a:cubicBezTo>
                <a:cubicBezTo>
                  <a:pt x="2676361" y="2101350"/>
                  <a:pt x="2094814" y="761014"/>
                  <a:pt x="1053668" y="20384"/>
                </a:cubicBezTo>
                <a:lnTo>
                  <a:pt x="1038069" y="9939"/>
                </a:lnTo>
                <a:lnTo>
                  <a:pt x="0" y="9939"/>
                </a:lnTo>
                <a:close/>
              </a:path>
            </a:pathLst>
          </a:cu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CD36D47-40B7-494B-B249-3CBA333DE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5746" cy="6858000"/>
          </a:xfrm>
          <a:custGeom>
            <a:avLst/>
            <a:gdLst>
              <a:gd name="connsiteX0" fmla="*/ 0 w 7475746"/>
              <a:gd name="connsiteY0" fmla="*/ 0 h 6858000"/>
              <a:gd name="connsiteX1" fmla="*/ 5859459 w 7475746"/>
              <a:gd name="connsiteY1" fmla="*/ 0 h 6858000"/>
              <a:gd name="connsiteX2" fmla="*/ 5874848 w 7475746"/>
              <a:gd name="connsiteY2" fmla="*/ 10445 h 6858000"/>
              <a:gd name="connsiteX3" fmla="*/ 7475746 w 7475746"/>
              <a:gd name="connsiteY3" fmla="*/ 3621913 h 6858000"/>
              <a:gd name="connsiteX4" fmla="*/ 5601397 w 7475746"/>
              <a:gd name="connsiteY4" fmla="*/ 6378742 h 6858000"/>
              <a:gd name="connsiteX5" fmla="*/ 5084748 w 7475746"/>
              <a:gd name="connsiteY5" fmla="*/ 6785068 h 6858000"/>
              <a:gd name="connsiteX6" fmla="*/ 4979585 w 7475746"/>
              <a:gd name="connsiteY6" fmla="*/ 6858000 h 6858000"/>
              <a:gd name="connsiteX7" fmla="*/ 0 w 7475746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5746" h="6858000">
                <a:moveTo>
                  <a:pt x="0" y="0"/>
                </a:moveTo>
                <a:lnTo>
                  <a:pt x="5859459" y="0"/>
                </a:lnTo>
                <a:lnTo>
                  <a:pt x="5874848" y="10445"/>
                </a:lnTo>
                <a:cubicBezTo>
                  <a:pt x="6902010" y="751075"/>
                  <a:pt x="7475746" y="2091411"/>
                  <a:pt x="7475746" y="3621913"/>
                </a:cubicBezTo>
                <a:cubicBezTo>
                  <a:pt x="7475746" y="4971185"/>
                  <a:pt x="6547021" y="5605738"/>
                  <a:pt x="5601397" y="6378742"/>
                </a:cubicBezTo>
                <a:cubicBezTo>
                  <a:pt x="5429193" y="6519512"/>
                  <a:pt x="5258566" y="6657407"/>
                  <a:pt x="5084748" y="6785068"/>
                </a:cubicBezTo>
                <a:lnTo>
                  <a:pt x="497958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03AD0D1C-F8BA-4CD1-BC4D-BE1823F3E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7283242" cy="6858000"/>
          </a:xfrm>
          <a:custGeom>
            <a:avLst/>
            <a:gdLst>
              <a:gd name="connsiteX0" fmla="*/ 0 w 7163694"/>
              <a:gd name="connsiteY0" fmla="*/ 0 h 6858000"/>
              <a:gd name="connsiteX1" fmla="*/ 5525402 w 7163694"/>
              <a:gd name="connsiteY1" fmla="*/ 0 h 6858000"/>
              <a:gd name="connsiteX2" fmla="*/ 5541001 w 7163694"/>
              <a:gd name="connsiteY2" fmla="*/ 10445 h 6858000"/>
              <a:gd name="connsiteX3" fmla="*/ 7163694 w 7163694"/>
              <a:gd name="connsiteY3" fmla="*/ 3621913 h 6858000"/>
              <a:gd name="connsiteX4" fmla="*/ 5263827 w 7163694"/>
              <a:gd name="connsiteY4" fmla="*/ 6378742 h 6858000"/>
              <a:gd name="connsiteX5" fmla="*/ 4740144 w 7163694"/>
              <a:gd name="connsiteY5" fmla="*/ 6785068 h 6858000"/>
              <a:gd name="connsiteX6" fmla="*/ 4633550 w 7163694"/>
              <a:gd name="connsiteY6" fmla="*/ 6858000 h 6858000"/>
              <a:gd name="connsiteX7" fmla="*/ 0 w 7163694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163694" h="6858000">
                <a:moveTo>
                  <a:pt x="0" y="0"/>
                </a:moveTo>
                <a:lnTo>
                  <a:pt x="5525402" y="0"/>
                </a:lnTo>
                <a:lnTo>
                  <a:pt x="5541001" y="10445"/>
                </a:lnTo>
                <a:cubicBezTo>
                  <a:pt x="6582147" y="751075"/>
                  <a:pt x="7163694" y="2091411"/>
                  <a:pt x="7163694" y="3621913"/>
                </a:cubicBezTo>
                <a:cubicBezTo>
                  <a:pt x="7163694" y="4971185"/>
                  <a:pt x="6222325" y="5605738"/>
                  <a:pt x="5263827" y="6378742"/>
                </a:cubicBezTo>
                <a:cubicBezTo>
                  <a:pt x="5089279" y="6519512"/>
                  <a:pt x="4916329" y="6657407"/>
                  <a:pt x="4740144" y="6785068"/>
                </a:cubicBezTo>
                <a:lnTo>
                  <a:pt x="4633550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FBA7E51E-7B6A-4A79-8F84-47C845C7A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98368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46990-3A8F-9985-2A7E-0463CCA57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531" y="1346268"/>
            <a:ext cx="5274860" cy="3066706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4200" dirty="0"/>
              <a:t>U</a:t>
            </a:r>
            <a:r>
              <a:rPr lang="en-US" altLang="zh-CN" sz="4200" dirty="0"/>
              <a:t>nit 6.2 Concentration, Dilution and Titration</a:t>
            </a:r>
            <a:endParaRPr lang="en-US" sz="4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AA948E-E7AB-B44B-4D7C-A4A1C85543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212" y="4412974"/>
            <a:ext cx="4162357" cy="1576188"/>
          </a:xfrm>
        </p:spPr>
        <p:txBody>
          <a:bodyPr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229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C9B4A-991A-FD44-1EFD-D267AE290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today’s lesson, we will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27D48C-93DA-5600-37F9-6FC26FB4990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20240" y="2312276"/>
          <a:ext cx="8770571" cy="3651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75232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1001E1-72A8-07BC-7032-839B72D1B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-700485"/>
            <a:ext cx="5271804" cy="1639888"/>
          </a:xfrm>
        </p:spPr>
        <p:txBody>
          <a:bodyPr anchor="b">
            <a:normAutofit/>
          </a:bodyPr>
          <a:lstStyle/>
          <a:p>
            <a:r>
              <a:rPr lang="en-US" dirty="0"/>
              <a:t>Concentration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7D3278C-8B46-6E35-E1D1-169F3F082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939403"/>
            <a:ext cx="7179469" cy="5861447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en-US" dirty="0"/>
              <a:t>Physical measures </a:t>
            </a:r>
          </a:p>
          <a:p>
            <a:pPr>
              <a:lnSpc>
                <a:spcPct val="130000"/>
              </a:lnSpc>
            </a:pPr>
            <a:r>
              <a:rPr lang="en-US" dirty="0"/>
              <a:t>• % w/w – g of solute per 100 g of solution </a:t>
            </a:r>
          </a:p>
          <a:p>
            <a:pPr>
              <a:lnSpc>
                <a:spcPct val="130000"/>
              </a:lnSpc>
            </a:pPr>
            <a:r>
              <a:rPr lang="en-US" dirty="0"/>
              <a:t>• % w/v – g of solute per 100 mL of solution </a:t>
            </a:r>
          </a:p>
          <a:p>
            <a:pPr>
              <a:lnSpc>
                <a:spcPct val="130000"/>
              </a:lnSpc>
            </a:pPr>
            <a:r>
              <a:rPr lang="en-US" dirty="0"/>
              <a:t>• % v/v – mL of solute per 100 mL of solution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/>
              <a:t>ppm, parts per million, equals </a:t>
            </a:r>
          </a:p>
          <a:p>
            <a:pPr>
              <a:lnSpc>
                <a:spcPct val="130000"/>
              </a:lnSpc>
            </a:pPr>
            <a:r>
              <a:rPr lang="en-US" dirty="0"/>
              <a:t>mass of solute(g)/mass of solution(g) x 10</a:t>
            </a:r>
            <a:r>
              <a:rPr lang="en-US" sz="2200" baseline="30000" dirty="0"/>
              <a:t>6</a:t>
            </a:r>
            <a:endParaRPr lang="en-US" dirty="0"/>
          </a:p>
          <a:p>
            <a:pPr>
              <a:lnSpc>
                <a:spcPct val="130000"/>
              </a:lnSpc>
            </a:pPr>
            <a:endParaRPr lang="en-US" dirty="0"/>
          </a:p>
          <a:p>
            <a:pPr>
              <a:lnSpc>
                <a:spcPct val="130000"/>
              </a:lnSpc>
            </a:pPr>
            <a:r>
              <a:rPr lang="en-US" dirty="0"/>
              <a:t>2. Chemical measures</a:t>
            </a:r>
          </a:p>
          <a:p>
            <a:pPr>
              <a:lnSpc>
                <a:spcPct val="130000"/>
              </a:lnSpc>
            </a:pPr>
            <a:r>
              <a:rPr lang="en-US" dirty="0"/>
              <a:t>• Molarity (M) – mol of solute per L of solution </a:t>
            </a:r>
            <a:r>
              <a:rPr lang="en-US" b="1" dirty="0"/>
              <a:t>Temperature dependent </a:t>
            </a:r>
          </a:p>
          <a:p>
            <a:pPr>
              <a:lnSpc>
                <a:spcPct val="130000"/>
              </a:lnSpc>
            </a:pPr>
            <a:r>
              <a:rPr lang="en-US" dirty="0"/>
              <a:t>• Molality (m) – mol of solute per kg of solvent </a:t>
            </a:r>
            <a:r>
              <a:rPr lang="en-US" b="1" dirty="0"/>
              <a:t>Not temperature dependent </a:t>
            </a:r>
          </a:p>
          <a:p>
            <a:pPr>
              <a:lnSpc>
                <a:spcPct val="130000"/>
              </a:lnSpc>
            </a:pPr>
            <a:r>
              <a:rPr lang="en-US" dirty="0"/>
              <a:t>• Mole fraction (X) – 𝒎𝒐𝒍 𝒐𝒇 𝒐𝒏𝒆 𝒄𝒐𝒎𝒑𝒐𝒏𝒆𝒏𝒕/𝒕𝒐𝒕𝒂𝒍 𝒎𝒐𝒍 𝒐𝒇 𝒂𝒍𝒍 𝒄𝒐𝒎𝒑𝒐𝒏𝒆𝒏𝒕𝒔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Laboratory glassware containing solution">
            <a:extLst>
              <a:ext uri="{FF2B5EF4-FFF2-40B4-BE49-F238E27FC236}">
                <a16:creationId xmlns:a16="http://schemas.microsoft.com/office/drawing/2014/main" id="{99991C1F-111E-62C8-4E8C-DBC538E1ED4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4" r="45156"/>
          <a:stretch/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542291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D5FBB81-B61B-416A-8F5D-A8DDF6253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0C0D7D4-D83D-4C58-87D1-955F0A917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6051" cy="6858000"/>
          </a:xfrm>
          <a:custGeom>
            <a:avLst/>
            <a:gdLst>
              <a:gd name="connsiteX0" fmla="*/ 0 w 7476051"/>
              <a:gd name="connsiteY0" fmla="*/ 0 h 6858000"/>
              <a:gd name="connsiteX1" fmla="*/ 5853028 w 7476051"/>
              <a:gd name="connsiteY1" fmla="*/ 0 h 6858000"/>
              <a:gd name="connsiteX2" fmla="*/ 5875152 w 7476051"/>
              <a:gd name="connsiteY2" fmla="*/ 14997 h 6858000"/>
              <a:gd name="connsiteX3" fmla="*/ 7476051 w 7476051"/>
              <a:gd name="connsiteY3" fmla="*/ 3621656 h 6858000"/>
              <a:gd name="connsiteX4" fmla="*/ 5601702 w 7476051"/>
              <a:gd name="connsiteY4" fmla="*/ 6374814 h 6858000"/>
              <a:gd name="connsiteX5" fmla="*/ 5085053 w 7476051"/>
              <a:gd name="connsiteY5" fmla="*/ 6780599 h 6858000"/>
              <a:gd name="connsiteX6" fmla="*/ 4973297 w 7476051"/>
              <a:gd name="connsiteY6" fmla="*/ 6858000 h 6858000"/>
              <a:gd name="connsiteX7" fmla="*/ 0 w 7476051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6051" h="6858000">
                <a:moveTo>
                  <a:pt x="0" y="0"/>
                </a:moveTo>
                <a:lnTo>
                  <a:pt x="5853028" y="0"/>
                </a:lnTo>
                <a:lnTo>
                  <a:pt x="5875152" y="14997"/>
                </a:lnTo>
                <a:cubicBezTo>
                  <a:pt x="6902315" y="754641"/>
                  <a:pt x="7476051" y="2093192"/>
                  <a:pt x="7476051" y="3621656"/>
                </a:cubicBezTo>
                <a:cubicBezTo>
                  <a:pt x="7476051" y="4969131"/>
                  <a:pt x="6547326" y="5602839"/>
                  <a:pt x="5601702" y="6374814"/>
                </a:cubicBezTo>
                <a:cubicBezTo>
                  <a:pt x="5429499" y="6515397"/>
                  <a:pt x="5258871" y="6653108"/>
                  <a:pt x="5085053" y="6780599"/>
                </a:cubicBezTo>
                <a:lnTo>
                  <a:pt x="49732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5F9A324-404E-4C5D-AFF0-C5D0D841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48204" y="-1"/>
            <a:ext cx="2535264" cy="6858001"/>
          </a:xfrm>
          <a:custGeom>
            <a:avLst/>
            <a:gdLst>
              <a:gd name="connsiteX0" fmla="*/ 1218585 w 2535264"/>
              <a:gd name="connsiteY0" fmla="*/ 0 h 6858001"/>
              <a:gd name="connsiteX1" fmla="*/ 1236561 w 2535264"/>
              <a:gd name="connsiteY1" fmla="*/ 0 h 6858001"/>
              <a:gd name="connsiteX2" fmla="*/ 1264452 w 2535264"/>
              <a:gd name="connsiteY2" fmla="*/ 24550 h 6858001"/>
              <a:gd name="connsiteX3" fmla="*/ 2528121 w 2535264"/>
              <a:gd name="connsiteY3" fmla="*/ 3710502 h 6858001"/>
              <a:gd name="connsiteX4" fmla="*/ 492890 w 2535264"/>
              <a:gd name="connsiteY4" fmla="*/ 6507511 h 6858001"/>
              <a:gd name="connsiteX5" fmla="*/ 221418 w 2535264"/>
              <a:gd name="connsiteY5" fmla="*/ 6713387 h 6858001"/>
              <a:gd name="connsiteX6" fmla="*/ 20100 w 2535264"/>
              <a:gd name="connsiteY6" fmla="*/ 6858001 h 6858001"/>
              <a:gd name="connsiteX7" fmla="*/ 0 w 2535264"/>
              <a:gd name="connsiteY7" fmla="*/ 6858001 h 6858001"/>
              <a:gd name="connsiteX8" fmla="*/ 202488 w 2535264"/>
              <a:gd name="connsiteY8" fmla="*/ 6712547 h 6858001"/>
              <a:gd name="connsiteX9" fmla="*/ 473961 w 2535264"/>
              <a:gd name="connsiteY9" fmla="*/ 6506670 h 6858001"/>
              <a:gd name="connsiteX10" fmla="*/ 2509192 w 2535264"/>
              <a:gd name="connsiteY10" fmla="*/ 3709662 h 6858001"/>
              <a:gd name="connsiteX11" fmla="*/ 1245521 w 2535264"/>
              <a:gd name="connsiteY11" fmla="*/ 2370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5264" h="6858001">
                <a:moveTo>
                  <a:pt x="1218585" y="0"/>
                </a:moveTo>
                <a:lnTo>
                  <a:pt x="1236561" y="0"/>
                </a:lnTo>
                <a:lnTo>
                  <a:pt x="1264452" y="24550"/>
                </a:lnTo>
                <a:cubicBezTo>
                  <a:pt x="2149109" y="863108"/>
                  <a:pt x="2598329" y="2210814"/>
                  <a:pt x="2528121" y="3710502"/>
                </a:cubicBezTo>
                <a:cubicBezTo>
                  <a:pt x="2462100" y="5120751"/>
                  <a:pt x="1489450" y="5742158"/>
                  <a:pt x="492890" y="6507511"/>
                </a:cubicBezTo>
                <a:cubicBezTo>
                  <a:pt x="402151" y="6577199"/>
                  <a:pt x="311847" y="6646154"/>
                  <a:pt x="221418" y="6713387"/>
                </a:cubicBezTo>
                <a:lnTo>
                  <a:pt x="20100" y="6858001"/>
                </a:lnTo>
                <a:lnTo>
                  <a:pt x="0" y="6858001"/>
                </a:lnTo>
                <a:lnTo>
                  <a:pt x="202488" y="6712547"/>
                </a:lnTo>
                <a:cubicBezTo>
                  <a:pt x="292917" y="6645314"/>
                  <a:pt x="383222" y="6576359"/>
                  <a:pt x="473961" y="6506670"/>
                </a:cubicBezTo>
                <a:cubicBezTo>
                  <a:pt x="1470520" y="5741317"/>
                  <a:pt x="2443170" y="5119911"/>
                  <a:pt x="2509192" y="3709662"/>
                </a:cubicBezTo>
                <a:cubicBezTo>
                  <a:pt x="2579400" y="2209973"/>
                  <a:pt x="2130178" y="862268"/>
                  <a:pt x="1245521" y="237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C4CE3C4-3600-4353-9FE1-B32D06BEF0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37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452830-80DD-9A48-E905-F297300B4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185645" cy="1639888"/>
          </a:xfrm>
        </p:spPr>
        <p:txBody>
          <a:bodyPr anchor="b">
            <a:normAutofit/>
          </a:bodyPr>
          <a:lstStyle/>
          <a:p>
            <a:r>
              <a:rPr lang="en-US" dirty="0"/>
              <a:t>Ex.1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B95FA-7D61-2B02-7FA1-338900A70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9" y="2312988"/>
            <a:ext cx="5296964" cy="3651250"/>
          </a:xfrm>
        </p:spPr>
        <p:txBody>
          <a:bodyPr>
            <a:normAutofit/>
          </a:bodyPr>
          <a:lstStyle/>
          <a:p>
            <a:r>
              <a:rPr lang="en-US" dirty="0"/>
              <a:t>Calculate the concentration in Molarity and PPM of 58.5 gram of NaCl dissolving in 100 mL of water, assuming the density is 1.1g/cm</a:t>
            </a:r>
            <a:r>
              <a:rPr lang="en-US" baseline="30000" dirty="0"/>
              <a:t>3</a:t>
            </a:r>
            <a:endParaRPr lang="en-US" dirty="0"/>
          </a:p>
        </p:txBody>
      </p:sp>
      <p:pic>
        <p:nvPicPr>
          <p:cNvPr id="7" name="Graphic 6" descr="Beaker">
            <a:extLst>
              <a:ext uri="{FF2B5EF4-FFF2-40B4-BE49-F238E27FC236}">
                <a16:creationId xmlns:a16="http://schemas.microsoft.com/office/drawing/2014/main" id="{018E267B-DDFC-C129-061F-39AF5177BD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37967" y="1934660"/>
            <a:ext cx="2988679" cy="298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039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8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Freeform: Shape 10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2" name="Freeform: Shape 12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4" name="Freeform: Shape 14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6" name="Picture 4" descr="Three drops of water falling into a pool of water">
            <a:extLst>
              <a:ext uri="{FF2B5EF4-FFF2-40B4-BE49-F238E27FC236}">
                <a16:creationId xmlns:a16="http://schemas.microsoft.com/office/drawing/2014/main" id="{ADBD228E-254E-D917-A002-D72858E7BA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63" r="-1" b="18917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46D3498-BB0C-4BBC-957B-FC6466C80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715949" y="0"/>
            <a:ext cx="7476051" cy="6858000"/>
          </a:xfrm>
          <a:custGeom>
            <a:avLst/>
            <a:gdLst>
              <a:gd name="connsiteX0" fmla="*/ 0 w 7476051"/>
              <a:gd name="connsiteY0" fmla="*/ 0 h 6858000"/>
              <a:gd name="connsiteX1" fmla="*/ 348024 w 7476051"/>
              <a:gd name="connsiteY1" fmla="*/ 0 h 6858000"/>
              <a:gd name="connsiteX2" fmla="*/ 681975 w 7476051"/>
              <a:gd name="connsiteY2" fmla="*/ 0 h 6858000"/>
              <a:gd name="connsiteX3" fmla="*/ 1555845 w 7476051"/>
              <a:gd name="connsiteY3" fmla="*/ 0 h 6858000"/>
              <a:gd name="connsiteX4" fmla="*/ 1568054 w 7476051"/>
              <a:gd name="connsiteY4" fmla="*/ 0 h 6858000"/>
              <a:gd name="connsiteX5" fmla="*/ 1693495 w 7476051"/>
              <a:gd name="connsiteY5" fmla="*/ 0 h 6858000"/>
              <a:gd name="connsiteX6" fmla="*/ 3186636 w 7476051"/>
              <a:gd name="connsiteY6" fmla="*/ 0 h 6858000"/>
              <a:gd name="connsiteX7" fmla="*/ 5853028 w 7476051"/>
              <a:gd name="connsiteY7" fmla="*/ 0 h 6858000"/>
              <a:gd name="connsiteX8" fmla="*/ 5875152 w 7476051"/>
              <a:gd name="connsiteY8" fmla="*/ 14997 h 6858000"/>
              <a:gd name="connsiteX9" fmla="*/ 7476051 w 7476051"/>
              <a:gd name="connsiteY9" fmla="*/ 3621656 h 6858000"/>
              <a:gd name="connsiteX10" fmla="*/ 5601701 w 7476051"/>
              <a:gd name="connsiteY10" fmla="*/ 6374814 h 6858000"/>
              <a:gd name="connsiteX11" fmla="*/ 5085053 w 7476051"/>
              <a:gd name="connsiteY11" fmla="*/ 6780599 h 6858000"/>
              <a:gd name="connsiteX12" fmla="*/ 4973297 w 7476051"/>
              <a:gd name="connsiteY12" fmla="*/ 6858000 h 6858000"/>
              <a:gd name="connsiteX13" fmla="*/ 3186636 w 7476051"/>
              <a:gd name="connsiteY13" fmla="*/ 6858000 h 6858000"/>
              <a:gd name="connsiteX14" fmla="*/ 1568054 w 7476051"/>
              <a:gd name="connsiteY14" fmla="*/ 6858000 h 6858000"/>
              <a:gd name="connsiteX15" fmla="*/ 1555845 w 7476051"/>
              <a:gd name="connsiteY15" fmla="*/ 6858000 h 6858000"/>
              <a:gd name="connsiteX16" fmla="*/ 1385101 w 7476051"/>
              <a:gd name="connsiteY16" fmla="*/ 6858000 h 6858000"/>
              <a:gd name="connsiteX17" fmla="*/ 681975 w 7476051"/>
              <a:gd name="connsiteY17" fmla="*/ 6858000 h 6858000"/>
              <a:gd name="connsiteX18" fmla="*/ 348024 w 7476051"/>
              <a:gd name="connsiteY18" fmla="*/ 6858000 h 6858000"/>
              <a:gd name="connsiteX19" fmla="*/ 0 w 7476051"/>
              <a:gd name="connsiteY1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476051" h="6858000">
                <a:moveTo>
                  <a:pt x="0" y="0"/>
                </a:moveTo>
                <a:lnTo>
                  <a:pt x="348024" y="0"/>
                </a:lnTo>
                <a:lnTo>
                  <a:pt x="681975" y="0"/>
                </a:lnTo>
                <a:lnTo>
                  <a:pt x="1555845" y="0"/>
                </a:lnTo>
                <a:lnTo>
                  <a:pt x="1568054" y="0"/>
                </a:lnTo>
                <a:lnTo>
                  <a:pt x="1693495" y="0"/>
                </a:lnTo>
                <a:lnTo>
                  <a:pt x="3186636" y="0"/>
                </a:lnTo>
                <a:lnTo>
                  <a:pt x="5853028" y="0"/>
                </a:lnTo>
                <a:lnTo>
                  <a:pt x="5875152" y="14997"/>
                </a:lnTo>
                <a:cubicBezTo>
                  <a:pt x="6902315" y="754641"/>
                  <a:pt x="7476051" y="2093192"/>
                  <a:pt x="7476051" y="3621656"/>
                </a:cubicBezTo>
                <a:cubicBezTo>
                  <a:pt x="7476051" y="4969131"/>
                  <a:pt x="6547326" y="5602839"/>
                  <a:pt x="5601701" y="6374814"/>
                </a:cubicBezTo>
                <a:cubicBezTo>
                  <a:pt x="5429498" y="6515397"/>
                  <a:pt x="5258871" y="6653108"/>
                  <a:pt x="5085053" y="6780599"/>
                </a:cubicBezTo>
                <a:lnTo>
                  <a:pt x="4973297" y="6858000"/>
                </a:lnTo>
                <a:lnTo>
                  <a:pt x="3186636" y="6858000"/>
                </a:lnTo>
                <a:lnTo>
                  <a:pt x="1568054" y="6858000"/>
                </a:lnTo>
                <a:lnTo>
                  <a:pt x="1555845" y="6858000"/>
                </a:lnTo>
                <a:lnTo>
                  <a:pt x="1385101" y="6858000"/>
                </a:lnTo>
                <a:lnTo>
                  <a:pt x="681975" y="6858000"/>
                </a:lnTo>
                <a:lnTo>
                  <a:pt x="34802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97492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D8EFB43-661E-4B15-BA65-39CC17EF7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10788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DAE360-78B6-775E-9A6A-3C40576F8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1675" y="1346268"/>
            <a:ext cx="5932755" cy="3285207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5400">
                <a:solidFill>
                  <a:schemeClr val="bg1"/>
                </a:solidFill>
              </a:rPr>
              <a:t>Ex.2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815BB-F43A-FD50-6D46-5A7E3A8F5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0151" y="4631475"/>
            <a:ext cx="5934278" cy="1150200"/>
          </a:xfrm>
        </p:spPr>
        <p:txBody>
          <a:bodyPr vert="horz" lIns="109728" tIns="109728" rIns="109728" bIns="91440" rtlCol="0"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2400">
                <a:solidFill>
                  <a:schemeClr val="bg1"/>
                </a:solidFill>
              </a:rPr>
              <a:t>Calculate the molarity of pure water.</a:t>
            </a:r>
          </a:p>
        </p:txBody>
      </p:sp>
    </p:spTree>
    <p:extLst>
      <p:ext uri="{BB962C8B-B14F-4D97-AF65-F5344CB8AC3E}">
        <p14:creationId xmlns:p14="http://schemas.microsoft.com/office/powerpoint/2010/main" val="3934888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4B4C59-8671-FBC5-7E00-17584E8BA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271804" cy="1639888"/>
          </a:xfrm>
        </p:spPr>
        <p:txBody>
          <a:bodyPr anchor="b">
            <a:normAutofit/>
          </a:bodyPr>
          <a:lstStyle/>
          <a:p>
            <a:r>
              <a:rPr lang="en-US" dirty="0"/>
              <a:t>Ex.3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867F6-7955-28AA-42F2-C2AA36225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9" y="2312988"/>
            <a:ext cx="5271804" cy="3651250"/>
          </a:xfrm>
        </p:spPr>
        <p:txBody>
          <a:bodyPr>
            <a:normAutofit/>
          </a:bodyPr>
          <a:lstStyle/>
          <a:p>
            <a:r>
              <a:rPr lang="en-US" dirty="0"/>
              <a:t>Commercial ‘concentrated’ hydrochloric acid has a concentration of 37.0% w/w and a density of 1.20 g/</a:t>
            </a:r>
            <a:r>
              <a:rPr lang="en-US" dirty="0" err="1"/>
              <a:t>mL.</a:t>
            </a:r>
            <a:r>
              <a:rPr lang="en-US" dirty="0"/>
              <a:t> Calculate the molarity and molality of this solution.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A668C6-D091-487F-4AC5-0A01DE2EAB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370"/>
          <a:stretch/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61718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69F38B-B747-FFF4-3EF5-040EA5E01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271804" cy="1639888"/>
          </a:xfrm>
        </p:spPr>
        <p:txBody>
          <a:bodyPr anchor="b">
            <a:normAutofit/>
          </a:bodyPr>
          <a:lstStyle/>
          <a:p>
            <a:r>
              <a:rPr lang="en-US" dirty="0"/>
              <a:t>Ex.4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C0B10-09B5-45F2-5F89-6508CB5D0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9" y="2312988"/>
            <a:ext cx="5271804" cy="3651250"/>
          </a:xfrm>
        </p:spPr>
        <p:txBody>
          <a:bodyPr>
            <a:normAutofit/>
          </a:bodyPr>
          <a:lstStyle/>
          <a:p>
            <a:r>
              <a:rPr lang="en-US" dirty="0"/>
              <a:t>Vodka is an aqueous solution of ethanol in water with a mole fraction (</a:t>
            </a:r>
            <a:r>
              <a:rPr lang="en-US" dirty="0" err="1"/>
              <a:t>X</a:t>
            </a:r>
            <a:r>
              <a:rPr lang="en-US" baseline="-25000" dirty="0" err="1"/>
              <a:t>ethanol</a:t>
            </a:r>
            <a:r>
              <a:rPr lang="en-US" dirty="0"/>
              <a:t> ) of 0.150 and a density (ρ) of 0.970 g/</a:t>
            </a:r>
            <a:r>
              <a:rPr lang="en-US" dirty="0" err="1"/>
              <a:t>mL.</a:t>
            </a:r>
            <a:r>
              <a:rPr lang="en-US" dirty="0"/>
              <a:t> Calculate the molarity and molality of this solution.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78077-C054-63AB-A040-D33111B9C8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936" r="2" b="3012"/>
          <a:stretch/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264348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129146-61E3-7BBB-A864-02FFCD463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271804" cy="1639888"/>
          </a:xfrm>
        </p:spPr>
        <p:txBody>
          <a:bodyPr anchor="b">
            <a:normAutofit/>
          </a:bodyPr>
          <a:lstStyle/>
          <a:p>
            <a:r>
              <a:rPr lang="en-US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class,</a:t>
            </a:r>
            <a:r>
              <a:rPr lang="zh-CN" altLang="en-US" dirty="0"/>
              <a:t> </a:t>
            </a:r>
            <a:r>
              <a:rPr lang="en-US" altLang="zh-CN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3782D-398D-2891-82AC-EF9FBD5AA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9" y="2312988"/>
            <a:ext cx="5271804" cy="365125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00"/>
              <a:t>Review the concepts of molarity and molality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00"/>
              <a:t>Understand the basic steps to prepare a solution according to the given concentration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00"/>
              <a:t>Understand the steps to dilute a solution and conduct quantitative analysis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700"/>
              <a:t>Understand the concept of titration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7" name="Picture 26" descr="Many question marks on black background">
            <a:extLst>
              <a:ext uri="{FF2B5EF4-FFF2-40B4-BE49-F238E27FC236}">
                <a16:creationId xmlns:a16="http://schemas.microsoft.com/office/drawing/2014/main" id="{83E6A377-787F-0C0B-15E7-3AD3C66E62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631" r="2" b="2"/>
          <a:stretch/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955434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CA926-8929-6E8F-CCB3-E5BB0E561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271804" cy="1639888"/>
          </a:xfrm>
        </p:spPr>
        <p:txBody>
          <a:bodyPr anchor="b">
            <a:normAutofit/>
          </a:bodyPr>
          <a:lstStyle/>
          <a:p>
            <a:r>
              <a:rPr lang="en-US" dirty="0"/>
              <a:t>Warm-up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89C27-BC12-B6EA-AC02-8853A0A01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9" y="2312988"/>
            <a:ext cx="5271804" cy="3651250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1.A solution prepared from 95.94 g of H</a:t>
            </a:r>
            <a:r>
              <a:rPr lang="en-US" baseline="-25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 and 10.66 g of pure H</a:t>
            </a:r>
            <a:r>
              <a:rPr lang="en-US" baseline="-25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SO</a:t>
            </a:r>
            <a:r>
              <a:rPr lang="en-US" baseline="-25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had a volume of 100.0 </a:t>
            </a:r>
            <a:r>
              <a:rPr lang="en-US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mL.</a:t>
            </a:r>
            <a:r>
              <a: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Find ρ, m, M and </a:t>
            </a:r>
            <a:r>
              <a:rPr lang="en-US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baseline="-25000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water</a:t>
            </a:r>
            <a:r>
              <a: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2.Given H</a:t>
            </a:r>
            <a:r>
              <a:rPr lang="en-US" baseline="-25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SO</a:t>
            </a:r>
            <a:r>
              <a:rPr lang="en-US" baseline="-25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98% w/w, p=1.842g/mL, find M, m, and </a:t>
            </a:r>
            <a:r>
              <a:rPr lang="en-US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baseline="-25000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acid</a:t>
            </a:r>
            <a:r>
              <a:rPr lang="en-US" baseline="-250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Metal tic-tac-toe game pieces">
            <a:extLst>
              <a:ext uri="{FF2B5EF4-FFF2-40B4-BE49-F238E27FC236}">
                <a16:creationId xmlns:a16="http://schemas.microsoft.com/office/drawing/2014/main" id="{B496A3CF-C3B8-E1AD-439A-D8DE515DF4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56" r="29493"/>
          <a:stretch/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27884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3BB04E-ED62-E240-D2B4-E7B639673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271804" cy="1639888"/>
          </a:xfrm>
        </p:spPr>
        <p:txBody>
          <a:bodyPr anchor="b">
            <a:normAutofit/>
          </a:bodyPr>
          <a:lstStyle/>
          <a:p>
            <a:r>
              <a:rPr lang="en-US" dirty="0"/>
              <a:t>M</a:t>
            </a:r>
            <a:r>
              <a:rPr lang="en-US" altLang="zh-CN" dirty="0"/>
              <a:t>olarity vs. Molality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D7C98-9CCD-40D9-08DF-775532910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9" y="2312988"/>
            <a:ext cx="5271804" cy="3651250"/>
          </a:xfrm>
        </p:spPr>
        <p:txBody>
          <a:bodyPr>
            <a:normAutofit/>
          </a:bodyPr>
          <a:lstStyle/>
          <a:p>
            <a:r>
              <a:rPr lang="en-US" dirty="0"/>
              <a:t>Molarity and molality Why is molarity typically less than molality? Can M and m ever be equal? If so, when? </a:t>
            </a:r>
          </a:p>
          <a:p>
            <a:endParaRPr lang="en-US" dirty="0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4" name="Picture 33" descr="A group of yellow figures and a red figure on the other side">
            <a:extLst>
              <a:ext uri="{FF2B5EF4-FFF2-40B4-BE49-F238E27FC236}">
                <a16:creationId xmlns:a16="http://schemas.microsoft.com/office/drawing/2014/main" id="{9B41A110-4D63-2DBD-8F67-9EDC9D846C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036" r="7414" b="-1"/>
          <a:stretch/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E3D8A6C-AC2E-A6AC-0672-6C45C9BAE031}"/>
              </a:ext>
            </a:extLst>
          </p:cNvPr>
          <p:cNvSpPr txBox="1"/>
          <p:nvPr/>
        </p:nvSpPr>
        <p:spPr>
          <a:xfrm>
            <a:off x="701227" y="875131"/>
            <a:ext cx="6193237" cy="37417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175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5C210-D780-936B-3E1E-D8FB8276A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Molarity(M) is the most frequently used concentration unit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13E7B-B565-3305-10DC-D2FDB700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C=n/v, c is the concentration in M, n is the mole of solute, v is the volume of solution</a:t>
            </a:r>
          </a:p>
          <a:p>
            <a:r>
              <a:rPr lang="en-US" dirty="0"/>
              <a:t>M usually has the unit of mol/dm</a:t>
            </a:r>
            <a:r>
              <a:rPr lang="en-US" baseline="30000" dirty="0"/>
              <a:t>3</a:t>
            </a:r>
            <a:r>
              <a:rPr lang="en-US" dirty="0"/>
              <a:t> or mol/L</a:t>
            </a:r>
          </a:p>
          <a:p>
            <a:endParaRPr lang="en-US" dirty="0"/>
          </a:p>
          <a:p>
            <a:r>
              <a:rPr lang="en-US" dirty="0"/>
              <a:t>Q: How to make 150 mL 2 mol/dm</a:t>
            </a:r>
            <a:r>
              <a:rPr lang="en-US" baseline="30000" dirty="0"/>
              <a:t>3</a:t>
            </a:r>
            <a:r>
              <a:rPr lang="en-US" dirty="0"/>
              <a:t> </a:t>
            </a:r>
            <a:r>
              <a:rPr lang="en-US" dirty="0" err="1"/>
              <a:t>KCl</a:t>
            </a:r>
            <a:r>
              <a:rPr lang="en-US" dirty="0"/>
              <a:t> solution?</a:t>
            </a:r>
          </a:p>
        </p:txBody>
      </p:sp>
    </p:spTree>
    <p:extLst>
      <p:ext uri="{BB962C8B-B14F-4D97-AF65-F5344CB8AC3E}">
        <p14:creationId xmlns:p14="http://schemas.microsoft.com/office/powerpoint/2010/main" val="3531165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BFC4A-A92D-6EC9-7B9A-6EE9A2FC7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prepare a solution?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463E9-67D5-61E4-3833-1DCA6124F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u="sng" kern="100" dirty="0">
                <a:solidFill>
                  <a:srgbClr val="0563C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  <a:hlinkClick r:id="rId2"/>
              </a:rPr>
              <a:t>https://www.bilibili.com/video/BV1K54y1y7am/?vd_source=2b14d6efae5269f1dc91bb0df501d75a</a:t>
            </a:r>
            <a:endParaRPr lang="en-US" sz="18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32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074" name="Picture 2" descr="Peeing in the river | I find it funny that I have several pi… | Flickr">
            <a:extLst>
              <a:ext uri="{FF2B5EF4-FFF2-40B4-BE49-F238E27FC236}">
                <a16:creationId xmlns:a16="http://schemas.microsoft.com/office/drawing/2014/main" id="{87C7B216-8C49-80C5-4DB3-F8D949FB96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6" r="456" b="-1"/>
          <a:stretch/>
        </p:blipFill>
        <p:spPr bwMode="auto">
          <a:xfrm>
            <a:off x="-28029" y="-151455"/>
            <a:ext cx="994706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Freeform: Shape 3082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 useBgFill="1">
        <p:nvSpPr>
          <p:cNvPr id="3085" name="Freeform: Shape 3084">
            <a:extLst>
              <a:ext uri="{FF2B5EF4-FFF2-40B4-BE49-F238E27FC236}">
                <a16:creationId xmlns:a16="http://schemas.microsoft.com/office/drawing/2014/main" id="{8B598134-D292-43E6-9C55-117198046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1834" y="0"/>
            <a:ext cx="4980168" cy="6858000"/>
          </a:xfrm>
          <a:custGeom>
            <a:avLst/>
            <a:gdLst>
              <a:gd name="connsiteX0" fmla="*/ 1623023 w 4901771"/>
              <a:gd name="connsiteY0" fmla="*/ 0 h 6858000"/>
              <a:gd name="connsiteX1" fmla="*/ 2716256 w 4901771"/>
              <a:gd name="connsiteY1" fmla="*/ 0 h 6858000"/>
              <a:gd name="connsiteX2" fmla="*/ 3496422 w 4901771"/>
              <a:gd name="connsiteY2" fmla="*/ 0 h 6858000"/>
              <a:gd name="connsiteX3" fmla="*/ 4544484 w 4901771"/>
              <a:gd name="connsiteY3" fmla="*/ 0 h 6858000"/>
              <a:gd name="connsiteX4" fmla="*/ 4710787 w 4901771"/>
              <a:gd name="connsiteY4" fmla="*/ 0 h 6858000"/>
              <a:gd name="connsiteX5" fmla="*/ 4901771 w 4901771"/>
              <a:gd name="connsiteY5" fmla="*/ 0 h 6858000"/>
              <a:gd name="connsiteX6" fmla="*/ 4901771 w 4901771"/>
              <a:gd name="connsiteY6" fmla="*/ 6858000 h 6858000"/>
              <a:gd name="connsiteX7" fmla="*/ 4710787 w 4901771"/>
              <a:gd name="connsiteY7" fmla="*/ 6858000 h 6858000"/>
              <a:gd name="connsiteX8" fmla="*/ 4544484 w 4901771"/>
              <a:gd name="connsiteY8" fmla="*/ 6858000 h 6858000"/>
              <a:gd name="connsiteX9" fmla="*/ 3496422 w 4901771"/>
              <a:gd name="connsiteY9" fmla="*/ 6858000 h 6858000"/>
              <a:gd name="connsiteX10" fmla="*/ 2716256 w 4901771"/>
              <a:gd name="connsiteY10" fmla="*/ 6858000 h 6858000"/>
              <a:gd name="connsiteX11" fmla="*/ 2502754 w 4901771"/>
              <a:gd name="connsiteY11" fmla="*/ 6858000 h 6858000"/>
              <a:gd name="connsiteX12" fmla="*/ 2390998 w 4901771"/>
              <a:gd name="connsiteY12" fmla="*/ 6780599 h 6858000"/>
              <a:gd name="connsiteX13" fmla="*/ 1874350 w 4901771"/>
              <a:gd name="connsiteY13" fmla="*/ 6374814 h 6858000"/>
              <a:gd name="connsiteX14" fmla="*/ 0 w 4901771"/>
              <a:gd name="connsiteY14" fmla="*/ 3621656 h 6858000"/>
              <a:gd name="connsiteX15" fmla="*/ 1600899 w 4901771"/>
              <a:gd name="connsiteY15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87" name="Freeform: Shape 3086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97013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4778C-D90D-0D2B-04FF-53380F6A1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0" y="1045596"/>
            <a:ext cx="3689406" cy="1944371"/>
          </a:xfrm>
        </p:spPr>
        <p:txBody>
          <a:bodyPr anchor="b">
            <a:normAutofit/>
          </a:bodyPr>
          <a:lstStyle/>
          <a:p>
            <a:r>
              <a:rPr lang="en-US" dirty="0"/>
              <a:t>Dilution</a:t>
            </a: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CBEC2E00-56E1-BB2B-327E-E20775893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19" y="3220278"/>
            <a:ext cx="3633747" cy="2592125"/>
          </a:xfrm>
        </p:spPr>
        <p:txBody>
          <a:bodyPr>
            <a:normAutofit/>
          </a:bodyPr>
          <a:lstStyle/>
          <a:p>
            <a:r>
              <a:rPr lang="en-US" sz="2400" b="1" dirty="0"/>
              <a:t>The solution to pollution is dilution.</a:t>
            </a:r>
          </a:p>
        </p:txBody>
      </p:sp>
    </p:spTree>
    <p:extLst>
      <p:ext uri="{BB962C8B-B14F-4D97-AF65-F5344CB8AC3E}">
        <p14:creationId xmlns:p14="http://schemas.microsoft.com/office/powerpoint/2010/main" val="2410448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B591B-0897-ADD0-01B6-28BEED4F9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Dilution</a:t>
            </a:r>
          </a:p>
        </p:txBody>
      </p:sp>
      <p:pic>
        <p:nvPicPr>
          <p:cNvPr id="2050" name="Picture 2" descr="Dilution (equation) - Wikipedia">
            <a:extLst>
              <a:ext uri="{FF2B5EF4-FFF2-40B4-BE49-F238E27FC236}">
                <a16:creationId xmlns:a16="http://schemas.microsoft.com/office/drawing/2014/main" id="{EF147036-36C0-B1D3-8C26-2FC0A3C242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169" y="2312988"/>
            <a:ext cx="6170761" cy="365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8072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CB720C-80B5-B8F1-1941-57B244748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271804" cy="1639888"/>
          </a:xfrm>
        </p:spPr>
        <p:txBody>
          <a:bodyPr anchor="b">
            <a:normAutofit/>
          </a:bodyPr>
          <a:lstStyle/>
          <a:p>
            <a:r>
              <a:rPr lang="en-US" dirty="0"/>
              <a:t>Dilution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D4616-AA7F-8219-EEF1-B48B9C7C3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9" y="2312988"/>
            <a:ext cx="5271804" cy="3651250"/>
          </a:xfrm>
        </p:spPr>
        <p:txBody>
          <a:bodyPr>
            <a:normAutofit/>
          </a:bodyPr>
          <a:lstStyle/>
          <a:p>
            <a:r>
              <a:rPr lang="en-US" dirty="0"/>
              <a:t>c𝟏 × 𝑽𝟏 = c𝟐 × 𝑽𝟐 </a:t>
            </a:r>
          </a:p>
          <a:p>
            <a:r>
              <a:rPr lang="en-US" dirty="0"/>
              <a:t>Ridiculously important note: this equation is for dilutions (i.e. taking a solution and adding more solvent). If the quantity of solute changes, this equation does not apply. 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A blackboard with writing on it&#10;&#10;Description automatically generated with medium confidence">
            <a:extLst>
              <a:ext uri="{FF2B5EF4-FFF2-40B4-BE49-F238E27FC236}">
                <a16:creationId xmlns:a16="http://schemas.microsoft.com/office/drawing/2014/main" id="{8CD3B5A9-4DC8-53CB-47DE-5827B51DF2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141" r="36946"/>
          <a:stretch/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181668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25">
            <a:extLst>
              <a:ext uri="{FF2B5EF4-FFF2-40B4-BE49-F238E27FC236}">
                <a16:creationId xmlns:a16="http://schemas.microsoft.com/office/drawing/2014/main" id="{3D5FBB81-B61B-416A-8F5D-A8DDF6253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21" name="Picture 4" descr="Laboratory glassware containing solution">
            <a:extLst>
              <a:ext uri="{FF2B5EF4-FFF2-40B4-BE49-F238E27FC236}">
                <a16:creationId xmlns:a16="http://schemas.microsoft.com/office/drawing/2014/main" id="{F4C7A73E-9B79-1DC7-04A3-1D28E4D440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7969"/>
          <a:stretch/>
        </p:blipFill>
        <p:spPr>
          <a:xfrm>
            <a:off x="4691118" y="1"/>
            <a:ext cx="7500882" cy="6857999"/>
          </a:xfrm>
          <a:custGeom>
            <a:avLst/>
            <a:gdLst/>
            <a:ahLst/>
            <a:cxnLst/>
            <a:rect l="l" t="t" r="r" b="b"/>
            <a:pathLst>
              <a:path w="7500882" h="6857999">
                <a:moveTo>
                  <a:pt x="898230" y="0"/>
                </a:moveTo>
                <a:lnTo>
                  <a:pt x="7500882" y="0"/>
                </a:lnTo>
                <a:lnTo>
                  <a:pt x="7500882" y="6857999"/>
                </a:lnTo>
                <a:lnTo>
                  <a:pt x="0" y="6857999"/>
                </a:lnTo>
                <a:lnTo>
                  <a:pt x="114106" y="6780598"/>
                </a:lnTo>
                <a:cubicBezTo>
                  <a:pt x="291579" y="6653107"/>
                  <a:pt x="465794" y="6515396"/>
                  <a:pt x="641619" y="6374813"/>
                </a:cubicBezTo>
                <a:cubicBezTo>
                  <a:pt x="1607125" y="5602838"/>
                  <a:pt x="2555378" y="4969130"/>
                  <a:pt x="2555378" y="3621655"/>
                </a:cubicBezTo>
                <a:cubicBezTo>
                  <a:pt x="2555378" y="2093191"/>
                  <a:pt x="1969579" y="754640"/>
                  <a:pt x="920818" y="14996"/>
                </a:cubicBezTo>
                <a:close/>
              </a:path>
            </a:pathLst>
          </a:custGeom>
        </p:spPr>
      </p:pic>
      <p:sp>
        <p:nvSpPr>
          <p:cNvPr id="35" name="Freeform: Shape 27">
            <a:extLst>
              <a:ext uri="{FF2B5EF4-FFF2-40B4-BE49-F238E27FC236}">
                <a16:creationId xmlns:a16="http://schemas.microsoft.com/office/drawing/2014/main" id="{40C0D7D4-D83D-4C58-87D1-955F0A917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6051" cy="6858000"/>
          </a:xfrm>
          <a:custGeom>
            <a:avLst/>
            <a:gdLst>
              <a:gd name="connsiteX0" fmla="*/ 0 w 7476051"/>
              <a:gd name="connsiteY0" fmla="*/ 0 h 6858000"/>
              <a:gd name="connsiteX1" fmla="*/ 5853028 w 7476051"/>
              <a:gd name="connsiteY1" fmla="*/ 0 h 6858000"/>
              <a:gd name="connsiteX2" fmla="*/ 5875152 w 7476051"/>
              <a:gd name="connsiteY2" fmla="*/ 14997 h 6858000"/>
              <a:gd name="connsiteX3" fmla="*/ 7476051 w 7476051"/>
              <a:gd name="connsiteY3" fmla="*/ 3621656 h 6858000"/>
              <a:gd name="connsiteX4" fmla="*/ 5601702 w 7476051"/>
              <a:gd name="connsiteY4" fmla="*/ 6374814 h 6858000"/>
              <a:gd name="connsiteX5" fmla="*/ 5085053 w 7476051"/>
              <a:gd name="connsiteY5" fmla="*/ 6780599 h 6858000"/>
              <a:gd name="connsiteX6" fmla="*/ 4973297 w 7476051"/>
              <a:gd name="connsiteY6" fmla="*/ 6858000 h 6858000"/>
              <a:gd name="connsiteX7" fmla="*/ 0 w 7476051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6051" h="6858000">
                <a:moveTo>
                  <a:pt x="0" y="0"/>
                </a:moveTo>
                <a:lnTo>
                  <a:pt x="5853028" y="0"/>
                </a:lnTo>
                <a:lnTo>
                  <a:pt x="5875152" y="14997"/>
                </a:lnTo>
                <a:cubicBezTo>
                  <a:pt x="6902315" y="754641"/>
                  <a:pt x="7476051" y="2093192"/>
                  <a:pt x="7476051" y="3621656"/>
                </a:cubicBezTo>
                <a:cubicBezTo>
                  <a:pt x="7476051" y="4969131"/>
                  <a:pt x="6547326" y="5602839"/>
                  <a:pt x="5601702" y="6374814"/>
                </a:cubicBezTo>
                <a:cubicBezTo>
                  <a:pt x="5429499" y="6515397"/>
                  <a:pt x="5258871" y="6653108"/>
                  <a:pt x="5085053" y="6780599"/>
                </a:cubicBezTo>
                <a:lnTo>
                  <a:pt x="497329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36" name="Freeform: Shape 29">
            <a:extLst>
              <a:ext uri="{FF2B5EF4-FFF2-40B4-BE49-F238E27FC236}">
                <a16:creationId xmlns:a16="http://schemas.microsoft.com/office/drawing/2014/main" id="{0BA56A81-C9DD-4EBA-9E13-32FFB51CF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3" y="0"/>
            <a:ext cx="7307402" cy="6858000"/>
          </a:xfrm>
          <a:custGeom>
            <a:avLst/>
            <a:gdLst>
              <a:gd name="connsiteX0" fmla="*/ 0 w 7097265"/>
              <a:gd name="connsiteY0" fmla="*/ 0 h 6858000"/>
              <a:gd name="connsiteX1" fmla="*/ 5474242 w 7097265"/>
              <a:gd name="connsiteY1" fmla="*/ 0 h 6858000"/>
              <a:gd name="connsiteX2" fmla="*/ 5496366 w 7097265"/>
              <a:gd name="connsiteY2" fmla="*/ 14997 h 6858000"/>
              <a:gd name="connsiteX3" fmla="*/ 7097265 w 7097265"/>
              <a:gd name="connsiteY3" fmla="*/ 3621656 h 6858000"/>
              <a:gd name="connsiteX4" fmla="*/ 5222916 w 7097265"/>
              <a:gd name="connsiteY4" fmla="*/ 6374814 h 6858000"/>
              <a:gd name="connsiteX5" fmla="*/ 4706267 w 7097265"/>
              <a:gd name="connsiteY5" fmla="*/ 6780599 h 6858000"/>
              <a:gd name="connsiteX6" fmla="*/ 4594511 w 7097265"/>
              <a:gd name="connsiteY6" fmla="*/ 6858000 h 6858000"/>
              <a:gd name="connsiteX7" fmla="*/ 0 w 709726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97265" h="6858000">
                <a:moveTo>
                  <a:pt x="0" y="0"/>
                </a:moveTo>
                <a:lnTo>
                  <a:pt x="5474242" y="0"/>
                </a:lnTo>
                <a:lnTo>
                  <a:pt x="5496366" y="14997"/>
                </a:lnTo>
                <a:cubicBezTo>
                  <a:pt x="6523529" y="754641"/>
                  <a:pt x="7097265" y="2093192"/>
                  <a:pt x="7097265" y="3621656"/>
                </a:cubicBezTo>
                <a:cubicBezTo>
                  <a:pt x="7097265" y="4969131"/>
                  <a:pt x="6168540" y="5602839"/>
                  <a:pt x="5222916" y="6374814"/>
                </a:cubicBezTo>
                <a:cubicBezTo>
                  <a:pt x="5050713" y="6515397"/>
                  <a:pt x="4880085" y="6653108"/>
                  <a:pt x="4706267" y="6780599"/>
                </a:cubicBezTo>
                <a:lnTo>
                  <a:pt x="4594511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7" name="Freeform: Shape 31">
            <a:extLst>
              <a:ext uri="{FF2B5EF4-FFF2-40B4-BE49-F238E27FC236}">
                <a16:creationId xmlns:a16="http://schemas.microsoft.com/office/drawing/2014/main" id="{15F9A324-404E-4C5D-AFF0-C5D0D841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9034" y="-1"/>
            <a:ext cx="2535264" cy="6858001"/>
          </a:xfrm>
          <a:custGeom>
            <a:avLst/>
            <a:gdLst>
              <a:gd name="connsiteX0" fmla="*/ 1218585 w 2535264"/>
              <a:gd name="connsiteY0" fmla="*/ 0 h 6858001"/>
              <a:gd name="connsiteX1" fmla="*/ 1236561 w 2535264"/>
              <a:gd name="connsiteY1" fmla="*/ 0 h 6858001"/>
              <a:gd name="connsiteX2" fmla="*/ 1264452 w 2535264"/>
              <a:gd name="connsiteY2" fmla="*/ 24550 h 6858001"/>
              <a:gd name="connsiteX3" fmla="*/ 2528121 w 2535264"/>
              <a:gd name="connsiteY3" fmla="*/ 3710502 h 6858001"/>
              <a:gd name="connsiteX4" fmla="*/ 492890 w 2535264"/>
              <a:gd name="connsiteY4" fmla="*/ 6507511 h 6858001"/>
              <a:gd name="connsiteX5" fmla="*/ 221418 w 2535264"/>
              <a:gd name="connsiteY5" fmla="*/ 6713387 h 6858001"/>
              <a:gd name="connsiteX6" fmla="*/ 20100 w 2535264"/>
              <a:gd name="connsiteY6" fmla="*/ 6858001 h 6858001"/>
              <a:gd name="connsiteX7" fmla="*/ 0 w 2535264"/>
              <a:gd name="connsiteY7" fmla="*/ 6858001 h 6858001"/>
              <a:gd name="connsiteX8" fmla="*/ 202488 w 2535264"/>
              <a:gd name="connsiteY8" fmla="*/ 6712547 h 6858001"/>
              <a:gd name="connsiteX9" fmla="*/ 473961 w 2535264"/>
              <a:gd name="connsiteY9" fmla="*/ 6506670 h 6858001"/>
              <a:gd name="connsiteX10" fmla="*/ 2509192 w 2535264"/>
              <a:gd name="connsiteY10" fmla="*/ 3709662 h 6858001"/>
              <a:gd name="connsiteX11" fmla="*/ 1245521 w 2535264"/>
              <a:gd name="connsiteY11" fmla="*/ 2370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5264" h="6858001">
                <a:moveTo>
                  <a:pt x="1218585" y="0"/>
                </a:moveTo>
                <a:lnTo>
                  <a:pt x="1236561" y="0"/>
                </a:lnTo>
                <a:lnTo>
                  <a:pt x="1264452" y="24550"/>
                </a:lnTo>
                <a:cubicBezTo>
                  <a:pt x="2149109" y="863108"/>
                  <a:pt x="2598329" y="2210814"/>
                  <a:pt x="2528121" y="3710502"/>
                </a:cubicBezTo>
                <a:cubicBezTo>
                  <a:pt x="2462100" y="5120751"/>
                  <a:pt x="1489450" y="5742158"/>
                  <a:pt x="492890" y="6507511"/>
                </a:cubicBezTo>
                <a:cubicBezTo>
                  <a:pt x="402151" y="6577199"/>
                  <a:pt x="311847" y="6646154"/>
                  <a:pt x="221418" y="6713387"/>
                </a:cubicBezTo>
                <a:lnTo>
                  <a:pt x="20100" y="6858001"/>
                </a:lnTo>
                <a:lnTo>
                  <a:pt x="0" y="6858001"/>
                </a:lnTo>
                <a:lnTo>
                  <a:pt x="202488" y="6712547"/>
                </a:lnTo>
                <a:cubicBezTo>
                  <a:pt x="292917" y="6645314"/>
                  <a:pt x="383222" y="6576359"/>
                  <a:pt x="473961" y="6506670"/>
                </a:cubicBezTo>
                <a:cubicBezTo>
                  <a:pt x="1470520" y="5741317"/>
                  <a:pt x="2443170" y="5119911"/>
                  <a:pt x="2509192" y="3709662"/>
                </a:cubicBezTo>
                <a:cubicBezTo>
                  <a:pt x="2579400" y="2209973"/>
                  <a:pt x="2130178" y="862268"/>
                  <a:pt x="1245521" y="237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C09A84-55F1-2E4F-813F-B05CD9926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4780129" cy="1639888"/>
          </a:xfrm>
        </p:spPr>
        <p:txBody>
          <a:bodyPr anchor="b">
            <a:normAutofit/>
          </a:bodyPr>
          <a:lstStyle/>
          <a:p>
            <a:r>
              <a:rPr lang="en-US" dirty="0"/>
              <a:t>EX.5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A7764-8BC7-8B68-6FA5-FA17C6941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8" y="2312988"/>
            <a:ext cx="5368525" cy="3651250"/>
          </a:xfrm>
        </p:spPr>
        <p:txBody>
          <a:bodyPr>
            <a:normAutofit/>
          </a:bodyPr>
          <a:lstStyle/>
          <a:p>
            <a:r>
              <a:rPr lang="en-US" dirty="0"/>
              <a:t>450 mL of distilled water is added to 150 mL of a 2M HCl solution. Calculate the molarity of the resulting solution. </a:t>
            </a:r>
          </a:p>
        </p:txBody>
      </p:sp>
    </p:spTree>
    <p:extLst>
      <p:ext uri="{BB962C8B-B14F-4D97-AF65-F5344CB8AC3E}">
        <p14:creationId xmlns:p14="http://schemas.microsoft.com/office/powerpoint/2010/main" val="2954341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57F82-B839-7E42-D7CA-F875B9731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 dilution</a:t>
            </a:r>
          </a:p>
        </p:txBody>
      </p:sp>
      <p:pic>
        <p:nvPicPr>
          <p:cNvPr id="1026" name="Picture 2" descr="Serial Dilution: Formula, Calculator, Method, Uses, Examples">
            <a:extLst>
              <a:ext uri="{FF2B5EF4-FFF2-40B4-BE49-F238E27FC236}">
                <a16:creationId xmlns:a16="http://schemas.microsoft.com/office/drawing/2014/main" id="{CD3BB393-C65E-1093-8098-E6E3EBC1172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214" y="2312988"/>
            <a:ext cx="6972672" cy="3651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0873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09A84-55F1-2E4F-813F-B05CD9926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271804" cy="1639888"/>
          </a:xfrm>
        </p:spPr>
        <p:txBody>
          <a:bodyPr anchor="b">
            <a:normAutofit/>
          </a:bodyPr>
          <a:lstStyle/>
          <a:p>
            <a:r>
              <a:rPr lang="en-US" dirty="0"/>
              <a:t>EX.6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A7764-8BC7-8B68-6FA5-FA17C6941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9" y="2312988"/>
            <a:ext cx="5271804" cy="3651250"/>
          </a:xfrm>
        </p:spPr>
        <p:txBody>
          <a:bodyPr>
            <a:normAutofit/>
          </a:bodyPr>
          <a:lstStyle/>
          <a:p>
            <a:r>
              <a:rPr lang="en-US" dirty="0"/>
              <a:t>Prepare 100 mL of 1M NaCl solution and dilute to 0.1 mM NaCl solution. Choose the proper glassware and describe the steps.</a:t>
            </a:r>
          </a:p>
        </p:txBody>
      </p:sp>
      <p:pic>
        <p:nvPicPr>
          <p:cNvPr id="21" name="Picture 4" descr="Laboratory glassware containing solution">
            <a:extLst>
              <a:ext uri="{FF2B5EF4-FFF2-40B4-BE49-F238E27FC236}">
                <a16:creationId xmlns:a16="http://schemas.microsoft.com/office/drawing/2014/main" id="{F4C7A73E-9B79-1DC7-04A3-1D28E4D440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4" r="45156"/>
          <a:stretch/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66571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A1B615-CE27-CCCD-9523-291D72970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739" y="-392906"/>
            <a:ext cx="5271804" cy="1639888"/>
          </a:xfrm>
        </p:spPr>
        <p:txBody>
          <a:bodyPr anchor="b">
            <a:normAutofit/>
          </a:bodyPr>
          <a:lstStyle/>
          <a:p>
            <a:r>
              <a:rPr lang="en-US" dirty="0"/>
              <a:t>Titration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329E3-B397-1C72-D329-E5242E69F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906" y="1246983"/>
            <a:ext cx="6279357" cy="4717256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Titration is a quantitative analytical technique through which a solution of known composition and concentration (titrant) is slowly added to another solution with a known volume but unknown concentration. </a:t>
            </a: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This technique is commonly used to investigate acid-base or redox reactions and is often accompanied by the use of a colorimetric indicator</a:t>
            </a:r>
            <a:r>
              <a:rPr lang="en-US" sz="1500" dirty="0"/>
              <a:t>. 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37067F-D53D-6164-4812-186F97766C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81" r="952"/>
          <a:stretch/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15573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Freeform: Shape 1075">
            <a:extLst>
              <a:ext uri="{FF2B5EF4-FFF2-40B4-BE49-F238E27FC236}">
                <a16:creationId xmlns:a16="http://schemas.microsoft.com/office/drawing/2014/main" id="{9B0F7D69-D93C-4C38-A23D-76E000D69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01" name="Freeform: Shape 1077">
            <a:extLst>
              <a:ext uri="{FF2B5EF4-FFF2-40B4-BE49-F238E27FC236}">
                <a16:creationId xmlns:a16="http://schemas.microsoft.com/office/drawing/2014/main" id="{8CD419D4-EA9D-42D9-BF62-B07F0B7B67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03" name="Freeform: Shape 1079">
            <a:extLst>
              <a:ext uri="{FF2B5EF4-FFF2-40B4-BE49-F238E27FC236}">
                <a16:creationId xmlns:a16="http://schemas.microsoft.com/office/drawing/2014/main" id="{1C6FEC9B-9608-4181-A9E5-A1B80E720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04" name="Freeform: Shape 1081">
            <a:extLst>
              <a:ext uri="{FF2B5EF4-FFF2-40B4-BE49-F238E27FC236}">
                <a16:creationId xmlns:a16="http://schemas.microsoft.com/office/drawing/2014/main" id="{AB1564ED-F26F-451D-97D6-A6EC3E83F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05" name="Freeform: Shape 1083">
            <a:extLst>
              <a:ext uri="{FF2B5EF4-FFF2-40B4-BE49-F238E27FC236}">
                <a16:creationId xmlns:a16="http://schemas.microsoft.com/office/drawing/2014/main" id="{0CA184B6-3482-4F43-87F0-BC765DCFD8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6422" cy="6858000"/>
          </a:xfrm>
          <a:custGeom>
            <a:avLst/>
            <a:gdLst/>
            <a:ahLst/>
            <a:cxnLst/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06" name="Freeform: Shape 1085">
            <a:extLst>
              <a:ext uri="{FF2B5EF4-FFF2-40B4-BE49-F238E27FC236}">
                <a16:creationId xmlns:a16="http://schemas.microsoft.com/office/drawing/2014/main" id="{6C869923-8380-4244-9548-802C33063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5409" y="0"/>
            <a:ext cx="2529723" cy="6858000"/>
          </a:xfrm>
          <a:custGeom>
            <a:avLst/>
            <a:gdLst/>
            <a:ahLst/>
            <a:cxnLst/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07" name="Freeform: Shape 1087">
            <a:extLst>
              <a:ext uri="{FF2B5EF4-FFF2-40B4-BE49-F238E27FC236}">
                <a16:creationId xmlns:a16="http://schemas.microsoft.com/office/drawing/2014/main" id="{C06255F2-BC67-4DDE-B34E-AC4BA21838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402" y="0"/>
            <a:ext cx="2536434" cy="6858000"/>
          </a:xfrm>
          <a:custGeom>
            <a:avLst/>
            <a:gdLst/>
            <a:ahLst/>
            <a:cxnLst/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08" name="Freeform: Shape 1089">
            <a:extLst>
              <a:ext uri="{FF2B5EF4-FFF2-40B4-BE49-F238E27FC236}">
                <a16:creationId xmlns:a16="http://schemas.microsoft.com/office/drawing/2014/main" id="{55169443-FCCD-4C0A-8C69-18CD3FA09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4161" y="0"/>
            <a:ext cx="2261351" cy="6858000"/>
          </a:xfrm>
          <a:custGeom>
            <a:avLst/>
            <a:gdLst/>
            <a:ahLst/>
            <a:cxnLst/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1109" name="Rectangle 1091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10" name="Freeform: Shape 1093">
            <a:extLst>
              <a:ext uri="{FF2B5EF4-FFF2-40B4-BE49-F238E27FC236}">
                <a16:creationId xmlns:a16="http://schemas.microsoft.com/office/drawing/2014/main" id="{391F8D69-709A-4575-A393-B4C26481A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66083" y="0"/>
            <a:ext cx="9841377" cy="6858000"/>
          </a:xfrm>
          <a:custGeom>
            <a:avLst/>
            <a:gdLst>
              <a:gd name="connsiteX0" fmla="*/ 8218354 w 9841377"/>
              <a:gd name="connsiteY0" fmla="*/ 0 h 6858000"/>
              <a:gd name="connsiteX1" fmla="*/ 5551962 w 9841377"/>
              <a:gd name="connsiteY1" fmla="*/ 0 h 6858000"/>
              <a:gd name="connsiteX2" fmla="*/ 5482342 w 9841377"/>
              <a:gd name="connsiteY2" fmla="*/ 0 h 6858000"/>
              <a:gd name="connsiteX3" fmla="*/ 4359035 w 9841377"/>
              <a:gd name="connsiteY3" fmla="*/ 0 h 6858000"/>
              <a:gd name="connsiteX4" fmla="*/ 4289415 w 9841377"/>
              <a:gd name="connsiteY4" fmla="*/ 0 h 6858000"/>
              <a:gd name="connsiteX5" fmla="*/ 1623023 w 9841377"/>
              <a:gd name="connsiteY5" fmla="*/ 0 h 6858000"/>
              <a:gd name="connsiteX6" fmla="*/ 1600899 w 9841377"/>
              <a:gd name="connsiteY6" fmla="*/ 14997 h 6858000"/>
              <a:gd name="connsiteX7" fmla="*/ 0 w 9841377"/>
              <a:gd name="connsiteY7" fmla="*/ 3621656 h 6858000"/>
              <a:gd name="connsiteX8" fmla="*/ 1874350 w 9841377"/>
              <a:gd name="connsiteY8" fmla="*/ 6374814 h 6858000"/>
              <a:gd name="connsiteX9" fmla="*/ 2390998 w 9841377"/>
              <a:gd name="connsiteY9" fmla="*/ 6780599 h 6858000"/>
              <a:gd name="connsiteX10" fmla="*/ 2502754 w 9841377"/>
              <a:gd name="connsiteY10" fmla="*/ 6858000 h 6858000"/>
              <a:gd name="connsiteX11" fmla="*/ 4289415 w 9841377"/>
              <a:gd name="connsiteY11" fmla="*/ 6858000 h 6858000"/>
              <a:gd name="connsiteX12" fmla="*/ 4359035 w 9841377"/>
              <a:gd name="connsiteY12" fmla="*/ 6858000 h 6858000"/>
              <a:gd name="connsiteX13" fmla="*/ 5482342 w 9841377"/>
              <a:gd name="connsiteY13" fmla="*/ 6858000 h 6858000"/>
              <a:gd name="connsiteX14" fmla="*/ 5551962 w 9841377"/>
              <a:gd name="connsiteY14" fmla="*/ 6858000 h 6858000"/>
              <a:gd name="connsiteX15" fmla="*/ 7338623 w 9841377"/>
              <a:gd name="connsiteY15" fmla="*/ 6858000 h 6858000"/>
              <a:gd name="connsiteX16" fmla="*/ 7450379 w 9841377"/>
              <a:gd name="connsiteY16" fmla="*/ 6780599 h 6858000"/>
              <a:gd name="connsiteX17" fmla="*/ 7967027 w 9841377"/>
              <a:gd name="connsiteY17" fmla="*/ 6374814 h 6858000"/>
              <a:gd name="connsiteX18" fmla="*/ 9841377 w 9841377"/>
              <a:gd name="connsiteY18" fmla="*/ 3621656 h 6858000"/>
              <a:gd name="connsiteX19" fmla="*/ 8240478 w 9841377"/>
              <a:gd name="connsiteY19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9841377" h="6858000">
                <a:moveTo>
                  <a:pt x="8218354" y="0"/>
                </a:moveTo>
                <a:lnTo>
                  <a:pt x="5551962" y="0"/>
                </a:lnTo>
                <a:lnTo>
                  <a:pt x="5482342" y="0"/>
                </a:lnTo>
                <a:lnTo>
                  <a:pt x="4359035" y="0"/>
                </a:lnTo>
                <a:lnTo>
                  <a:pt x="4289415" y="0"/>
                </a:lnTo>
                <a:lnTo>
                  <a:pt x="1623023" y="0"/>
                </a:lnTo>
                <a:lnTo>
                  <a:pt x="1600899" y="14997"/>
                </a:lnTo>
                <a:cubicBezTo>
                  <a:pt x="573736" y="754641"/>
                  <a:pt x="0" y="2093192"/>
                  <a:pt x="0" y="3621656"/>
                </a:cubicBezTo>
                <a:cubicBezTo>
                  <a:pt x="0" y="4969131"/>
                  <a:pt x="928725" y="5602839"/>
                  <a:pt x="1874350" y="6374814"/>
                </a:cubicBezTo>
                <a:cubicBezTo>
                  <a:pt x="2046553" y="6515397"/>
                  <a:pt x="2217180" y="6653108"/>
                  <a:pt x="2390998" y="6780599"/>
                </a:cubicBezTo>
                <a:lnTo>
                  <a:pt x="2502754" y="6858000"/>
                </a:lnTo>
                <a:lnTo>
                  <a:pt x="4289415" y="6858000"/>
                </a:lnTo>
                <a:lnTo>
                  <a:pt x="4359035" y="6858000"/>
                </a:lnTo>
                <a:lnTo>
                  <a:pt x="5482342" y="6858000"/>
                </a:lnTo>
                <a:lnTo>
                  <a:pt x="5551962" y="6858000"/>
                </a:lnTo>
                <a:lnTo>
                  <a:pt x="7338623" y="6858000"/>
                </a:lnTo>
                <a:lnTo>
                  <a:pt x="7450379" y="6780599"/>
                </a:lnTo>
                <a:cubicBezTo>
                  <a:pt x="7624197" y="6653108"/>
                  <a:pt x="7794824" y="6515397"/>
                  <a:pt x="7967027" y="6374814"/>
                </a:cubicBezTo>
                <a:cubicBezTo>
                  <a:pt x="8912652" y="5602839"/>
                  <a:pt x="9841377" y="4969131"/>
                  <a:pt x="9841377" y="3621656"/>
                </a:cubicBezTo>
                <a:cubicBezTo>
                  <a:pt x="9841377" y="2093192"/>
                  <a:pt x="9267641" y="754641"/>
                  <a:pt x="8240478" y="14997"/>
                </a:cubicBez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11" name="Freeform: Shape 1095">
            <a:extLst>
              <a:ext uri="{FF2B5EF4-FFF2-40B4-BE49-F238E27FC236}">
                <a16:creationId xmlns:a16="http://schemas.microsoft.com/office/drawing/2014/main" id="{C87A50C4-1191-461A-9E09-C8057F2AF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035" y="0"/>
            <a:ext cx="2265453" cy="6858000"/>
          </a:xfrm>
          <a:custGeom>
            <a:avLst/>
            <a:gdLst>
              <a:gd name="connsiteX0" fmla="*/ 1117108 w 2265453"/>
              <a:gd name="connsiteY0" fmla="*/ 0 h 6858000"/>
              <a:gd name="connsiteX1" fmla="*/ 1099628 w 2265453"/>
              <a:gd name="connsiteY1" fmla="*/ 0 h 6858000"/>
              <a:gd name="connsiteX2" fmla="*/ 1175238 w 2265453"/>
              <a:gd name="connsiteY2" fmla="*/ 82371 h 6858000"/>
              <a:gd name="connsiteX3" fmla="*/ 2240276 w 2265453"/>
              <a:gd name="connsiteY3" fmla="*/ 3734791 h 6858000"/>
              <a:gd name="connsiteX4" fmla="*/ 274951 w 2265453"/>
              <a:gd name="connsiteY4" fmla="*/ 6634678 h 6858000"/>
              <a:gd name="connsiteX5" fmla="*/ 12802 w 2265453"/>
              <a:gd name="connsiteY5" fmla="*/ 6848127 h 6858000"/>
              <a:gd name="connsiteX6" fmla="*/ 0 w 2265453"/>
              <a:gd name="connsiteY6" fmla="*/ 6858000 h 6858000"/>
              <a:gd name="connsiteX7" fmla="*/ 19410 w 2265453"/>
              <a:gd name="connsiteY7" fmla="*/ 6858000 h 6858000"/>
              <a:gd name="connsiteX8" fmla="*/ 31082 w 2265453"/>
              <a:gd name="connsiteY8" fmla="*/ 6848998 h 6858000"/>
              <a:gd name="connsiteX9" fmla="*/ 293230 w 2265453"/>
              <a:gd name="connsiteY9" fmla="*/ 6635549 h 6858000"/>
              <a:gd name="connsiteX10" fmla="*/ 2258555 w 2265453"/>
              <a:gd name="connsiteY10" fmla="*/ 3735662 h 6858000"/>
              <a:gd name="connsiteX11" fmla="*/ 1193518 w 2265453"/>
              <a:gd name="connsiteY11" fmla="*/ 83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65453" h="6858000">
                <a:moveTo>
                  <a:pt x="1117108" y="0"/>
                </a:moveTo>
                <a:lnTo>
                  <a:pt x="1099628" y="0"/>
                </a:lnTo>
                <a:lnTo>
                  <a:pt x="1175238" y="82371"/>
                </a:lnTo>
                <a:cubicBezTo>
                  <a:pt x="1926546" y="957940"/>
                  <a:pt x="2303836" y="2277119"/>
                  <a:pt x="2240276" y="3734791"/>
                </a:cubicBezTo>
                <a:cubicBezTo>
                  <a:pt x="2176522" y="5196911"/>
                  <a:pt x="1237280" y="5841173"/>
                  <a:pt x="274951" y="6634678"/>
                </a:cubicBezTo>
                <a:cubicBezTo>
                  <a:pt x="187328" y="6706930"/>
                  <a:pt x="100126" y="6778421"/>
                  <a:pt x="12802" y="6848127"/>
                </a:cubicBezTo>
                <a:lnTo>
                  <a:pt x="0" y="6858000"/>
                </a:lnTo>
                <a:lnTo>
                  <a:pt x="19410" y="6858000"/>
                </a:lnTo>
                <a:lnTo>
                  <a:pt x="31082" y="6848998"/>
                </a:lnTo>
                <a:cubicBezTo>
                  <a:pt x="118405" y="6779292"/>
                  <a:pt x="205608" y="6707801"/>
                  <a:pt x="293230" y="6635549"/>
                </a:cubicBezTo>
                <a:cubicBezTo>
                  <a:pt x="1255560" y="5842045"/>
                  <a:pt x="2194802" y="5197782"/>
                  <a:pt x="2258555" y="3735662"/>
                </a:cubicBezTo>
                <a:cubicBezTo>
                  <a:pt x="2322115" y="2277991"/>
                  <a:pt x="1944825" y="958811"/>
                  <a:pt x="1193518" y="8324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098" name="Freeform: Shape 1097">
            <a:extLst>
              <a:ext uri="{FF2B5EF4-FFF2-40B4-BE49-F238E27FC236}">
                <a16:creationId xmlns:a16="http://schemas.microsoft.com/office/drawing/2014/main" id="{BC87DA9F-8DB2-4D48-8716-A928FBB8A5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033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00" name="Freeform: Shape 1099">
            <a:extLst>
              <a:ext uri="{FF2B5EF4-FFF2-40B4-BE49-F238E27FC236}">
                <a16:creationId xmlns:a16="http://schemas.microsoft.com/office/drawing/2014/main" id="{195EA065-AC5D-431D-927E-87FF05884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96194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02" name="Freeform: Shape 1101">
            <a:extLst>
              <a:ext uri="{FF2B5EF4-FFF2-40B4-BE49-F238E27FC236}">
                <a16:creationId xmlns:a16="http://schemas.microsoft.com/office/drawing/2014/main" id="{46934B3C-D73F-4CD0-95B1-0244D662D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3292" y="0"/>
            <a:ext cx="2486322" cy="6858000"/>
          </a:xfrm>
          <a:custGeom>
            <a:avLst/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6907AE-79ED-9DD9-29B7-E9E111574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8211" y="5032918"/>
            <a:ext cx="8394306" cy="1396053"/>
          </a:xfrm>
        </p:spPr>
        <p:txBody>
          <a:bodyPr vert="horz" lIns="109728" tIns="109728" rIns="109728" bIns="91440" rtlCol="0" anchor="b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Titration</a:t>
            </a:r>
          </a:p>
        </p:txBody>
      </p:sp>
      <p:pic>
        <p:nvPicPr>
          <p:cNvPr id="1026" name="Picture 2" descr="What is Titration and How is it Done? | Chemistry Made Simple">
            <a:extLst>
              <a:ext uri="{FF2B5EF4-FFF2-40B4-BE49-F238E27FC236}">
                <a16:creationId xmlns:a16="http://schemas.microsoft.com/office/drawing/2014/main" id="{0E59BD36-294A-B632-4019-B6C61074D2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4" r="10869"/>
          <a:stretch/>
        </p:blipFill>
        <p:spPr bwMode="auto">
          <a:xfrm>
            <a:off x="2533915" y="885248"/>
            <a:ext cx="6822898" cy="383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1549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0">
            <a:extLst>
              <a:ext uri="{FF2B5EF4-FFF2-40B4-BE49-F238E27FC236}">
                <a16:creationId xmlns:a16="http://schemas.microsoft.com/office/drawing/2014/main" id="{3D5FBB81-B61B-416A-8F5D-A8DDF6253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128F3F-66E1-7884-5819-11F19D2A35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8800"/>
          <a:stretch/>
        </p:blipFill>
        <p:spPr>
          <a:xfrm>
            <a:off x="4691118" y="1"/>
            <a:ext cx="7500882" cy="6857999"/>
          </a:xfrm>
          <a:custGeom>
            <a:avLst/>
            <a:gdLst/>
            <a:ahLst/>
            <a:cxnLst/>
            <a:rect l="l" t="t" r="r" b="b"/>
            <a:pathLst>
              <a:path w="7500882" h="6857999">
                <a:moveTo>
                  <a:pt x="898230" y="0"/>
                </a:moveTo>
                <a:lnTo>
                  <a:pt x="7500882" y="0"/>
                </a:lnTo>
                <a:lnTo>
                  <a:pt x="7500882" y="6857999"/>
                </a:lnTo>
                <a:lnTo>
                  <a:pt x="0" y="6857999"/>
                </a:lnTo>
                <a:lnTo>
                  <a:pt x="114106" y="6780598"/>
                </a:lnTo>
                <a:cubicBezTo>
                  <a:pt x="291579" y="6653107"/>
                  <a:pt x="465794" y="6515396"/>
                  <a:pt x="641619" y="6374813"/>
                </a:cubicBezTo>
                <a:cubicBezTo>
                  <a:pt x="1607125" y="5602838"/>
                  <a:pt x="2555378" y="4969130"/>
                  <a:pt x="2555378" y="3621655"/>
                </a:cubicBezTo>
                <a:cubicBezTo>
                  <a:pt x="2555378" y="2093191"/>
                  <a:pt x="1969579" y="754640"/>
                  <a:pt x="920818" y="14996"/>
                </a:cubicBezTo>
                <a:close/>
              </a:path>
            </a:pathLst>
          </a:custGeom>
        </p:spPr>
      </p:pic>
      <p:sp>
        <p:nvSpPr>
          <p:cNvPr id="30" name="Freeform: Shape 22">
            <a:extLst>
              <a:ext uri="{FF2B5EF4-FFF2-40B4-BE49-F238E27FC236}">
                <a16:creationId xmlns:a16="http://schemas.microsoft.com/office/drawing/2014/main" id="{40C0D7D4-D83D-4C58-87D1-955F0A917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476051" cy="6858000"/>
          </a:xfrm>
          <a:custGeom>
            <a:avLst/>
            <a:gdLst>
              <a:gd name="connsiteX0" fmla="*/ 0 w 7476051"/>
              <a:gd name="connsiteY0" fmla="*/ 0 h 6858000"/>
              <a:gd name="connsiteX1" fmla="*/ 5853028 w 7476051"/>
              <a:gd name="connsiteY1" fmla="*/ 0 h 6858000"/>
              <a:gd name="connsiteX2" fmla="*/ 5875152 w 7476051"/>
              <a:gd name="connsiteY2" fmla="*/ 14997 h 6858000"/>
              <a:gd name="connsiteX3" fmla="*/ 7476051 w 7476051"/>
              <a:gd name="connsiteY3" fmla="*/ 3621656 h 6858000"/>
              <a:gd name="connsiteX4" fmla="*/ 5601702 w 7476051"/>
              <a:gd name="connsiteY4" fmla="*/ 6374814 h 6858000"/>
              <a:gd name="connsiteX5" fmla="*/ 5085053 w 7476051"/>
              <a:gd name="connsiteY5" fmla="*/ 6780599 h 6858000"/>
              <a:gd name="connsiteX6" fmla="*/ 4973297 w 7476051"/>
              <a:gd name="connsiteY6" fmla="*/ 6858000 h 6858000"/>
              <a:gd name="connsiteX7" fmla="*/ 0 w 7476051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476051" h="6858000">
                <a:moveTo>
                  <a:pt x="0" y="0"/>
                </a:moveTo>
                <a:lnTo>
                  <a:pt x="5853028" y="0"/>
                </a:lnTo>
                <a:lnTo>
                  <a:pt x="5875152" y="14997"/>
                </a:lnTo>
                <a:cubicBezTo>
                  <a:pt x="6902315" y="754641"/>
                  <a:pt x="7476051" y="2093192"/>
                  <a:pt x="7476051" y="3621656"/>
                </a:cubicBezTo>
                <a:cubicBezTo>
                  <a:pt x="7476051" y="4969131"/>
                  <a:pt x="6547326" y="5602839"/>
                  <a:pt x="5601702" y="6374814"/>
                </a:cubicBezTo>
                <a:cubicBezTo>
                  <a:pt x="5429499" y="6515397"/>
                  <a:pt x="5258871" y="6653108"/>
                  <a:pt x="5085053" y="6780599"/>
                </a:cubicBezTo>
                <a:lnTo>
                  <a:pt x="4973297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 useBgFill="1">
        <p:nvSpPr>
          <p:cNvPr id="31" name="Freeform: Shape 24">
            <a:extLst>
              <a:ext uri="{FF2B5EF4-FFF2-40B4-BE49-F238E27FC236}">
                <a16:creationId xmlns:a16="http://schemas.microsoft.com/office/drawing/2014/main" id="{0BA56A81-C9DD-4EBA-9E13-32FFB51CF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53" y="0"/>
            <a:ext cx="7307402" cy="6858000"/>
          </a:xfrm>
          <a:custGeom>
            <a:avLst/>
            <a:gdLst>
              <a:gd name="connsiteX0" fmla="*/ 0 w 7097265"/>
              <a:gd name="connsiteY0" fmla="*/ 0 h 6858000"/>
              <a:gd name="connsiteX1" fmla="*/ 5474242 w 7097265"/>
              <a:gd name="connsiteY1" fmla="*/ 0 h 6858000"/>
              <a:gd name="connsiteX2" fmla="*/ 5496366 w 7097265"/>
              <a:gd name="connsiteY2" fmla="*/ 14997 h 6858000"/>
              <a:gd name="connsiteX3" fmla="*/ 7097265 w 7097265"/>
              <a:gd name="connsiteY3" fmla="*/ 3621656 h 6858000"/>
              <a:gd name="connsiteX4" fmla="*/ 5222916 w 7097265"/>
              <a:gd name="connsiteY4" fmla="*/ 6374814 h 6858000"/>
              <a:gd name="connsiteX5" fmla="*/ 4706267 w 7097265"/>
              <a:gd name="connsiteY5" fmla="*/ 6780599 h 6858000"/>
              <a:gd name="connsiteX6" fmla="*/ 4594511 w 7097265"/>
              <a:gd name="connsiteY6" fmla="*/ 6858000 h 6858000"/>
              <a:gd name="connsiteX7" fmla="*/ 0 w 7097265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97265" h="6858000">
                <a:moveTo>
                  <a:pt x="0" y="0"/>
                </a:moveTo>
                <a:lnTo>
                  <a:pt x="5474242" y="0"/>
                </a:lnTo>
                <a:lnTo>
                  <a:pt x="5496366" y="14997"/>
                </a:lnTo>
                <a:cubicBezTo>
                  <a:pt x="6523529" y="754641"/>
                  <a:pt x="7097265" y="2093192"/>
                  <a:pt x="7097265" y="3621656"/>
                </a:cubicBezTo>
                <a:cubicBezTo>
                  <a:pt x="7097265" y="4969131"/>
                  <a:pt x="6168540" y="5602839"/>
                  <a:pt x="5222916" y="6374814"/>
                </a:cubicBezTo>
                <a:cubicBezTo>
                  <a:pt x="5050713" y="6515397"/>
                  <a:pt x="4880085" y="6653108"/>
                  <a:pt x="4706267" y="6780599"/>
                </a:cubicBezTo>
                <a:lnTo>
                  <a:pt x="4594511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2" name="Freeform: Shape 26">
            <a:extLst>
              <a:ext uri="{FF2B5EF4-FFF2-40B4-BE49-F238E27FC236}">
                <a16:creationId xmlns:a16="http://schemas.microsoft.com/office/drawing/2014/main" id="{15F9A324-404E-4C5D-AFF0-C5D0D84182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9034" y="-1"/>
            <a:ext cx="2535264" cy="6858001"/>
          </a:xfrm>
          <a:custGeom>
            <a:avLst/>
            <a:gdLst>
              <a:gd name="connsiteX0" fmla="*/ 1218585 w 2535264"/>
              <a:gd name="connsiteY0" fmla="*/ 0 h 6858001"/>
              <a:gd name="connsiteX1" fmla="*/ 1236561 w 2535264"/>
              <a:gd name="connsiteY1" fmla="*/ 0 h 6858001"/>
              <a:gd name="connsiteX2" fmla="*/ 1264452 w 2535264"/>
              <a:gd name="connsiteY2" fmla="*/ 24550 h 6858001"/>
              <a:gd name="connsiteX3" fmla="*/ 2528121 w 2535264"/>
              <a:gd name="connsiteY3" fmla="*/ 3710502 h 6858001"/>
              <a:gd name="connsiteX4" fmla="*/ 492890 w 2535264"/>
              <a:gd name="connsiteY4" fmla="*/ 6507511 h 6858001"/>
              <a:gd name="connsiteX5" fmla="*/ 221418 w 2535264"/>
              <a:gd name="connsiteY5" fmla="*/ 6713387 h 6858001"/>
              <a:gd name="connsiteX6" fmla="*/ 20100 w 2535264"/>
              <a:gd name="connsiteY6" fmla="*/ 6858001 h 6858001"/>
              <a:gd name="connsiteX7" fmla="*/ 0 w 2535264"/>
              <a:gd name="connsiteY7" fmla="*/ 6858001 h 6858001"/>
              <a:gd name="connsiteX8" fmla="*/ 202488 w 2535264"/>
              <a:gd name="connsiteY8" fmla="*/ 6712547 h 6858001"/>
              <a:gd name="connsiteX9" fmla="*/ 473961 w 2535264"/>
              <a:gd name="connsiteY9" fmla="*/ 6506670 h 6858001"/>
              <a:gd name="connsiteX10" fmla="*/ 2509192 w 2535264"/>
              <a:gd name="connsiteY10" fmla="*/ 3709662 h 6858001"/>
              <a:gd name="connsiteX11" fmla="*/ 1245521 w 2535264"/>
              <a:gd name="connsiteY11" fmla="*/ 23708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5264" h="6858001">
                <a:moveTo>
                  <a:pt x="1218585" y="0"/>
                </a:moveTo>
                <a:lnTo>
                  <a:pt x="1236561" y="0"/>
                </a:lnTo>
                <a:lnTo>
                  <a:pt x="1264452" y="24550"/>
                </a:lnTo>
                <a:cubicBezTo>
                  <a:pt x="2149109" y="863108"/>
                  <a:pt x="2598329" y="2210814"/>
                  <a:pt x="2528121" y="3710502"/>
                </a:cubicBezTo>
                <a:cubicBezTo>
                  <a:pt x="2462100" y="5120751"/>
                  <a:pt x="1489450" y="5742158"/>
                  <a:pt x="492890" y="6507511"/>
                </a:cubicBezTo>
                <a:cubicBezTo>
                  <a:pt x="402151" y="6577199"/>
                  <a:pt x="311847" y="6646154"/>
                  <a:pt x="221418" y="6713387"/>
                </a:cubicBezTo>
                <a:lnTo>
                  <a:pt x="20100" y="6858001"/>
                </a:lnTo>
                <a:lnTo>
                  <a:pt x="0" y="6858001"/>
                </a:lnTo>
                <a:lnTo>
                  <a:pt x="202488" y="6712547"/>
                </a:lnTo>
                <a:cubicBezTo>
                  <a:pt x="292917" y="6645314"/>
                  <a:pt x="383222" y="6576359"/>
                  <a:pt x="473961" y="6506670"/>
                </a:cubicBezTo>
                <a:cubicBezTo>
                  <a:pt x="1470520" y="5741317"/>
                  <a:pt x="2443170" y="5119911"/>
                  <a:pt x="2509192" y="3709662"/>
                </a:cubicBezTo>
                <a:cubicBezTo>
                  <a:pt x="2579400" y="2209973"/>
                  <a:pt x="2130178" y="862268"/>
                  <a:pt x="1245521" y="237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71FBE7-32C8-68F2-9C9A-C4F33352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4780129" cy="1639888"/>
          </a:xfrm>
        </p:spPr>
        <p:txBody>
          <a:bodyPr anchor="b">
            <a:normAutofit/>
          </a:bodyPr>
          <a:lstStyle/>
          <a:p>
            <a:r>
              <a:rPr lang="en-US" dirty="0"/>
              <a:t>Titration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F8199-1086-2909-4EE8-0B2706947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8" y="2312988"/>
            <a:ext cx="5368525" cy="365125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/>
              <a:t>The end point of a titration is the point at which the indicator changes color.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/>
              <a:t>The equivalence point of an acid-base titration is the point in the experiment when the number of moles of OH</a:t>
            </a:r>
            <a:r>
              <a:rPr lang="en-US" sz="1700" baseline="30000"/>
              <a:t>-</a:t>
            </a:r>
            <a:r>
              <a:rPr lang="en-US" sz="1700"/>
              <a:t> (aq) added from the burette is equal to the number of moles of H</a:t>
            </a:r>
            <a:r>
              <a:rPr lang="en-US" sz="1700" baseline="30000"/>
              <a:t>+</a:t>
            </a:r>
            <a:r>
              <a:rPr lang="en-US" sz="1700"/>
              <a:t> (aq) originally present in the flask.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24CC0E-6C15-E81B-BD95-3AEC6315C41A}"/>
              </a:ext>
            </a:extLst>
          </p:cNvPr>
          <p:cNvSpPr txBox="1"/>
          <p:nvPr/>
        </p:nvSpPr>
        <p:spPr>
          <a:xfrm>
            <a:off x="10034571" y="5302045"/>
            <a:ext cx="20348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End point of an acid-base titration with phenolphthalein as an indicator. </a:t>
            </a:r>
          </a:p>
        </p:txBody>
      </p:sp>
    </p:spTree>
    <p:extLst>
      <p:ext uri="{BB962C8B-B14F-4D97-AF65-F5344CB8AC3E}">
        <p14:creationId xmlns:p14="http://schemas.microsoft.com/office/powerpoint/2010/main" val="2238379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5D3AE-A326-F6F0-F52B-8FDFAEBF1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EX.7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FB77D-B66F-7E43-B125-141C65984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volume of 0.1292 M Ba(OH)2 is required to neutralize 50.00 mL of 0.1016 M HCl ?</a:t>
            </a:r>
          </a:p>
        </p:txBody>
      </p:sp>
    </p:spTree>
    <p:extLst>
      <p:ext uri="{BB962C8B-B14F-4D97-AF65-F5344CB8AC3E}">
        <p14:creationId xmlns:p14="http://schemas.microsoft.com/office/powerpoint/2010/main" val="3611219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181FC64-B306-4821-98E2-780662EF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BA662C-376B-3AFD-959B-633B79397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518" y="442913"/>
            <a:ext cx="5271804" cy="1639888"/>
          </a:xfrm>
        </p:spPr>
        <p:txBody>
          <a:bodyPr anchor="b">
            <a:normAutofit/>
          </a:bodyPr>
          <a:lstStyle/>
          <a:p>
            <a:r>
              <a:rPr lang="en-US" dirty="0"/>
              <a:t>EX.8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8A2DF-C3A0-4848-D92F-60B7B9D18B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519" y="2312988"/>
            <a:ext cx="5271804" cy="3651250"/>
          </a:xfrm>
        </p:spPr>
        <p:txBody>
          <a:bodyPr>
            <a:normAutofit/>
          </a:bodyPr>
          <a:lstStyle/>
          <a:p>
            <a:r>
              <a:rPr lang="en-US" dirty="0"/>
              <a:t>You use 13.26 mM of HCl to neutralize 50 mL of unknown KOH. The initial reading is 3.20 mL, and the final reading is 17.80 </a:t>
            </a:r>
            <a:r>
              <a:rPr lang="en-US" dirty="0" err="1"/>
              <a:t>mL.</a:t>
            </a:r>
            <a:r>
              <a:rPr lang="en-US" dirty="0"/>
              <a:t> Determine the concentration of the KOH.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871FC61-DD4E-47D4-81FD-8A7E7D12B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avLst/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29A1E2C-5AC8-40FC-99E9-832069D39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77485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5C54A75-E44A-4147-B9D0-FF46CFD3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4925" y="0"/>
            <a:ext cx="2536434" cy="6858000"/>
          </a:xfrm>
          <a:custGeom>
            <a:avLst/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Picture 4" descr="Formulae written on a blackboard">
            <a:extLst>
              <a:ext uri="{FF2B5EF4-FFF2-40B4-BE49-F238E27FC236}">
                <a16:creationId xmlns:a16="http://schemas.microsoft.com/office/drawing/2014/main" id="{CF526710-904E-D061-8875-C3D412F043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26" r="27624" b="-1"/>
          <a:stretch/>
        </p:blipFill>
        <p:spPr>
          <a:xfrm>
            <a:off x="7203882" y="10"/>
            <a:ext cx="4988118" cy="6857990"/>
          </a:xfrm>
          <a:custGeom>
            <a:avLst/>
            <a:gdLst/>
            <a:ahLst/>
            <a:cxnLst/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13574682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LinesVTI">
  <a:themeElements>
    <a:clrScheme name="AnalogousFromRegularSeedLeftStep">
      <a:dk1>
        <a:srgbClr val="000000"/>
      </a:dk1>
      <a:lt1>
        <a:srgbClr val="FFFFFF"/>
      </a:lt1>
      <a:dk2>
        <a:srgbClr val="1C311C"/>
      </a:dk2>
      <a:lt2>
        <a:srgbClr val="F3F1F0"/>
      </a:lt2>
      <a:accent1>
        <a:srgbClr val="24AFC8"/>
      </a:accent1>
      <a:accent2>
        <a:srgbClr val="14B78B"/>
      </a:accent2>
      <a:accent3>
        <a:srgbClr val="21B951"/>
      </a:accent3>
      <a:accent4>
        <a:srgbClr val="25BA14"/>
      </a:accent4>
      <a:accent5>
        <a:srgbClr val="6BB220"/>
      </a:accent5>
      <a:accent6>
        <a:srgbClr val="9EA812"/>
      </a:accent6>
      <a:hlink>
        <a:srgbClr val="C05542"/>
      </a:hlink>
      <a:folHlink>
        <a:srgbClr val="7F7F7F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3467</TotalTime>
  <Words>792</Words>
  <Application>Microsoft Macintosh PowerPoint</Application>
  <PresentationFormat>Widescreen</PresentationFormat>
  <Paragraphs>67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Meiryo</vt:lpstr>
      <vt:lpstr>Arial</vt:lpstr>
      <vt:lpstr>Calibri</vt:lpstr>
      <vt:lpstr>Corbel</vt:lpstr>
      <vt:lpstr>SketchLinesVTI</vt:lpstr>
      <vt:lpstr>Unit 6.2 Concentration, Dilution and Titration</vt:lpstr>
      <vt:lpstr>In today’s lesson, we will</vt:lpstr>
      <vt:lpstr>Concentration</vt:lpstr>
      <vt:lpstr>Ex.1</vt:lpstr>
      <vt:lpstr>Ex.2</vt:lpstr>
      <vt:lpstr>Ex.3</vt:lpstr>
      <vt:lpstr>Ex.4</vt:lpstr>
      <vt:lpstr>In this class, we will</vt:lpstr>
      <vt:lpstr>Warm-up</vt:lpstr>
      <vt:lpstr>Molarity vs. Molality</vt:lpstr>
      <vt:lpstr>Molarity(M) is the most frequently used concentration unit</vt:lpstr>
      <vt:lpstr>How to prepare a solution?</vt:lpstr>
      <vt:lpstr>Dilution</vt:lpstr>
      <vt:lpstr>Dilution</vt:lpstr>
      <vt:lpstr>Dilution</vt:lpstr>
      <vt:lpstr>EX.5</vt:lpstr>
      <vt:lpstr>Serial dilution</vt:lpstr>
      <vt:lpstr>EX.6</vt:lpstr>
      <vt:lpstr>Titration</vt:lpstr>
      <vt:lpstr>Titration</vt:lpstr>
      <vt:lpstr>Titration</vt:lpstr>
      <vt:lpstr>EX.7</vt:lpstr>
      <vt:lpstr>EX.8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6.2 Concentration, Dilution and Titration</dc:title>
  <dc:creator>Chen, Xinyu</dc:creator>
  <cp:lastModifiedBy>Chen, Xinyu</cp:lastModifiedBy>
  <cp:revision>6</cp:revision>
  <dcterms:created xsi:type="dcterms:W3CDTF">2022-11-07T01:23:46Z</dcterms:created>
  <dcterms:modified xsi:type="dcterms:W3CDTF">2025-11-03T06:33:11Z</dcterms:modified>
</cp:coreProperties>
</file>