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410587-DC99-423E-A4B4-F6D90DF5B3FB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DEAEDCEB-2E73-4646-AC01-59DAC0CDE452}">
      <dgm:prSet phldrT="[Text]"/>
      <dgm:spPr/>
      <dgm:t>
        <a:bodyPr/>
        <a:lstStyle/>
        <a:p>
          <a:r>
            <a:rPr lang="en-US" dirty="0"/>
            <a:t>Structural Isomer</a:t>
          </a:r>
        </a:p>
      </dgm:t>
    </dgm:pt>
    <dgm:pt modelId="{4F802DFF-AECB-46A8-A39B-491C606A7246}" type="parTrans" cxnId="{E3B363E2-CE67-4776-AA29-75394338EED8}">
      <dgm:prSet/>
      <dgm:spPr/>
      <dgm:t>
        <a:bodyPr/>
        <a:lstStyle/>
        <a:p>
          <a:endParaRPr lang="en-US"/>
        </a:p>
      </dgm:t>
    </dgm:pt>
    <dgm:pt modelId="{587ABF73-1EEF-4764-B10F-B175438BD4D1}" type="sibTrans" cxnId="{E3B363E2-CE67-4776-AA29-75394338EED8}">
      <dgm:prSet/>
      <dgm:spPr/>
      <dgm:t>
        <a:bodyPr/>
        <a:lstStyle/>
        <a:p>
          <a:endParaRPr lang="en-US"/>
        </a:p>
      </dgm:t>
    </dgm:pt>
    <dgm:pt modelId="{7068B37C-FFA2-4E5E-B6DB-678710FBFFDE}">
      <dgm:prSet phldrT="[Text]"/>
      <dgm:spPr/>
      <dgm:t>
        <a:bodyPr/>
        <a:lstStyle/>
        <a:p>
          <a:r>
            <a:rPr lang="en-US" dirty="0"/>
            <a:t>Chain isomer</a:t>
          </a:r>
        </a:p>
      </dgm:t>
    </dgm:pt>
    <dgm:pt modelId="{31A9A719-1DD8-410F-A8E4-6240C9795FDF}" type="parTrans" cxnId="{A5001F65-4D32-4B68-A2F9-0454D04B54D9}">
      <dgm:prSet/>
      <dgm:spPr/>
      <dgm:t>
        <a:bodyPr/>
        <a:lstStyle/>
        <a:p>
          <a:endParaRPr lang="en-US"/>
        </a:p>
      </dgm:t>
    </dgm:pt>
    <dgm:pt modelId="{2538EBA3-5024-402D-8B6E-131A9642F17C}" type="sibTrans" cxnId="{A5001F65-4D32-4B68-A2F9-0454D04B54D9}">
      <dgm:prSet/>
      <dgm:spPr/>
      <dgm:t>
        <a:bodyPr/>
        <a:lstStyle/>
        <a:p>
          <a:endParaRPr lang="en-US"/>
        </a:p>
      </dgm:t>
    </dgm:pt>
    <dgm:pt modelId="{7C3E46F4-6EEF-4001-8A1E-69B25D11408F}">
      <dgm:prSet phldrT="[Text]"/>
      <dgm:spPr/>
      <dgm:t>
        <a:bodyPr/>
        <a:lstStyle/>
        <a:p>
          <a:r>
            <a:rPr lang="en-US" dirty="0"/>
            <a:t>Functional-group isomer</a:t>
          </a:r>
        </a:p>
      </dgm:t>
    </dgm:pt>
    <dgm:pt modelId="{7FCF374C-D3BE-4794-A408-7F2440FA9BF8}" type="parTrans" cxnId="{BF3D54A8-E146-4A5C-8734-4BF16AC1DEC9}">
      <dgm:prSet/>
      <dgm:spPr/>
      <dgm:t>
        <a:bodyPr/>
        <a:lstStyle/>
        <a:p>
          <a:endParaRPr lang="en-US"/>
        </a:p>
      </dgm:t>
    </dgm:pt>
    <dgm:pt modelId="{1D424DFA-BC9C-403D-90E3-C1589412CE15}" type="sibTrans" cxnId="{BF3D54A8-E146-4A5C-8734-4BF16AC1DEC9}">
      <dgm:prSet/>
      <dgm:spPr/>
      <dgm:t>
        <a:bodyPr/>
        <a:lstStyle/>
        <a:p>
          <a:endParaRPr lang="en-US"/>
        </a:p>
      </dgm:t>
    </dgm:pt>
    <dgm:pt modelId="{6949F4B1-1B87-42CB-9899-8D5A0E8DB1FA}">
      <dgm:prSet phldrT="[Text]"/>
      <dgm:spPr/>
      <dgm:t>
        <a:bodyPr/>
        <a:lstStyle/>
        <a:p>
          <a:r>
            <a:rPr lang="en-US" dirty="0"/>
            <a:t>Position isomer</a:t>
          </a:r>
        </a:p>
      </dgm:t>
    </dgm:pt>
    <dgm:pt modelId="{F2C5657D-02F8-446B-9023-C3CFB3C1D3B2}" type="parTrans" cxnId="{A1299283-8D68-4584-B3AB-B7F176251B44}">
      <dgm:prSet/>
      <dgm:spPr/>
      <dgm:t>
        <a:bodyPr/>
        <a:lstStyle/>
        <a:p>
          <a:endParaRPr lang="en-US"/>
        </a:p>
      </dgm:t>
    </dgm:pt>
    <dgm:pt modelId="{281D317D-FAA4-4566-A727-B13F27F578CC}" type="sibTrans" cxnId="{A1299283-8D68-4584-B3AB-B7F176251B44}">
      <dgm:prSet/>
      <dgm:spPr/>
      <dgm:t>
        <a:bodyPr/>
        <a:lstStyle/>
        <a:p>
          <a:endParaRPr lang="en-US"/>
        </a:p>
      </dgm:t>
    </dgm:pt>
    <dgm:pt modelId="{85DD89F6-B8C5-46ED-AC28-499A2C5CE704}" type="pres">
      <dgm:prSet presAssocID="{7C410587-DC99-423E-A4B4-F6D90DF5B3F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A4547B7-40C3-47EB-BC08-6C1AED134659}" type="pres">
      <dgm:prSet presAssocID="{DEAEDCEB-2E73-4646-AC01-59DAC0CDE452}" presName="root1" presStyleCnt="0"/>
      <dgm:spPr/>
    </dgm:pt>
    <dgm:pt modelId="{EFA98769-AB5D-4E81-B7B2-8EDF020D7B38}" type="pres">
      <dgm:prSet presAssocID="{DEAEDCEB-2E73-4646-AC01-59DAC0CDE452}" presName="LevelOneTextNode" presStyleLbl="node0" presStyleIdx="0" presStyleCnt="1" custLinFactX="-200000" custLinFactNeighborX="-205309" custLinFactNeighborY="3316">
        <dgm:presLayoutVars>
          <dgm:chPref val="3"/>
        </dgm:presLayoutVars>
      </dgm:prSet>
      <dgm:spPr/>
    </dgm:pt>
    <dgm:pt modelId="{A891A7F7-8275-4356-B292-1D5C3E43D762}" type="pres">
      <dgm:prSet presAssocID="{DEAEDCEB-2E73-4646-AC01-59DAC0CDE452}" presName="level2hierChild" presStyleCnt="0"/>
      <dgm:spPr/>
    </dgm:pt>
    <dgm:pt modelId="{821E8870-4CE0-4440-ADC2-751C8FB7A04A}" type="pres">
      <dgm:prSet presAssocID="{31A9A719-1DD8-410F-A8E4-6240C9795FDF}" presName="conn2-1" presStyleLbl="parChTrans1D2" presStyleIdx="0" presStyleCnt="3"/>
      <dgm:spPr/>
    </dgm:pt>
    <dgm:pt modelId="{18E34939-243A-4DFC-A009-485827B4EB13}" type="pres">
      <dgm:prSet presAssocID="{31A9A719-1DD8-410F-A8E4-6240C9795FDF}" presName="connTx" presStyleLbl="parChTrans1D2" presStyleIdx="0" presStyleCnt="3"/>
      <dgm:spPr/>
    </dgm:pt>
    <dgm:pt modelId="{F2A44D58-5C61-428E-8307-AE777311ED44}" type="pres">
      <dgm:prSet presAssocID="{7068B37C-FFA2-4E5E-B6DB-678710FBFFDE}" presName="root2" presStyleCnt="0"/>
      <dgm:spPr/>
    </dgm:pt>
    <dgm:pt modelId="{AA31695D-8D09-4638-9674-A45DC1CBD8E5}" type="pres">
      <dgm:prSet presAssocID="{7068B37C-FFA2-4E5E-B6DB-678710FBFFDE}" presName="LevelTwoTextNode" presStyleLbl="node2" presStyleIdx="0" presStyleCnt="3">
        <dgm:presLayoutVars>
          <dgm:chPref val="3"/>
        </dgm:presLayoutVars>
      </dgm:prSet>
      <dgm:spPr/>
    </dgm:pt>
    <dgm:pt modelId="{DE5A8918-13F0-4597-A73D-5D9B637600DB}" type="pres">
      <dgm:prSet presAssocID="{7068B37C-FFA2-4E5E-B6DB-678710FBFFDE}" presName="level3hierChild" presStyleCnt="0"/>
      <dgm:spPr/>
    </dgm:pt>
    <dgm:pt modelId="{05680D0D-ED34-4BBE-AE5E-C34AB9577E89}" type="pres">
      <dgm:prSet presAssocID="{7FCF374C-D3BE-4794-A408-7F2440FA9BF8}" presName="conn2-1" presStyleLbl="parChTrans1D2" presStyleIdx="1" presStyleCnt="3"/>
      <dgm:spPr/>
    </dgm:pt>
    <dgm:pt modelId="{7C6DEA37-14ED-46D8-ACC4-D9B3D153AA41}" type="pres">
      <dgm:prSet presAssocID="{7FCF374C-D3BE-4794-A408-7F2440FA9BF8}" presName="connTx" presStyleLbl="parChTrans1D2" presStyleIdx="1" presStyleCnt="3"/>
      <dgm:spPr/>
    </dgm:pt>
    <dgm:pt modelId="{7823274F-1512-42A1-8D51-55825C4EA56F}" type="pres">
      <dgm:prSet presAssocID="{7C3E46F4-6EEF-4001-8A1E-69B25D11408F}" presName="root2" presStyleCnt="0"/>
      <dgm:spPr/>
    </dgm:pt>
    <dgm:pt modelId="{596927E6-ACE2-42EE-BB1D-495B8994B4FA}" type="pres">
      <dgm:prSet presAssocID="{7C3E46F4-6EEF-4001-8A1E-69B25D11408F}" presName="LevelTwoTextNode" presStyleLbl="node2" presStyleIdx="1" presStyleCnt="3">
        <dgm:presLayoutVars>
          <dgm:chPref val="3"/>
        </dgm:presLayoutVars>
      </dgm:prSet>
      <dgm:spPr/>
    </dgm:pt>
    <dgm:pt modelId="{457D7BAA-E406-4B04-BEC8-56DBF46E1276}" type="pres">
      <dgm:prSet presAssocID="{7C3E46F4-6EEF-4001-8A1E-69B25D11408F}" presName="level3hierChild" presStyleCnt="0"/>
      <dgm:spPr/>
    </dgm:pt>
    <dgm:pt modelId="{E5B917EB-8B6D-4567-B706-1CAA36E22FCC}" type="pres">
      <dgm:prSet presAssocID="{F2C5657D-02F8-446B-9023-C3CFB3C1D3B2}" presName="conn2-1" presStyleLbl="parChTrans1D2" presStyleIdx="2" presStyleCnt="3"/>
      <dgm:spPr/>
    </dgm:pt>
    <dgm:pt modelId="{8DAC3531-CB64-4CFC-B32F-D9EC1B6AAF72}" type="pres">
      <dgm:prSet presAssocID="{F2C5657D-02F8-446B-9023-C3CFB3C1D3B2}" presName="connTx" presStyleLbl="parChTrans1D2" presStyleIdx="2" presStyleCnt="3"/>
      <dgm:spPr/>
    </dgm:pt>
    <dgm:pt modelId="{7C07FDB3-0442-4D7A-8271-50A0530C34B9}" type="pres">
      <dgm:prSet presAssocID="{6949F4B1-1B87-42CB-9899-8D5A0E8DB1FA}" presName="root2" presStyleCnt="0"/>
      <dgm:spPr/>
    </dgm:pt>
    <dgm:pt modelId="{D4C6A4DD-7DE1-4DC3-AD45-2F11268387F3}" type="pres">
      <dgm:prSet presAssocID="{6949F4B1-1B87-42CB-9899-8D5A0E8DB1FA}" presName="LevelTwoTextNode" presStyleLbl="node2" presStyleIdx="2" presStyleCnt="3">
        <dgm:presLayoutVars>
          <dgm:chPref val="3"/>
        </dgm:presLayoutVars>
      </dgm:prSet>
      <dgm:spPr/>
    </dgm:pt>
    <dgm:pt modelId="{CFA532A6-9A21-4758-9C0A-AEDD36A5295D}" type="pres">
      <dgm:prSet presAssocID="{6949F4B1-1B87-42CB-9899-8D5A0E8DB1FA}" presName="level3hierChild" presStyleCnt="0"/>
      <dgm:spPr/>
    </dgm:pt>
  </dgm:ptLst>
  <dgm:cxnLst>
    <dgm:cxn modelId="{3D9AEC05-2792-48E4-861D-17057C6026B6}" type="presOf" srcId="{31A9A719-1DD8-410F-A8E4-6240C9795FDF}" destId="{18E34939-243A-4DFC-A009-485827B4EB13}" srcOrd="1" destOrd="0" presId="urn:microsoft.com/office/officeart/2008/layout/HorizontalMultiLevelHierarchy"/>
    <dgm:cxn modelId="{71B1DC14-CAA9-4A0C-ADF8-3E4EDA836D6B}" type="presOf" srcId="{7C3E46F4-6EEF-4001-8A1E-69B25D11408F}" destId="{596927E6-ACE2-42EE-BB1D-495B8994B4FA}" srcOrd="0" destOrd="0" presId="urn:microsoft.com/office/officeart/2008/layout/HorizontalMultiLevelHierarchy"/>
    <dgm:cxn modelId="{BE57114C-2FFD-43EC-A923-642C98DC5223}" type="presOf" srcId="{7C410587-DC99-423E-A4B4-F6D90DF5B3FB}" destId="{85DD89F6-B8C5-46ED-AC28-499A2C5CE704}" srcOrd="0" destOrd="0" presId="urn:microsoft.com/office/officeart/2008/layout/HorizontalMultiLevelHierarchy"/>
    <dgm:cxn modelId="{CCB46452-BB85-49F2-9CEB-B29297CECDCF}" type="presOf" srcId="{DEAEDCEB-2E73-4646-AC01-59DAC0CDE452}" destId="{EFA98769-AB5D-4E81-B7B2-8EDF020D7B38}" srcOrd="0" destOrd="0" presId="urn:microsoft.com/office/officeart/2008/layout/HorizontalMultiLevelHierarchy"/>
    <dgm:cxn modelId="{CBFE8953-11F5-4237-AC11-EAF67F73F6B0}" type="presOf" srcId="{6949F4B1-1B87-42CB-9899-8D5A0E8DB1FA}" destId="{D4C6A4DD-7DE1-4DC3-AD45-2F11268387F3}" srcOrd="0" destOrd="0" presId="urn:microsoft.com/office/officeart/2008/layout/HorizontalMultiLevelHierarchy"/>
    <dgm:cxn modelId="{A5001F65-4D32-4B68-A2F9-0454D04B54D9}" srcId="{DEAEDCEB-2E73-4646-AC01-59DAC0CDE452}" destId="{7068B37C-FFA2-4E5E-B6DB-678710FBFFDE}" srcOrd="0" destOrd="0" parTransId="{31A9A719-1DD8-410F-A8E4-6240C9795FDF}" sibTransId="{2538EBA3-5024-402D-8B6E-131A9642F17C}"/>
    <dgm:cxn modelId="{DFE55465-22F5-4895-8718-1A5ADE80C1A3}" type="presOf" srcId="{F2C5657D-02F8-446B-9023-C3CFB3C1D3B2}" destId="{8DAC3531-CB64-4CFC-B32F-D9EC1B6AAF72}" srcOrd="1" destOrd="0" presId="urn:microsoft.com/office/officeart/2008/layout/HorizontalMultiLevelHierarchy"/>
    <dgm:cxn modelId="{A1299283-8D68-4584-B3AB-B7F176251B44}" srcId="{DEAEDCEB-2E73-4646-AC01-59DAC0CDE452}" destId="{6949F4B1-1B87-42CB-9899-8D5A0E8DB1FA}" srcOrd="2" destOrd="0" parTransId="{F2C5657D-02F8-446B-9023-C3CFB3C1D3B2}" sibTransId="{281D317D-FAA4-4566-A727-B13F27F578CC}"/>
    <dgm:cxn modelId="{6910FD99-BFE2-4336-A6B5-7B2D0EE4ADF1}" type="presOf" srcId="{F2C5657D-02F8-446B-9023-C3CFB3C1D3B2}" destId="{E5B917EB-8B6D-4567-B706-1CAA36E22FCC}" srcOrd="0" destOrd="0" presId="urn:microsoft.com/office/officeart/2008/layout/HorizontalMultiLevelHierarchy"/>
    <dgm:cxn modelId="{BF3D54A8-E146-4A5C-8734-4BF16AC1DEC9}" srcId="{DEAEDCEB-2E73-4646-AC01-59DAC0CDE452}" destId="{7C3E46F4-6EEF-4001-8A1E-69B25D11408F}" srcOrd="1" destOrd="0" parTransId="{7FCF374C-D3BE-4794-A408-7F2440FA9BF8}" sibTransId="{1D424DFA-BC9C-403D-90E3-C1589412CE15}"/>
    <dgm:cxn modelId="{F63C71B1-0603-4B55-A295-3C226EE4BF61}" type="presOf" srcId="{7FCF374C-D3BE-4794-A408-7F2440FA9BF8}" destId="{7C6DEA37-14ED-46D8-ACC4-D9B3D153AA41}" srcOrd="1" destOrd="0" presId="urn:microsoft.com/office/officeart/2008/layout/HorizontalMultiLevelHierarchy"/>
    <dgm:cxn modelId="{E8DF48C6-F25C-487B-ABCC-6D8F8C879FF8}" type="presOf" srcId="{31A9A719-1DD8-410F-A8E4-6240C9795FDF}" destId="{821E8870-4CE0-4440-ADC2-751C8FB7A04A}" srcOrd="0" destOrd="0" presId="urn:microsoft.com/office/officeart/2008/layout/HorizontalMultiLevelHierarchy"/>
    <dgm:cxn modelId="{E3B363E2-CE67-4776-AA29-75394338EED8}" srcId="{7C410587-DC99-423E-A4B4-F6D90DF5B3FB}" destId="{DEAEDCEB-2E73-4646-AC01-59DAC0CDE452}" srcOrd="0" destOrd="0" parTransId="{4F802DFF-AECB-46A8-A39B-491C606A7246}" sibTransId="{587ABF73-1EEF-4764-B10F-B175438BD4D1}"/>
    <dgm:cxn modelId="{F28A2FE4-3F82-4772-AC5F-98F4484167FB}" type="presOf" srcId="{7068B37C-FFA2-4E5E-B6DB-678710FBFFDE}" destId="{AA31695D-8D09-4638-9674-A45DC1CBD8E5}" srcOrd="0" destOrd="0" presId="urn:microsoft.com/office/officeart/2008/layout/HorizontalMultiLevelHierarchy"/>
    <dgm:cxn modelId="{94699BF1-593C-41C0-B24F-FE41378F6354}" type="presOf" srcId="{7FCF374C-D3BE-4794-A408-7F2440FA9BF8}" destId="{05680D0D-ED34-4BBE-AE5E-C34AB9577E89}" srcOrd="0" destOrd="0" presId="urn:microsoft.com/office/officeart/2008/layout/HorizontalMultiLevelHierarchy"/>
    <dgm:cxn modelId="{12C4D995-5018-44DC-B5A2-D39968544664}" type="presParOf" srcId="{85DD89F6-B8C5-46ED-AC28-499A2C5CE704}" destId="{3A4547B7-40C3-47EB-BC08-6C1AED134659}" srcOrd="0" destOrd="0" presId="urn:microsoft.com/office/officeart/2008/layout/HorizontalMultiLevelHierarchy"/>
    <dgm:cxn modelId="{2F3B4FB2-9491-40EB-9D6A-1FA6F0EA8F91}" type="presParOf" srcId="{3A4547B7-40C3-47EB-BC08-6C1AED134659}" destId="{EFA98769-AB5D-4E81-B7B2-8EDF020D7B38}" srcOrd="0" destOrd="0" presId="urn:microsoft.com/office/officeart/2008/layout/HorizontalMultiLevelHierarchy"/>
    <dgm:cxn modelId="{21959E82-3E25-4E75-8652-5E7771F33B62}" type="presParOf" srcId="{3A4547B7-40C3-47EB-BC08-6C1AED134659}" destId="{A891A7F7-8275-4356-B292-1D5C3E43D762}" srcOrd="1" destOrd="0" presId="urn:microsoft.com/office/officeart/2008/layout/HorizontalMultiLevelHierarchy"/>
    <dgm:cxn modelId="{E579BA13-BBAB-4494-A065-C13655BDCB7E}" type="presParOf" srcId="{A891A7F7-8275-4356-B292-1D5C3E43D762}" destId="{821E8870-4CE0-4440-ADC2-751C8FB7A04A}" srcOrd="0" destOrd="0" presId="urn:microsoft.com/office/officeart/2008/layout/HorizontalMultiLevelHierarchy"/>
    <dgm:cxn modelId="{2BD0D35F-B129-4AAA-A0AA-55853CC99834}" type="presParOf" srcId="{821E8870-4CE0-4440-ADC2-751C8FB7A04A}" destId="{18E34939-243A-4DFC-A009-485827B4EB13}" srcOrd="0" destOrd="0" presId="urn:microsoft.com/office/officeart/2008/layout/HorizontalMultiLevelHierarchy"/>
    <dgm:cxn modelId="{255520AE-9AC1-498E-B9F3-EF3E39F487AD}" type="presParOf" srcId="{A891A7F7-8275-4356-B292-1D5C3E43D762}" destId="{F2A44D58-5C61-428E-8307-AE777311ED44}" srcOrd="1" destOrd="0" presId="urn:microsoft.com/office/officeart/2008/layout/HorizontalMultiLevelHierarchy"/>
    <dgm:cxn modelId="{E41F38F0-A0BA-4C99-92D6-EF82434C3C86}" type="presParOf" srcId="{F2A44D58-5C61-428E-8307-AE777311ED44}" destId="{AA31695D-8D09-4638-9674-A45DC1CBD8E5}" srcOrd="0" destOrd="0" presId="urn:microsoft.com/office/officeart/2008/layout/HorizontalMultiLevelHierarchy"/>
    <dgm:cxn modelId="{AB2719EE-25F9-4FE8-8EFC-2C395853DA31}" type="presParOf" srcId="{F2A44D58-5C61-428E-8307-AE777311ED44}" destId="{DE5A8918-13F0-4597-A73D-5D9B637600DB}" srcOrd="1" destOrd="0" presId="urn:microsoft.com/office/officeart/2008/layout/HorizontalMultiLevelHierarchy"/>
    <dgm:cxn modelId="{B7E68F28-D505-4F6A-B95A-4B248862A723}" type="presParOf" srcId="{A891A7F7-8275-4356-B292-1D5C3E43D762}" destId="{05680D0D-ED34-4BBE-AE5E-C34AB9577E89}" srcOrd="2" destOrd="0" presId="urn:microsoft.com/office/officeart/2008/layout/HorizontalMultiLevelHierarchy"/>
    <dgm:cxn modelId="{A57FA754-5CA9-481E-93D4-176A9565F2CF}" type="presParOf" srcId="{05680D0D-ED34-4BBE-AE5E-C34AB9577E89}" destId="{7C6DEA37-14ED-46D8-ACC4-D9B3D153AA41}" srcOrd="0" destOrd="0" presId="urn:microsoft.com/office/officeart/2008/layout/HorizontalMultiLevelHierarchy"/>
    <dgm:cxn modelId="{CB513D81-10A7-44E5-A6EB-FE60EE765F34}" type="presParOf" srcId="{A891A7F7-8275-4356-B292-1D5C3E43D762}" destId="{7823274F-1512-42A1-8D51-55825C4EA56F}" srcOrd="3" destOrd="0" presId="urn:microsoft.com/office/officeart/2008/layout/HorizontalMultiLevelHierarchy"/>
    <dgm:cxn modelId="{AE7F8587-C506-42DC-B32B-29E854453FF1}" type="presParOf" srcId="{7823274F-1512-42A1-8D51-55825C4EA56F}" destId="{596927E6-ACE2-42EE-BB1D-495B8994B4FA}" srcOrd="0" destOrd="0" presId="urn:microsoft.com/office/officeart/2008/layout/HorizontalMultiLevelHierarchy"/>
    <dgm:cxn modelId="{85DA8E62-4101-4284-AEAF-FF4720F7DC78}" type="presParOf" srcId="{7823274F-1512-42A1-8D51-55825C4EA56F}" destId="{457D7BAA-E406-4B04-BEC8-56DBF46E1276}" srcOrd="1" destOrd="0" presId="urn:microsoft.com/office/officeart/2008/layout/HorizontalMultiLevelHierarchy"/>
    <dgm:cxn modelId="{90AAC765-2842-4189-B20E-90F6011E12CD}" type="presParOf" srcId="{A891A7F7-8275-4356-B292-1D5C3E43D762}" destId="{E5B917EB-8B6D-4567-B706-1CAA36E22FCC}" srcOrd="4" destOrd="0" presId="urn:microsoft.com/office/officeart/2008/layout/HorizontalMultiLevelHierarchy"/>
    <dgm:cxn modelId="{2364291F-BB24-4F97-BAAA-2C8526BA5435}" type="presParOf" srcId="{E5B917EB-8B6D-4567-B706-1CAA36E22FCC}" destId="{8DAC3531-CB64-4CFC-B32F-D9EC1B6AAF72}" srcOrd="0" destOrd="0" presId="urn:microsoft.com/office/officeart/2008/layout/HorizontalMultiLevelHierarchy"/>
    <dgm:cxn modelId="{AA479A23-8AEE-4E7B-967C-357F6BD529B3}" type="presParOf" srcId="{A891A7F7-8275-4356-B292-1D5C3E43D762}" destId="{7C07FDB3-0442-4D7A-8271-50A0530C34B9}" srcOrd="5" destOrd="0" presId="urn:microsoft.com/office/officeart/2008/layout/HorizontalMultiLevelHierarchy"/>
    <dgm:cxn modelId="{65786945-22E1-4727-9943-00948267507D}" type="presParOf" srcId="{7C07FDB3-0442-4D7A-8271-50A0530C34B9}" destId="{D4C6A4DD-7DE1-4DC3-AD45-2F11268387F3}" srcOrd="0" destOrd="0" presId="urn:microsoft.com/office/officeart/2008/layout/HorizontalMultiLevelHierarchy"/>
    <dgm:cxn modelId="{28FBEBDA-98C2-4FD5-9AA2-F3F18EA15492}" type="presParOf" srcId="{7C07FDB3-0442-4D7A-8271-50A0530C34B9}" destId="{CFA532A6-9A21-4758-9C0A-AEDD36A5295D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917EB-8B6D-4567-B706-1CAA36E22FCC}">
      <dsp:nvSpPr>
        <dsp:cNvPr id="0" name=""/>
        <dsp:cNvSpPr/>
      </dsp:nvSpPr>
      <dsp:spPr>
        <a:xfrm>
          <a:off x="1328955" y="1908969"/>
          <a:ext cx="3416012" cy="906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08006" y="0"/>
              </a:lnTo>
              <a:lnTo>
                <a:pt x="1708006" y="906760"/>
              </a:lnTo>
              <a:lnTo>
                <a:pt x="3416012" y="906760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48604" y="2273991"/>
        <a:ext cx="176715" cy="176715"/>
      </dsp:txXfrm>
    </dsp:sp>
    <dsp:sp modelId="{05680D0D-ED34-4BBE-AE5E-C34AB9577E89}">
      <dsp:nvSpPr>
        <dsp:cNvPr id="0" name=""/>
        <dsp:cNvSpPr/>
      </dsp:nvSpPr>
      <dsp:spPr>
        <a:xfrm>
          <a:off x="1328955" y="1863249"/>
          <a:ext cx="34160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16012" y="45720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51561" y="1823568"/>
        <a:ext cx="170800" cy="170800"/>
      </dsp:txXfrm>
    </dsp:sp>
    <dsp:sp modelId="{821E8870-4CE0-4440-ADC2-751C8FB7A04A}">
      <dsp:nvSpPr>
        <dsp:cNvPr id="0" name=""/>
        <dsp:cNvSpPr/>
      </dsp:nvSpPr>
      <dsp:spPr>
        <a:xfrm>
          <a:off x="1328955" y="1002208"/>
          <a:ext cx="3416012" cy="906760"/>
        </a:xfrm>
        <a:custGeom>
          <a:avLst/>
          <a:gdLst/>
          <a:ahLst/>
          <a:cxnLst/>
          <a:rect l="0" t="0" r="0" b="0"/>
          <a:pathLst>
            <a:path>
              <a:moveTo>
                <a:pt x="0" y="906760"/>
              </a:moveTo>
              <a:lnTo>
                <a:pt x="1708006" y="906760"/>
              </a:lnTo>
              <a:lnTo>
                <a:pt x="1708006" y="0"/>
              </a:lnTo>
              <a:lnTo>
                <a:pt x="3416012" y="0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48604" y="1367231"/>
        <a:ext cx="176715" cy="176715"/>
      </dsp:txXfrm>
    </dsp:sp>
    <dsp:sp modelId="{EFA98769-AB5D-4E81-B7B2-8EDF020D7B38}">
      <dsp:nvSpPr>
        <dsp:cNvPr id="0" name=""/>
        <dsp:cNvSpPr/>
      </dsp:nvSpPr>
      <dsp:spPr>
        <a:xfrm rot="16200000">
          <a:off x="-942717" y="1546264"/>
          <a:ext cx="3817938" cy="7254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Structural Isomer</a:t>
          </a:r>
        </a:p>
      </dsp:txBody>
      <dsp:txXfrm>
        <a:off x="-942717" y="1546264"/>
        <a:ext cx="3817938" cy="725408"/>
      </dsp:txXfrm>
    </dsp:sp>
    <dsp:sp modelId="{AA31695D-8D09-4638-9674-A45DC1CBD8E5}">
      <dsp:nvSpPr>
        <dsp:cNvPr id="0" name=""/>
        <dsp:cNvSpPr/>
      </dsp:nvSpPr>
      <dsp:spPr>
        <a:xfrm>
          <a:off x="4744968" y="639504"/>
          <a:ext cx="2379338" cy="7254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Chain isomer</a:t>
          </a:r>
        </a:p>
      </dsp:txBody>
      <dsp:txXfrm>
        <a:off x="4744968" y="639504"/>
        <a:ext cx="2379338" cy="725408"/>
      </dsp:txXfrm>
    </dsp:sp>
    <dsp:sp modelId="{596927E6-ACE2-42EE-BB1D-495B8994B4FA}">
      <dsp:nvSpPr>
        <dsp:cNvPr id="0" name=""/>
        <dsp:cNvSpPr/>
      </dsp:nvSpPr>
      <dsp:spPr>
        <a:xfrm>
          <a:off x="4744968" y="1546264"/>
          <a:ext cx="2379338" cy="7254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Functional-group isomer</a:t>
          </a:r>
        </a:p>
      </dsp:txBody>
      <dsp:txXfrm>
        <a:off x="4744968" y="1546264"/>
        <a:ext cx="2379338" cy="725408"/>
      </dsp:txXfrm>
    </dsp:sp>
    <dsp:sp modelId="{D4C6A4DD-7DE1-4DC3-AD45-2F11268387F3}">
      <dsp:nvSpPr>
        <dsp:cNvPr id="0" name=""/>
        <dsp:cNvSpPr/>
      </dsp:nvSpPr>
      <dsp:spPr>
        <a:xfrm>
          <a:off x="4744968" y="2453025"/>
          <a:ext cx="2379338" cy="7254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Position isomer</a:t>
          </a:r>
        </a:p>
      </dsp:txBody>
      <dsp:txXfrm>
        <a:off x="4744968" y="2453025"/>
        <a:ext cx="2379338" cy="725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2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0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2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3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86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5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7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9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3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1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5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23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65A5CBD-5BDA-4345-915C-718F0E585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5F3A6-BDF2-297D-6536-18F4508B02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02" r="4" b="4"/>
          <a:stretch/>
        </p:blipFill>
        <p:spPr>
          <a:xfrm>
            <a:off x="-1" y="3691671"/>
            <a:ext cx="2651938" cy="3166331"/>
          </a:xfrm>
          <a:custGeom>
            <a:avLst/>
            <a:gdLst/>
            <a:ahLst/>
            <a:cxnLst/>
            <a:rect l="l" t="t" r="r" b="b"/>
            <a:pathLst>
              <a:path w="2651938" h="3166331">
                <a:moveTo>
                  <a:pt x="0" y="0"/>
                </a:moveTo>
                <a:lnTo>
                  <a:pt x="128434" y="80958"/>
                </a:lnTo>
                <a:cubicBezTo>
                  <a:pt x="680924" y="403734"/>
                  <a:pt x="1283371" y="663298"/>
                  <a:pt x="1667387" y="1181434"/>
                </a:cubicBezTo>
                <a:cubicBezTo>
                  <a:pt x="2063018" y="1715408"/>
                  <a:pt x="2066676" y="2480277"/>
                  <a:pt x="2485971" y="2995293"/>
                </a:cubicBezTo>
                <a:cubicBezTo>
                  <a:pt x="2520026" y="3037146"/>
                  <a:pt x="2556241" y="3076606"/>
                  <a:pt x="2594202" y="3114143"/>
                </a:cubicBezTo>
                <a:lnTo>
                  <a:pt x="2651938" y="3166331"/>
                </a:lnTo>
                <a:lnTo>
                  <a:pt x="0" y="316633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F8B67D-CDB6-4CF2-86FE-CD86057F0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523999"/>
            <a:ext cx="4572000" cy="2285999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14.</a:t>
            </a:r>
            <a:r>
              <a:rPr lang="en-US" altLang="zh-CN" sz="4400" dirty="0"/>
              <a:t>3</a:t>
            </a:r>
            <a:r>
              <a:rPr lang="en-US" sz="4400" dirty="0"/>
              <a:t> I</a:t>
            </a:r>
            <a:r>
              <a:rPr lang="en-US" altLang="zh-CN" sz="4400" dirty="0"/>
              <a:t>somerism</a:t>
            </a:r>
            <a:endParaRPr lang="en-US" sz="4400" dirty="0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49B03CC1-EF65-45E0-A6F0-114D3F76F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933825"/>
            <a:ext cx="2431142" cy="2924175"/>
          </a:xfrm>
          <a:custGeom>
            <a:avLst/>
            <a:gdLst>
              <a:gd name="connsiteX0" fmla="*/ 0 w 2431142"/>
              <a:gd name="connsiteY0" fmla="*/ 0 h 2924175"/>
              <a:gd name="connsiteX1" fmla="*/ 3813 w 2431142"/>
              <a:gd name="connsiteY1" fmla="*/ 1480 h 2924175"/>
              <a:gd name="connsiteX2" fmla="*/ 1801293 w 2431142"/>
              <a:gd name="connsiteY2" fmla="*/ 1111068 h 2924175"/>
              <a:gd name="connsiteX3" fmla="*/ 2425734 w 2431142"/>
              <a:gd name="connsiteY3" fmla="*/ 2797078 h 2924175"/>
              <a:gd name="connsiteX4" fmla="*/ 2413860 w 2431142"/>
              <a:gd name="connsiteY4" fmla="*/ 2924175 h 2924175"/>
              <a:gd name="connsiteX5" fmla="*/ 941022 w 2431142"/>
              <a:gd name="connsiteY5" fmla="*/ 2924175 h 2924175"/>
              <a:gd name="connsiteX0" fmla="*/ 0 w 2431142"/>
              <a:gd name="connsiteY0" fmla="*/ 0 h 3015615"/>
              <a:gd name="connsiteX1" fmla="*/ 3813 w 2431142"/>
              <a:gd name="connsiteY1" fmla="*/ 1480 h 3015615"/>
              <a:gd name="connsiteX2" fmla="*/ 1801293 w 2431142"/>
              <a:gd name="connsiteY2" fmla="*/ 1111068 h 3015615"/>
              <a:gd name="connsiteX3" fmla="*/ 2425734 w 2431142"/>
              <a:gd name="connsiteY3" fmla="*/ 2797078 h 3015615"/>
              <a:gd name="connsiteX4" fmla="*/ 2413860 w 2431142"/>
              <a:gd name="connsiteY4" fmla="*/ 2924175 h 3015615"/>
              <a:gd name="connsiteX5" fmla="*/ 1032462 w 2431142"/>
              <a:gd name="connsiteY5" fmla="*/ 3015615 h 3015615"/>
              <a:gd name="connsiteX0" fmla="*/ 0 w 2431142"/>
              <a:gd name="connsiteY0" fmla="*/ 0 h 2924175"/>
              <a:gd name="connsiteX1" fmla="*/ 3813 w 2431142"/>
              <a:gd name="connsiteY1" fmla="*/ 1480 h 2924175"/>
              <a:gd name="connsiteX2" fmla="*/ 1801293 w 2431142"/>
              <a:gd name="connsiteY2" fmla="*/ 1111068 h 2924175"/>
              <a:gd name="connsiteX3" fmla="*/ 2425734 w 2431142"/>
              <a:gd name="connsiteY3" fmla="*/ 2797078 h 2924175"/>
              <a:gd name="connsiteX4" fmla="*/ 2413860 w 2431142"/>
              <a:gd name="connsiteY4" fmla="*/ 2924175 h 292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1142" h="2924175">
                <a:moveTo>
                  <a:pt x="0" y="0"/>
                </a:moveTo>
                <a:lnTo>
                  <a:pt x="3813" y="1480"/>
                </a:lnTo>
                <a:cubicBezTo>
                  <a:pt x="752659" y="310164"/>
                  <a:pt x="1398401" y="705147"/>
                  <a:pt x="1801293" y="1111068"/>
                </a:cubicBezTo>
                <a:cubicBezTo>
                  <a:pt x="2293323" y="1606409"/>
                  <a:pt x="2465054" y="2204162"/>
                  <a:pt x="2425734" y="2797078"/>
                </a:cubicBezTo>
                <a:lnTo>
                  <a:pt x="2413860" y="2924175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A06D2-ED7A-6B53-F986-61593D3DE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571999"/>
            <a:ext cx="4572000" cy="1524000"/>
          </a:xfrm>
        </p:spPr>
        <p:txBody>
          <a:bodyPr>
            <a:normAutofit/>
          </a:bodyPr>
          <a:lstStyle/>
          <a:p>
            <a:pPr algn="l"/>
            <a:endParaRPr lang="en-US" dirty="0"/>
          </a:p>
        </p:txBody>
      </p:sp>
      <p:pic>
        <p:nvPicPr>
          <p:cNvPr id="1028" name="Picture 4" descr="First Chiral Molecule Said to Shed Light on Life’s Origins | Answers in ...">
            <a:extLst>
              <a:ext uri="{FF2B5EF4-FFF2-40B4-BE49-F238E27FC236}">
                <a16:creationId xmlns:a16="http://schemas.microsoft.com/office/drawing/2014/main" id="{40914518-1E2B-448B-E25E-A9BCB6144F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9" r="18547" b="1"/>
          <a:stretch/>
        </p:blipFill>
        <p:spPr bwMode="auto">
          <a:xfrm>
            <a:off x="7695786" y="-1"/>
            <a:ext cx="4496214" cy="4712444"/>
          </a:xfrm>
          <a:custGeom>
            <a:avLst/>
            <a:gdLst/>
            <a:ahLst/>
            <a:cxnLst/>
            <a:rect l="l" t="t" r="r" b="b"/>
            <a:pathLst>
              <a:path w="4496214" h="4712444">
                <a:moveTo>
                  <a:pt x="520805" y="0"/>
                </a:moveTo>
                <a:lnTo>
                  <a:pt x="4496214" y="0"/>
                </a:lnTo>
                <a:lnTo>
                  <a:pt x="4496214" y="2870874"/>
                </a:lnTo>
                <a:lnTo>
                  <a:pt x="4327504" y="2986301"/>
                </a:lnTo>
                <a:cubicBezTo>
                  <a:pt x="4258159" y="3033104"/>
                  <a:pt x="4191380" y="3077964"/>
                  <a:pt x="4128523" y="3121316"/>
                </a:cubicBezTo>
                <a:cubicBezTo>
                  <a:pt x="3416510" y="3613182"/>
                  <a:pt x="2702940" y="4104035"/>
                  <a:pt x="1946719" y="4514203"/>
                </a:cubicBezTo>
                <a:cubicBezTo>
                  <a:pt x="1506382" y="4753298"/>
                  <a:pt x="872113" y="4891401"/>
                  <a:pt x="393090" y="4234003"/>
                </a:cubicBezTo>
                <a:cubicBezTo>
                  <a:pt x="73281" y="3794802"/>
                  <a:pt x="-2478" y="3209529"/>
                  <a:pt x="62" y="2727368"/>
                </a:cubicBezTo>
                <a:cubicBezTo>
                  <a:pt x="5227" y="1750794"/>
                  <a:pt x="200135" y="818862"/>
                  <a:pt x="513680" y="1717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8F00339E-AB33-4929-B7AA-611576663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0" y="16663"/>
            <a:ext cx="4648201" cy="4555336"/>
          </a:xfrm>
          <a:custGeom>
            <a:avLst/>
            <a:gdLst>
              <a:gd name="connsiteX0" fmla="*/ 520805 w 4496214"/>
              <a:gd name="connsiteY0" fmla="*/ 0 h 4712444"/>
              <a:gd name="connsiteX1" fmla="*/ 4496214 w 4496214"/>
              <a:gd name="connsiteY1" fmla="*/ 0 h 4712444"/>
              <a:gd name="connsiteX2" fmla="*/ 4496214 w 4496214"/>
              <a:gd name="connsiteY2" fmla="*/ 2870874 h 4712444"/>
              <a:gd name="connsiteX3" fmla="*/ 4327504 w 4496214"/>
              <a:gd name="connsiteY3" fmla="*/ 2986301 h 4712444"/>
              <a:gd name="connsiteX4" fmla="*/ 4128523 w 4496214"/>
              <a:gd name="connsiteY4" fmla="*/ 3121316 h 4712444"/>
              <a:gd name="connsiteX5" fmla="*/ 1946719 w 4496214"/>
              <a:gd name="connsiteY5" fmla="*/ 4514203 h 4712444"/>
              <a:gd name="connsiteX6" fmla="*/ 393090 w 4496214"/>
              <a:gd name="connsiteY6" fmla="*/ 4234003 h 4712444"/>
              <a:gd name="connsiteX7" fmla="*/ 62 w 4496214"/>
              <a:gd name="connsiteY7" fmla="*/ 2727368 h 4712444"/>
              <a:gd name="connsiteX8" fmla="*/ 513680 w 4496214"/>
              <a:gd name="connsiteY8" fmla="*/ 17175 h 4712444"/>
              <a:gd name="connsiteX0" fmla="*/ 4496214 w 4496214"/>
              <a:gd name="connsiteY0" fmla="*/ 0 h 4712444"/>
              <a:gd name="connsiteX1" fmla="*/ 4496214 w 4496214"/>
              <a:gd name="connsiteY1" fmla="*/ 2870874 h 4712444"/>
              <a:gd name="connsiteX2" fmla="*/ 4327504 w 4496214"/>
              <a:gd name="connsiteY2" fmla="*/ 2986301 h 4712444"/>
              <a:gd name="connsiteX3" fmla="*/ 4128523 w 4496214"/>
              <a:gd name="connsiteY3" fmla="*/ 3121316 h 4712444"/>
              <a:gd name="connsiteX4" fmla="*/ 1946719 w 4496214"/>
              <a:gd name="connsiteY4" fmla="*/ 4514203 h 4712444"/>
              <a:gd name="connsiteX5" fmla="*/ 393090 w 4496214"/>
              <a:gd name="connsiteY5" fmla="*/ 4234003 h 4712444"/>
              <a:gd name="connsiteX6" fmla="*/ 62 w 4496214"/>
              <a:gd name="connsiteY6" fmla="*/ 2727368 h 4712444"/>
              <a:gd name="connsiteX7" fmla="*/ 513680 w 4496214"/>
              <a:gd name="connsiteY7" fmla="*/ 17175 h 4712444"/>
              <a:gd name="connsiteX8" fmla="*/ 610729 w 4496214"/>
              <a:gd name="connsiteY8" fmla="*/ 94249 h 4712444"/>
              <a:gd name="connsiteX0" fmla="*/ 4496214 w 4496214"/>
              <a:gd name="connsiteY0" fmla="*/ 2853983 h 4695553"/>
              <a:gd name="connsiteX1" fmla="*/ 4327504 w 4496214"/>
              <a:gd name="connsiteY1" fmla="*/ 2969410 h 4695553"/>
              <a:gd name="connsiteX2" fmla="*/ 4128523 w 4496214"/>
              <a:gd name="connsiteY2" fmla="*/ 3104425 h 4695553"/>
              <a:gd name="connsiteX3" fmla="*/ 1946719 w 4496214"/>
              <a:gd name="connsiteY3" fmla="*/ 4497312 h 4695553"/>
              <a:gd name="connsiteX4" fmla="*/ 393090 w 4496214"/>
              <a:gd name="connsiteY4" fmla="*/ 4217112 h 4695553"/>
              <a:gd name="connsiteX5" fmla="*/ 62 w 4496214"/>
              <a:gd name="connsiteY5" fmla="*/ 2710477 h 4695553"/>
              <a:gd name="connsiteX6" fmla="*/ 513680 w 4496214"/>
              <a:gd name="connsiteY6" fmla="*/ 284 h 4695553"/>
              <a:gd name="connsiteX7" fmla="*/ 610729 w 4496214"/>
              <a:gd name="connsiteY7" fmla="*/ 77358 h 4695553"/>
              <a:gd name="connsiteX0" fmla="*/ 4496214 w 4496214"/>
              <a:gd name="connsiteY0" fmla="*/ 2853699 h 4695269"/>
              <a:gd name="connsiteX1" fmla="*/ 4327504 w 4496214"/>
              <a:gd name="connsiteY1" fmla="*/ 2969126 h 4695269"/>
              <a:gd name="connsiteX2" fmla="*/ 4128523 w 4496214"/>
              <a:gd name="connsiteY2" fmla="*/ 3104141 h 4695269"/>
              <a:gd name="connsiteX3" fmla="*/ 1946719 w 4496214"/>
              <a:gd name="connsiteY3" fmla="*/ 4497028 h 4695269"/>
              <a:gd name="connsiteX4" fmla="*/ 393090 w 4496214"/>
              <a:gd name="connsiteY4" fmla="*/ 4216828 h 4695269"/>
              <a:gd name="connsiteX5" fmla="*/ 62 w 4496214"/>
              <a:gd name="connsiteY5" fmla="*/ 2710193 h 4695269"/>
              <a:gd name="connsiteX6" fmla="*/ 513680 w 4496214"/>
              <a:gd name="connsiteY6" fmla="*/ 0 h 4695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6214" h="4695269">
                <a:moveTo>
                  <a:pt x="4496214" y="2853699"/>
                </a:moveTo>
                <a:lnTo>
                  <a:pt x="4327504" y="2969126"/>
                </a:lnTo>
                <a:lnTo>
                  <a:pt x="4128523" y="3104141"/>
                </a:lnTo>
                <a:cubicBezTo>
                  <a:pt x="3416510" y="3596007"/>
                  <a:pt x="2702940" y="4086860"/>
                  <a:pt x="1946719" y="4497028"/>
                </a:cubicBezTo>
                <a:cubicBezTo>
                  <a:pt x="1506382" y="4736123"/>
                  <a:pt x="872113" y="4874226"/>
                  <a:pt x="393090" y="4216828"/>
                </a:cubicBezTo>
                <a:cubicBezTo>
                  <a:pt x="73281" y="3777627"/>
                  <a:pt x="-2478" y="3192354"/>
                  <a:pt x="62" y="2710193"/>
                </a:cubicBezTo>
                <a:cubicBezTo>
                  <a:pt x="5227" y="1733619"/>
                  <a:pt x="200135" y="801687"/>
                  <a:pt x="513680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AutoShape 2" descr="First Chiral Molecule Said to Shed Light on Life’s Origins | Answers in ...">
            <a:extLst>
              <a:ext uri="{FF2B5EF4-FFF2-40B4-BE49-F238E27FC236}">
                <a16:creationId xmlns:a16="http://schemas.microsoft.com/office/drawing/2014/main" id="{77EAC5BB-BDB5-4B2A-636D-E475DB25C1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1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A21D-6144-BCF4-8286-CD2F654C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class, we will understand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4266-7817-A30A-05E4-651D7FCB8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different types of isomers different from each other</a:t>
            </a:r>
          </a:p>
          <a:p>
            <a:r>
              <a:rPr lang="en-US" dirty="0"/>
              <a:t>Be able to sketch the carbon chain isomers</a:t>
            </a:r>
          </a:p>
          <a:p>
            <a:r>
              <a:rPr lang="en-US" dirty="0"/>
              <a:t>Understand the cis/trans isomer in biology context</a:t>
            </a:r>
          </a:p>
          <a:p>
            <a:r>
              <a:rPr lang="en-US" dirty="0"/>
              <a:t>Be able to define an optical isomers by identifying chiral center</a:t>
            </a:r>
          </a:p>
        </p:txBody>
      </p:sp>
    </p:spTree>
    <p:extLst>
      <p:ext uri="{BB962C8B-B14F-4D97-AF65-F5344CB8AC3E}">
        <p14:creationId xmlns:p14="http://schemas.microsoft.com/office/powerpoint/2010/main" val="41440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F63E-2296-9C7A-C826-416E598C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Structural Isomer-Compounds with same molecular formula but different atomic connectivity.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208E55-62CF-7C9A-11BC-7B28B0C251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574294"/>
              </p:ext>
            </p:extLst>
          </p:nvPr>
        </p:nvGraphicFramePr>
        <p:xfrm>
          <a:off x="762000" y="2286000"/>
          <a:ext cx="10668000" cy="3817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23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CB52-0015-F5FF-F9FC-2F5C7E19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isomer-the different branching pattern of the carbon atom chain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D1BD8-C754-A71F-EF55-86199E9E59F1}"/>
              </a:ext>
            </a:extLst>
          </p:cNvPr>
          <p:cNvSpPr txBox="1"/>
          <p:nvPr/>
        </p:nvSpPr>
        <p:spPr>
          <a:xfrm>
            <a:off x="4832252" y="2497014"/>
            <a:ext cx="27860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N-octane (0)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2,2,4-trimethyl </a:t>
            </a:r>
          </a:p>
          <a:p>
            <a:r>
              <a:rPr lang="en-US" dirty="0"/>
              <a:t>Pentane (100)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0C966A-16B0-1C5A-3DB8-CD525EDB156E}"/>
              </a:ext>
            </a:extLst>
          </p:cNvPr>
          <p:cNvSpPr txBox="1"/>
          <p:nvPr/>
        </p:nvSpPr>
        <p:spPr>
          <a:xfrm>
            <a:off x="2110154" y="4999278"/>
            <a:ext cx="387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8</a:t>
            </a:r>
            <a:r>
              <a:rPr lang="en-US" dirty="0"/>
              <a:t>H</a:t>
            </a:r>
            <a:r>
              <a:rPr lang="en-US" baseline="-25000" dirty="0"/>
              <a:t>18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D95BBC-F4BA-FDD9-3FC1-020012C599B8}"/>
              </a:ext>
            </a:extLst>
          </p:cNvPr>
          <p:cNvGrpSpPr/>
          <p:nvPr/>
        </p:nvGrpSpPr>
        <p:grpSpPr>
          <a:xfrm>
            <a:off x="7135981" y="2242192"/>
            <a:ext cx="3254325" cy="4572293"/>
            <a:chOff x="7202657" y="2109861"/>
            <a:chExt cx="3810000" cy="5323603"/>
          </a:xfrm>
        </p:grpSpPr>
        <p:pic>
          <p:nvPicPr>
            <p:cNvPr id="2052" name="Picture 4" descr="Octane Rating on emaze">
              <a:extLst>
                <a:ext uri="{FF2B5EF4-FFF2-40B4-BE49-F238E27FC236}">
                  <a16:creationId xmlns:a16="http://schemas.microsoft.com/office/drawing/2014/main" id="{13478885-E761-E965-79E1-D1DFFAD0D6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2657" y="2109861"/>
              <a:ext cx="3720905" cy="2348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汽車加油還要選地方？中石油和中石化的汽油竟然不一樣？ - 每日頭條">
              <a:extLst>
                <a:ext uri="{FF2B5EF4-FFF2-40B4-BE49-F238E27FC236}">
                  <a16:creationId xmlns:a16="http://schemas.microsoft.com/office/drawing/2014/main" id="{B60F6B72-3854-E75F-E427-779BA2C8EF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2657" y="4528339"/>
              <a:ext cx="3810000" cy="2905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03539B1-0B20-066B-F2FE-A90AC9498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17780" y="2064876"/>
            <a:ext cx="4095750" cy="2895600"/>
          </a:xfrm>
        </p:spPr>
      </p:pic>
    </p:spTree>
    <p:extLst>
      <p:ext uri="{BB962C8B-B14F-4D97-AF65-F5344CB8AC3E}">
        <p14:creationId xmlns:p14="http://schemas.microsoft.com/office/powerpoint/2010/main" val="374078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5C06B-B418-8EC6-DC4E-7463E7CD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isomer-homework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A30C2-A9E8-8B6E-8F86-095854A56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Construct the chain isomers of C</a:t>
            </a:r>
            <a:r>
              <a:rPr lang="en-US" baseline="-25000" dirty="0"/>
              <a:t>7</a:t>
            </a:r>
            <a:r>
              <a:rPr lang="en-US" dirty="0"/>
              <a:t>H</a:t>
            </a:r>
            <a:r>
              <a:rPr lang="en-US" baseline="-25000" dirty="0"/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28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01C2-4776-97BD-E8A4-0D2ED34B3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isomers of C</a:t>
            </a:r>
            <a:r>
              <a:rPr lang="en-US" baseline="-25000" dirty="0"/>
              <a:t>7</a:t>
            </a:r>
            <a:r>
              <a:rPr lang="en-US" dirty="0"/>
              <a:t>H</a:t>
            </a:r>
            <a:r>
              <a:rPr lang="en-US" baseline="-25000" dirty="0"/>
              <a:t>16</a:t>
            </a:r>
            <a:endParaRPr lang="en-US" dirty="0"/>
          </a:p>
        </p:txBody>
      </p:sp>
      <p:pic>
        <p:nvPicPr>
          <p:cNvPr id="3074" name="Picture 2" descr="There are 9 different isomers of C7H16. Draw the structure of the 1 ...">
            <a:extLst>
              <a:ext uri="{FF2B5EF4-FFF2-40B4-BE49-F238E27FC236}">
                <a16:creationId xmlns:a16="http://schemas.microsoft.com/office/drawing/2014/main" id="{5EE87B15-2833-0495-CF5B-7694029B2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269" y="2052198"/>
            <a:ext cx="6633461" cy="4348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176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F998-FDF9-A74C-56BF-5036CC6E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group isomer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C8A26-47C4-6DAD-F56B-8F0A8EF0C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Ketone vs aldehyde			Ester vs carboxylic acids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722F1-1DAE-F07F-061B-E7B4F3B80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09" y="2938242"/>
            <a:ext cx="2838450" cy="2714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FC0BBF-ED99-9610-0185-44EC15045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00" y="3014442"/>
            <a:ext cx="312420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62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0928-6DAE-0C50-FF3D-62BB5122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isomer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E991-EF6C-4ED7-D6DC-D141CBAD6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249" y="2475913"/>
            <a:ext cx="10668000" cy="38180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1-propanol vs 2-propanol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D1F55-7F2F-3E2F-73CE-558DE3BD4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761" y="3495675"/>
            <a:ext cx="29146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31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B35AD-0F5B-314A-BC2F-395B1D4A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39" y="2851052"/>
            <a:ext cx="10668000" cy="1524000"/>
          </a:xfrm>
        </p:spPr>
        <p:txBody>
          <a:bodyPr>
            <a:normAutofit fontScale="90000"/>
          </a:bodyPr>
          <a:lstStyle/>
          <a:p>
            <a:r>
              <a:rPr lang="en-US" dirty="0"/>
              <a:t>Stereoisomer-same molecular formula, same atomic connectivity, but different spatial arrangement</a:t>
            </a:r>
          </a:p>
        </p:txBody>
      </p:sp>
    </p:spTree>
    <p:extLst>
      <p:ext uri="{BB962C8B-B14F-4D97-AF65-F5344CB8AC3E}">
        <p14:creationId xmlns:p14="http://schemas.microsoft.com/office/powerpoint/2010/main" val="196857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A5C5-B00F-A322-AB5B-23DD32FA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Cis/trans isomer (geometrical isomer)</a:t>
            </a:r>
            <a:endParaRPr lang="en-US" dirty="0"/>
          </a:p>
        </p:txBody>
      </p:sp>
      <p:pic>
        <p:nvPicPr>
          <p:cNvPr id="4098" name="Picture 2" descr="Type Trans Fat 0g Circled Red Stock Photo 2872897 - Shutterstock">
            <a:extLst>
              <a:ext uri="{FF2B5EF4-FFF2-40B4-BE49-F238E27FC236}">
                <a16:creationId xmlns:a16="http://schemas.microsoft.com/office/drawing/2014/main" id="{E8A3D794-3EB6-2F92-9F60-3D370C570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889" y="2480469"/>
            <a:ext cx="467201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F452D-51C3-99F9-1500-C5BA309DF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19A2F2-062D-8EA9-0221-3EE703278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70" y="2286000"/>
            <a:ext cx="605546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8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36946-4C57-CA21-03E4-5CB4285B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isomer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80B02-5647-4B7D-2A0D-8E3D36953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Optical isomers are stereoisomers with different light-rotation properties.</a:t>
            </a:r>
          </a:p>
          <a:p>
            <a:r>
              <a:rPr lang="en-US" dirty="0"/>
              <a:t>Optical isomers require a carbon center that are connected to four different atoms or groups.</a:t>
            </a:r>
          </a:p>
          <a:p>
            <a:r>
              <a:rPr lang="en-US" dirty="0"/>
              <a:t>This carbon is known as </a:t>
            </a:r>
            <a:r>
              <a:rPr lang="en-US" i="1" dirty="0"/>
              <a:t>chiral</a:t>
            </a:r>
            <a:r>
              <a:rPr lang="en-US" dirty="0"/>
              <a:t> center.</a:t>
            </a:r>
          </a:p>
        </p:txBody>
      </p:sp>
    </p:spTree>
    <p:extLst>
      <p:ext uri="{BB962C8B-B14F-4D97-AF65-F5344CB8AC3E}">
        <p14:creationId xmlns:p14="http://schemas.microsoft.com/office/powerpoint/2010/main" val="3526848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BDB-D08A-CDE9-4ACE-45EA135E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chiral carbons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665577-CEA8-8584-F677-0BB3DC3CA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24" y="2145043"/>
            <a:ext cx="4352925" cy="31432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2DC1E9-3BC6-668D-ADFA-69D625E2AB17}"/>
              </a:ext>
            </a:extLst>
          </p:cNvPr>
          <p:cNvSpPr txBox="1"/>
          <p:nvPr/>
        </p:nvSpPr>
        <p:spPr>
          <a:xfrm>
            <a:off x="1139482" y="5627077"/>
            <a:ext cx="8468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</a:t>
            </a:r>
            <a:r>
              <a:rPr lang="en-US" sz="2400"/>
              <a:t>many </a:t>
            </a:r>
            <a:r>
              <a:rPr lang="en-US" altLang="zh-CN" sz="2400"/>
              <a:t>chiral </a:t>
            </a:r>
            <a:r>
              <a:rPr lang="en-US" sz="2400"/>
              <a:t>carbons </a:t>
            </a:r>
            <a:r>
              <a:rPr lang="en-US" sz="2400" dirty="0"/>
              <a:t>can you identify in the molecule?</a:t>
            </a:r>
          </a:p>
        </p:txBody>
      </p:sp>
    </p:spTree>
    <p:extLst>
      <p:ext uri="{BB962C8B-B14F-4D97-AF65-F5344CB8AC3E}">
        <p14:creationId xmlns:p14="http://schemas.microsoft.com/office/powerpoint/2010/main" val="2223756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Freeform: Shape 5126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5138" name="Freeform: Shape 5128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139" name="Freeform: Shape 5130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5140" name="Rectangle 5132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946DA-500F-392F-6190-1B33E77A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753765"/>
            <a:ext cx="4572000" cy="30562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</a:t>
            </a:r>
            <a:r>
              <a:rPr lang="en-US" altLang="zh-CN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ptical isomer-the Thalidomide tragedy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122" name="Picture 2" descr="The Thalidomide Catastrophe by Martin Johnson, Raymond G Stokes and ...">
            <a:extLst>
              <a:ext uri="{FF2B5EF4-FFF2-40B4-BE49-F238E27FC236}">
                <a16:creationId xmlns:a16="http://schemas.microsoft.com/office/drawing/2014/main" id="{954D3AD7-FC68-5C0B-CA40-7DF2298B06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8" r="10301" b="1"/>
          <a:stretch/>
        </p:blipFill>
        <p:spPr bwMode="auto"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1" name="Freeform: Shape 5134">
            <a:extLst>
              <a:ext uri="{FF2B5EF4-FFF2-40B4-BE49-F238E27FC236}">
                <a16:creationId xmlns:a16="http://schemas.microsoft.com/office/drawing/2014/main" id="{B47A9921-6509-49C2-BEBF-924F28066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5126" name="Picture 6" descr="Thalidomide (Contergan) - Annotated Collection of Links">
            <a:extLst>
              <a:ext uri="{FF2B5EF4-FFF2-40B4-BE49-F238E27FC236}">
                <a16:creationId xmlns:a16="http://schemas.microsoft.com/office/drawing/2014/main" id="{08B09A7E-099F-BBC8-AF8B-77641357C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116" y="3793529"/>
            <a:ext cx="6112472" cy="305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01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AEC0-CBAC-B696-414A-4EB1076D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EFF33-7E47-5D68-929B-1195A7BD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difference between structural and stereoisomer?</a:t>
            </a:r>
          </a:p>
          <a:p>
            <a:r>
              <a:rPr lang="en-US" dirty="0"/>
              <a:t>Can you draw a pair of functional group isomer not shown in the slides?</a:t>
            </a:r>
          </a:p>
          <a:p>
            <a:r>
              <a:rPr lang="en-US" dirty="0"/>
              <a:t>What defines a chiral carbon?</a:t>
            </a:r>
          </a:p>
        </p:txBody>
      </p:sp>
    </p:spTree>
    <p:extLst>
      <p:ext uri="{BB962C8B-B14F-4D97-AF65-F5344CB8AC3E}">
        <p14:creationId xmlns:p14="http://schemas.microsoft.com/office/powerpoint/2010/main" val="2504304875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DarkSeedLeftStep">
      <a:dk1>
        <a:srgbClr val="000000"/>
      </a:dk1>
      <a:lt1>
        <a:srgbClr val="FFFFFF"/>
      </a:lt1>
      <a:dk2>
        <a:srgbClr val="1C2432"/>
      </a:dk2>
      <a:lt2>
        <a:srgbClr val="F1F3F0"/>
      </a:lt2>
      <a:accent1>
        <a:srgbClr val="D12CE4"/>
      </a:accent1>
      <a:accent2>
        <a:srgbClr val="721AD2"/>
      </a:accent2>
      <a:accent3>
        <a:srgbClr val="3B30E4"/>
      </a:accent3>
      <a:accent4>
        <a:srgbClr val="1A5BD2"/>
      </a:accent4>
      <a:accent5>
        <a:srgbClr val="2CBAE4"/>
      </a:accent5>
      <a:accent6>
        <a:srgbClr val="18C1A1"/>
      </a:accent6>
      <a:hlink>
        <a:srgbClr val="3F8CBF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3041</TotalTime>
  <Words>220</Words>
  <Application>Microsoft Macintosh PowerPoint</Application>
  <PresentationFormat>Widescreen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Avenir Next LT Pro</vt:lpstr>
      <vt:lpstr>Avenir Next LT Pro Light</vt:lpstr>
      <vt:lpstr>Sitka Subheading</vt:lpstr>
      <vt:lpstr>PebbleVTI</vt:lpstr>
      <vt:lpstr>14.3 Isomerism</vt:lpstr>
      <vt:lpstr>In this class, we will understand</vt:lpstr>
      <vt:lpstr>Structural Isomer-Compounds with same molecular formula but different atomic connectivity.</vt:lpstr>
      <vt:lpstr>Chain isomer-the different branching pattern of the carbon atom chain</vt:lpstr>
      <vt:lpstr>Chain isomer-homework check</vt:lpstr>
      <vt:lpstr>Chain isomers of C7H16</vt:lpstr>
      <vt:lpstr>Functional group isomer</vt:lpstr>
      <vt:lpstr>Position isomer</vt:lpstr>
      <vt:lpstr>Stereoisomer-same molecular formula, same atomic connectivity, but different spatial arrangement</vt:lpstr>
      <vt:lpstr>Cis/trans isomer (geometrical isomer)</vt:lpstr>
      <vt:lpstr>Optical isomer</vt:lpstr>
      <vt:lpstr>Identify the chiral carbons</vt:lpstr>
      <vt:lpstr>Optical isomer-the Thalidomide tragedy</vt:lpstr>
      <vt:lpstr>Plenary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14.2 Isomerism</dc:title>
  <dc:creator>Mr. Chen</dc:creator>
  <cp:lastModifiedBy>Xinyu Chen</cp:lastModifiedBy>
  <cp:revision>5</cp:revision>
  <dcterms:created xsi:type="dcterms:W3CDTF">2023-05-08T00:23:20Z</dcterms:created>
  <dcterms:modified xsi:type="dcterms:W3CDTF">2026-05-15T01:08:36Z</dcterms:modified>
</cp:coreProperties>
</file>