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69" r:id="rId16"/>
    <p:sldId id="270" r:id="rId17"/>
    <p:sldId id="271" r:id="rId18"/>
    <p:sldId id="272" r:id="rId19"/>
    <p:sldId id="279" r:id="rId20"/>
    <p:sldId id="273" r:id="rId21"/>
    <p:sldId id="280" r:id="rId22"/>
    <p:sldId id="281" r:id="rId23"/>
    <p:sldId id="282" r:id="rId24"/>
    <p:sldId id="27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45DC03-70F8-4814-9AC2-9B2E374FF11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78"/>
            <p14:sldId id="269"/>
            <p14:sldId id="270"/>
            <p14:sldId id="271"/>
            <p14:sldId id="272"/>
            <p14:sldId id="279"/>
            <p14:sldId id="273"/>
            <p14:sldId id="280"/>
            <p14:sldId id="281"/>
            <p14:sldId id="282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4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0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DB4562-C7F4-4DBD-A743-EA72284677F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0A0D20E-D77E-4D56-9250-3326494AD0C1}">
      <dgm:prSet/>
      <dgm:spPr/>
      <dgm:t>
        <a:bodyPr/>
        <a:lstStyle/>
        <a:p>
          <a:r>
            <a:rPr lang="en-US"/>
            <a:t>Understand the historical view of acid and base</a:t>
          </a:r>
        </a:p>
      </dgm:t>
    </dgm:pt>
    <dgm:pt modelId="{473F6111-041B-43E6-9696-B103BEBE74EC}" type="parTrans" cxnId="{A83CA8A0-177E-4C22-9510-C34AA3C9E15E}">
      <dgm:prSet/>
      <dgm:spPr/>
      <dgm:t>
        <a:bodyPr/>
        <a:lstStyle/>
        <a:p>
          <a:endParaRPr lang="en-US"/>
        </a:p>
      </dgm:t>
    </dgm:pt>
    <dgm:pt modelId="{DBE3260A-05F1-4752-8387-24A1B70E0199}" type="sibTrans" cxnId="{A83CA8A0-177E-4C22-9510-C34AA3C9E15E}">
      <dgm:prSet/>
      <dgm:spPr/>
      <dgm:t>
        <a:bodyPr/>
        <a:lstStyle/>
        <a:p>
          <a:endParaRPr lang="en-US"/>
        </a:p>
      </dgm:t>
    </dgm:pt>
    <dgm:pt modelId="{16931167-625D-4601-83E3-1EC28CA03F70}">
      <dgm:prSet/>
      <dgm:spPr/>
      <dgm:t>
        <a:bodyPr/>
        <a:lstStyle/>
        <a:p>
          <a:r>
            <a:rPr lang="en-US"/>
            <a:t>Be able to use pH to indicate the acidity or basicity</a:t>
          </a:r>
        </a:p>
      </dgm:t>
    </dgm:pt>
    <dgm:pt modelId="{39B7C69C-A2BE-4EDA-B134-7E773345C76F}" type="parTrans" cxnId="{BDDF9264-3E08-49E5-9207-15534C5FD766}">
      <dgm:prSet/>
      <dgm:spPr/>
      <dgm:t>
        <a:bodyPr/>
        <a:lstStyle/>
        <a:p>
          <a:endParaRPr lang="en-US"/>
        </a:p>
      </dgm:t>
    </dgm:pt>
    <dgm:pt modelId="{62AC8D52-7CF5-46F2-9334-EAE3E7D6A616}" type="sibTrans" cxnId="{BDDF9264-3E08-49E5-9207-15534C5FD766}">
      <dgm:prSet/>
      <dgm:spPr/>
      <dgm:t>
        <a:bodyPr/>
        <a:lstStyle/>
        <a:p>
          <a:endParaRPr lang="en-US"/>
        </a:p>
      </dgm:t>
    </dgm:pt>
    <dgm:pt modelId="{5F6D7681-73A4-4DE2-8869-044A10FAD6F6}">
      <dgm:prSet/>
      <dgm:spPr/>
      <dgm:t>
        <a:bodyPr/>
        <a:lstStyle/>
        <a:p>
          <a:r>
            <a:rPr lang="en-US"/>
            <a:t>pKa and pKb</a:t>
          </a:r>
        </a:p>
      </dgm:t>
    </dgm:pt>
    <dgm:pt modelId="{0C3C60FC-53B0-4A9D-8BF8-9B2958FDDD97}" type="parTrans" cxnId="{E7D6588D-AA46-4F1C-BF71-7262F93E9BDE}">
      <dgm:prSet/>
      <dgm:spPr/>
      <dgm:t>
        <a:bodyPr/>
        <a:lstStyle/>
        <a:p>
          <a:endParaRPr lang="en-US"/>
        </a:p>
      </dgm:t>
    </dgm:pt>
    <dgm:pt modelId="{1BC3402E-79D0-43D5-A12C-5689E8E421E4}" type="sibTrans" cxnId="{E7D6588D-AA46-4F1C-BF71-7262F93E9BDE}">
      <dgm:prSet/>
      <dgm:spPr/>
      <dgm:t>
        <a:bodyPr/>
        <a:lstStyle/>
        <a:p>
          <a:endParaRPr lang="en-US"/>
        </a:p>
      </dgm:t>
    </dgm:pt>
    <dgm:pt modelId="{C265CD89-44BF-4591-A801-8A3BEF0B555C}">
      <dgm:prSet/>
      <dgm:spPr/>
      <dgm:t>
        <a:bodyPr/>
        <a:lstStyle/>
        <a:p>
          <a:r>
            <a:rPr lang="en-US" dirty="0"/>
            <a:t>Calculate the pH and pOH of different acids and bases</a:t>
          </a:r>
        </a:p>
      </dgm:t>
    </dgm:pt>
    <dgm:pt modelId="{410EF52E-05BA-4970-A3A3-674780CB0D01}" type="parTrans" cxnId="{BD26223E-5F1A-4C6C-81A8-909B207F1DA8}">
      <dgm:prSet/>
      <dgm:spPr/>
      <dgm:t>
        <a:bodyPr/>
        <a:lstStyle/>
        <a:p>
          <a:endParaRPr lang="en-US"/>
        </a:p>
      </dgm:t>
    </dgm:pt>
    <dgm:pt modelId="{8B3C425B-4335-4F45-A9AF-A66242245FDC}" type="sibTrans" cxnId="{BD26223E-5F1A-4C6C-81A8-909B207F1DA8}">
      <dgm:prSet/>
      <dgm:spPr/>
      <dgm:t>
        <a:bodyPr/>
        <a:lstStyle/>
        <a:p>
          <a:endParaRPr lang="en-US"/>
        </a:p>
      </dgm:t>
    </dgm:pt>
    <dgm:pt modelId="{27AE59FD-7A06-4D99-88D3-9443C06DF588}" type="pres">
      <dgm:prSet presAssocID="{6BDB4562-C7F4-4DBD-A743-EA72284677FB}" presName="linear" presStyleCnt="0">
        <dgm:presLayoutVars>
          <dgm:animLvl val="lvl"/>
          <dgm:resizeHandles val="exact"/>
        </dgm:presLayoutVars>
      </dgm:prSet>
      <dgm:spPr/>
    </dgm:pt>
    <dgm:pt modelId="{9D036088-0C2E-4FA2-9389-6D819F809455}" type="pres">
      <dgm:prSet presAssocID="{D0A0D20E-D77E-4D56-9250-3326494AD0C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08D7CFB-3353-46FE-BE2A-204EB6447159}" type="pres">
      <dgm:prSet presAssocID="{DBE3260A-05F1-4752-8387-24A1B70E0199}" presName="spacer" presStyleCnt="0"/>
      <dgm:spPr/>
    </dgm:pt>
    <dgm:pt modelId="{71E497AA-5F68-41A9-9835-8DFAFB837317}" type="pres">
      <dgm:prSet presAssocID="{16931167-625D-4601-83E3-1EC28CA03F7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4C1C1F-1828-48F0-9252-97E4C6C8545E}" type="pres">
      <dgm:prSet presAssocID="{62AC8D52-7CF5-46F2-9334-EAE3E7D6A616}" presName="spacer" presStyleCnt="0"/>
      <dgm:spPr/>
    </dgm:pt>
    <dgm:pt modelId="{843E64BE-11A2-4B21-B0A5-C5BE026C956A}" type="pres">
      <dgm:prSet presAssocID="{5F6D7681-73A4-4DE2-8869-044A10FAD6F6}" presName="parentText" presStyleLbl="node1" presStyleIdx="2" presStyleCnt="4" custLinFactY="100000" custLinFactNeighborX="-316" custLinFactNeighborY="171367">
        <dgm:presLayoutVars>
          <dgm:chMax val="0"/>
          <dgm:bulletEnabled val="1"/>
        </dgm:presLayoutVars>
      </dgm:prSet>
      <dgm:spPr/>
    </dgm:pt>
    <dgm:pt modelId="{BF03FE9E-426C-4A9E-89D7-799CA3E3CD71}" type="pres">
      <dgm:prSet presAssocID="{1BC3402E-79D0-43D5-A12C-5689E8E421E4}" presName="spacer" presStyleCnt="0"/>
      <dgm:spPr/>
    </dgm:pt>
    <dgm:pt modelId="{6144772B-66B5-435C-950F-F54DA55E698F}" type="pres">
      <dgm:prSet presAssocID="{C265CD89-44BF-4591-A801-8A3BEF0B555C}" presName="parentText" presStyleLbl="node1" presStyleIdx="3" presStyleCnt="4" custLinFactY="-99923" custLinFactNeighborX="-105" custLinFactNeighborY="-100000">
        <dgm:presLayoutVars>
          <dgm:chMax val="0"/>
          <dgm:bulletEnabled val="1"/>
        </dgm:presLayoutVars>
      </dgm:prSet>
      <dgm:spPr/>
    </dgm:pt>
  </dgm:ptLst>
  <dgm:cxnLst>
    <dgm:cxn modelId="{DF33A809-E374-427E-8F76-E1DB06CFCDDF}" type="presOf" srcId="{5F6D7681-73A4-4DE2-8869-044A10FAD6F6}" destId="{843E64BE-11A2-4B21-B0A5-C5BE026C956A}" srcOrd="0" destOrd="0" presId="urn:microsoft.com/office/officeart/2005/8/layout/vList2"/>
    <dgm:cxn modelId="{398C630A-1526-47BF-9440-E75C9309F17C}" type="presOf" srcId="{6BDB4562-C7F4-4DBD-A743-EA72284677FB}" destId="{27AE59FD-7A06-4D99-88D3-9443C06DF588}" srcOrd="0" destOrd="0" presId="urn:microsoft.com/office/officeart/2005/8/layout/vList2"/>
    <dgm:cxn modelId="{BD26223E-5F1A-4C6C-81A8-909B207F1DA8}" srcId="{6BDB4562-C7F4-4DBD-A743-EA72284677FB}" destId="{C265CD89-44BF-4591-A801-8A3BEF0B555C}" srcOrd="3" destOrd="0" parTransId="{410EF52E-05BA-4970-A3A3-674780CB0D01}" sibTransId="{8B3C425B-4335-4F45-A9AF-A66242245FDC}"/>
    <dgm:cxn modelId="{BDDF9264-3E08-49E5-9207-15534C5FD766}" srcId="{6BDB4562-C7F4-4DBD-A743-EA72284677FB}" destId="{16931167-625D-4601-83E3-1EC28CA03F70}" srcOrd="1" destOrd="0" parTransId="{39B7C69C-A2BE-4EDA-B134-7E773345C76F}" sibTransId="{62AC8D52-7CF5-46F2-9334-EAE3E7D6A616}"/>
    <dgm:cxn modelId="{E7D6588D-AA46-4F1C-BF71-7262F93E9BDE}" srcId="{6BDB4562-C7F4-4DBD-A743-EA72284677FB}" destId="{5F6D7681-73A4-4DE2-8869-044A10FAD6F6}" srcOrd="2" destOrd="0" parTransId="{0C3C60FC-53B0-4A9D-8BF8-9B2958FDDD97}" sibTransId="{1BC3402E-79D0-43D5-A12C-5689E8E421E4}"/>
    <dgm:cxn modelId="{22172394-8B04-43B7-B263-F2B5116D48B4}" type="presOf" srcId="{D0A0D20E-D77E-4D56-9250-3326494AD0C1}" destId="{9D036088-0C2E-4FA2-9389-6D819F809455}" srcOrd="0" destOrd="0" presId="urn:microsoft.com/office/officeart/2005/8/layout/vList2"/>
    <dgm:cxn modelId="{A83CA8A0-177E-4C22-9510-C34AA3C9E15E}" srcId="{6BDB4562-C7F4-4DBD-A743-EA72284677FB}" destId="{D0A0D20E-D77E-4D56-9250-3326494AD0C1}" srcOrd="0" destOrd="0" parTransId="{473F6111-041B-43E6-9696-B103BEBE74EC}" sibTransId="{DBE3260A-05F1-4752-8387-24A1B70E0199}"/>
    <dgm:cxn modelId="{2ED20FC9-42DD-479D-B1F7-F866AD833DF6}" type="presOf" srcId="{C265CD89-44BF-4591-A801-8A3BEF0B555C}" destId="{6144772B-66B5-435C-950F-F54DA55E698F}" srcOrd="0" destOrd="0" presId="urn:microsoft.com/office/officeart/2005/8/layout/vList2"/>
    <dgm:cxn modelId="{973768D8-366A-488D-8989-FFCF79135293}" type="presOf" srcId="{16931167-625D-4601-83E3-1EC28CA03F70}" destId="{71E497AA-5F68-41A9-9835-8DFAFB837317}" srcOrd="0" destOrd="0" presId="urn:microsoft.com/office/officeart/2005/8/layout/vList2"/>
    <dgm:cxn modelId="{AB79C770-CA2D-4B16-9204-8D23B8E80131}" type="presParOf" srcId="{27AE59FD-7A06-4D99-88D3-9443C06DF588}" destId="{9D036088-0C2E-4FA2-9389-6D819F809455}" srcOrd="0" destOrd="0" presId="urn:microsoft.com/office/officeart/2005/8/layout/vList2"/>
    <dgm:cxn modelId="{A7F0F8A9-977E-41B2-A3CC-23442ADF5027}" type="presParOf" srcId="{27AE59FD-7A06-4D99-88D3-9443C06DF588}" destId="{908D7CFB-3353-46FE-BE2A-204EB6447159}" srcOrd="1" destOrd="0" presId="urn:microsoft.com/office/officeart/2005/8/layout/vList2"/>
    <dgm:cxn modelId="{1F1B09AB-60A4-4BB1-B478-07ECDF2633B8}" type="presParOf" srcId="{27AE59FD-7A06-4D99-88D3-9443C06DF588}" destId="{71E497AA-5F68-41A9-9835-8DFAFB837317}" srcOrd="2" destOrd="0" presId="urn:microsoft.com/office/officeart/2005/8/layout/vList2"/>
    <dgm:cxn modelId="{C66053F4-4A8F-47E4-9297-74C66C57ABB3}" type="presParOf" srcId="{27AE59FD-7A06-4D99-88D3-9443C06DF588}" destId="{DF4C1C1F-1828-48F0-9252-97E4C6C8545E}" srcOrd="3" destOrd="0" presId="urn:microsoft.com/office/officeart/2005/8/layout/vList2"/>
    <dgm:cxn modelId="{B244303A-F81B-43B2-A504-5B7135555284}" type="presParOf" srcId="{27AE59FD-7A06-4D99-88D3-9443C06DF588}" destId="{843E64BE-11A2-4B21-B0A5-C5BE026C956A}" srcOrd="4" destOrd="0" presId="urn:microsoft.com/office/officeart/2005/8/layout/vList2"/>
    <dgm:cxn modelId="{C9343E44-D453-4B5B-9EB1-85DFE1745CA9}" type="presParOf" srcId="{27AE59FD-7A06-4D99-88D3-9443C06DF588}" destId="{BF03FE9E-426C-4A9E-89D7-799CA3E3CD71}" srcOrd="5" destOrd="0" presId="urn:microsoft.com/office/officeart/2005/8/layout/vList2"/>
    <dgm:cxn modelId="{D03A7CDC-0348-4A65-808B-86D2A8C7EC89}" type="presParOf" srcId="{27AE59FD-7A06-4D99-88D3-9443C06DF588}" destId="{6144772B-66B5-435C-950F-F54DA55E698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FA9AB9-A92A-4BB1-B3F4-87F24A259C5C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DA79D86-8E13-4ED9-AD1D-8BACDEB147C5}">
      <dgm:prSet/>
      <dgm:spPr/>
      <dgm:t>
        <a:bodyPr/>
        <a:lstStyle/>
        <a:p>
          <a:r>
            <a:rPr lang="en-US"/>
            <a:t>What’s the definition of acid and base in Arrehenius, Bronsted-Lowry, and Lewis definition?</a:t>
          </a:r>
        </a:p>
      </dgm:t>
    </dgm:pt>
    <dgm:pt modelId="{A5AE5E0B-DFE1-4919-9C8F-CDF0D8D15044}" type="parTrans" cxnId="{350FFB75-E2CF-4A74-808B-FE7BBE15E213}">
      <dgm:prSet/>
      <dgm:spPr/>
      <dgm:t>
        <a:bodyPr/>
        <a:lstStyle/>
        <a:p>
          <a:endParaRPr lang="en-US"/>
        </a:p>
      </dgm:t>
    </dgm:pt>
    <dgm:pt modelId="{4996567D-D348-4250-B776-1D6B4CFC41A0}" type="sibTrans" cxnId="{350FFB75-E2CF-4A74-808B-FE7BBE15E213}">
      <dgm:prSet/>
      <dgm:spPr/>
      <dgm:t>
        <a:bodyPr/>
        <a:lstStyle/>
        <a:p>
          <a:endParaRPr lang="en-US"/>
        </a:p>
      </dgm:t>
    </dgm:pt>
    <dgm:pt modelId="{6E527AD1-1080-4349-B978-C56517979A4A}">
      <dgm:prSet/>
      <dgm:spPr/>
      <dgm:t>
        <a:bodyPr/>
        <a:lstStyle/>
        <a:p>
          <a:r>
            <a:rPr lang="en-US"/>
            <a:t>What indicates the acidity in solution?</a:t>
          </a:r>
        </a:p>
      </dgm:t>
    </dgm:pt>
    <dgm:pt modelId="{9D72A317-1F5C-4012-8A5E-965A03412AC1}" type="parTrans" cxnId="{4FD2BCB5-6F23-4BE3-822B-07138BD388B6}">
      <dgm:prSet/>
      <dgm:spPr/>
      <dgm:t>
        <a:bodyPr/>
        <a:lstStyle/>
        <a:p>
          <a:endParaRPr lang="en-US"/>
        </a:p>
      </dgm:t>
    </dgm:pt>
    <dgm:pt modelId="{63BB5E0E-FF9A-40C1-96C3-CA1083212B25}" type="sibTrans" cxnId="{4FD2BCB5-6F23-4BE3-822B-07138BD388B6}">
      <dgm:prSet/>
      <dgm:spPr/>
      <dgm:t>
        <a:bodyPr/>
        <a:lstStyle/>
        <a:p>
          <a:endParaRPr lang="en-US"/>
        </a:p>
      </dgm:t>
    </dgm:pt>
    <dgm:pt modelId="{D8AF2EC9-79FB-4BB4-85B2-28F74968285E}">
      <dgm:prSet/>
      <dgm:spPr/>
      <dgm:t>
        <a:bodyPr/>
        <a:lstStyle/>
        <a:p>
          <a:r>
            <a:rPr lang="en-US"/>
            <a:t>What is strong acid? What is weak acid?</a:t>
          </a:r>
        </a:p>
      </dgm:t>
    </dgm:pt>
    <dgm:pt modelId="{1F8999B3-9C1A-43F1-8267-5F2DF629EA8E}" type="parTrans" cxnId="{89EEA767-94D7-4BC7-8602-F623C480C652}">
      <dgm:prSet/>
      <dgm:spPr/>
      <dgm:t>
        <a:bodyPr/>
        <a:lstStyle/>
        <a:p>
          <a:endParaRPr lang="en-US"/>
        </a:p>
      </dgm:t>
    </dgm:pt>
    <dgm:pt modelId="{5B2ACCB0-0EE1-4365-88BC-0AED71604919}" type="sibTrans" cxnId="{89EEA767-94D7-4BC7-8602-F623C480C652}">
      <dgm:prSet/>
      <dgm:spPr/>
      <dgm:t>
        <a:bodyPr/>
        <a:lstStyle/>
        <a:p>
          <a:endParaRPr lang="en-US"/>
        </a:p>
      </dgm:t>
    </dgm:pt>
    <dgm:pt modelId="{1C0468E4-8DBB-4C7A-B1AF-3CD88C3385CB}" type="pres">
      <dgm:prSet presAssocID="{4DFA9AB9-A92A-4BB1-B3F4-87F24A259C5C}" presName="vert0" presStyleCnt="0">
        <dgm:presLayoutVars>
          <dgm:dir/>
          <dgm:animOne val="branch"/>
          <dgm:animLvl val="lvl"/>
        </dgm:presLayoutVars>
      </dgm:prSet>
      <dgm:spPr/>
    </dgm:pt>
    <dgm:pt modelId="{CA41956A-410B-4843-A50F-6D12A21FCFEC}" type="pres">
      <dgm:prSet presAssocID="{8DA79D86-8E13-4ED9-AD1D-8BACDEB147C5}" presName="thickLine" presStyleLbl="alignNode1" presStyleIdx="0" presStyleCnt="3"/>
      <dgm:spPr/>
    </dgm:pt>
    <dgm:pt modelId="{098EAA54-3E93-4FF9-98A8-654AC4B2D1E1}" type="pres">
      <dgm:prSet presAssocID="{8DA79D86-8E13-4ED9-AD1D-8BACDEB147C5}" presName="horz1" presStyleCnt="0"/>
      <dgm:spPr/>
    </dgm:pt>
    <dgm:pt modelId="{35AF07B2-4E0A-4114-B256-DE40B7B7564F}" type="pres">
      <dgm:prSet presAssocID="{8DA79D86-8E13-4ED9-AD1D-8BACDEB147C5}" presName="tx1" presStyleLbl="revTx" presStyleIdx="0" presStyleCnt="3"/>
      <dgm:spPr/>
    </dgm:pt>
    <dgm:pt modelId="{7D2F1695-828E-4E2F-BB94-A63ABD3304B5}" type="pres">
      <dgm:prSet presAssocID="{8DA79D86-8E13-4ED9-AD1D-8BACDEB147C5}" presName="vert1" presStyleCnt="0"/>
      <dgm:spPr/>
    </dgm:pt>
    <dgm:pt modelId="{288032CB-980D-4E72-A91E-03E7A76C9B9D}" type="pres">
      <dgm:prSet presAssocID="{6E527AD1-1080-4349-B978-C56517979A4A}" presName="thickLine" presStyleLbl="alignNode1" presStyleIdx="1" presStyleCnt="3"/>
      <dgm:spPr/>
    </dgm:pt>
    <dgm:pt modelId="{A1CB32ED-9B06-419E-8F9B-61E05F2C1473}" type="pres">
      <dgm:prSet presAssocID="{6E527AD1-1080-4349-B978-C56517979A4A}" presName="horz1" presStyleCnt="0"/>
      <dgm:spPr/>
    </dgm:pt>
    <dgm:pt modelId="{41885402-AB59-4DCE-9C8F-51AE9EE46667}" type="pres">
      <dgm:prSet presAssocID="{6E527AD1-1080-4349-B978-C56517979A4A}" presName="tx1" presStyleLbl="revTx" presStyleIdx="1" presStyleCnt="3"/>
      <dgm:spPr/>
    </dgm:pt>
    <dgm:pt modelId="{46C66E98-7415-41B2-8ED5-B58D425705C4}" type="pres">
      <dgm:prSet presAssocID="{6E527AD1-1080-4349-B978-C56517979A4A}" presName="vert1" presStyleCnt="0"/>
      <dgm:spPr/>
    </dgm:pt>
    <dgm:pt modelId="{36CD445C-D428-4516-8E0F-9DCB49DAC448}" type="pres">
      <dgm:prSet presAssocID="{D8AF2EC9-79FB-4BB4-85B2-28F74968285E}" presName="thickLine" presStyleLbl="alignNode1" presStyleIdx="2" presStyleCnt="3"/>
      <dgm:spPr/>
    </dgm:pt>
    <dgm:pt modelId="{6C663650-C140-46B3-B6BC-F88D2EE203E3}" type="pres">
      <dgm:prSet presAssocID="{D8AF2EC9-79FB-4BB4-85B2-28F74968285E}" presName="horz1" presStyleCnt="0"/>
      <dgm:spPr/>
    </dgm:pt>
    <dgm:pt modelId="{BE249803-9A11-4D2B-9B02-E475B5948714}" type="pres">
      <dgm:prSet presAssocID="{D8AF2EC9-79FB-4BB4-85B2-28F74968285E}" presName="tx1" presStyleLbl="revTx" presStyleIdx="2" presStyleCnt="3"/>
      <dgm:spPr/>
    </dgm:pt>
    <dgm:pt modelId="{D5E130C3-4A25-497B-813C-AEC8C70F17C8}" type="pres">
      <dgm:prSet presAssocID="{D8AF2EC9-79FB-4BB4-85B2-28F74968285E}" presName="vert1" presStyleCnt="0"/>
      <dgm:spPr/>
    </dgm:pt>
  </dgm:ptLst>
  <dgm:cxnLst>
    <dgm:cxn modelId="{27D18350-4E7B-46E8-92E6-ADA26D8958C2}" type="presOf" srcId="{6E527AD1-1080-4349-B978-C56517979A4A}" destId="{41885402-AB59-4DCE-9C8F-51AE9EE46667}" srcOrd="0" destOrd="0" presId="urn:microsoft.com/office/officeart/2008/layout/LinedList"/>
    <dgm:cxn modelId="{01757F5E-15ED-428C-8357-CD5AB85A1EDF}" type="presOf" srcId="{4DFA9AB9-A92A-4BB1-B3F4-87F24A259C5C}" destId="{1C0468E4-8DBB-4C7A-B1AF-3CD88C3385CB}" srcOrd="0" destOrd="0" presId="urn:microsoft.com/office/officeart/2008/layout/LinedList"/>
    <dgm:cxn modelId="{89EEA767-94D7-4BC7-8602-F623C480C652}" srcId="{4DFA9AB9-A92A-4BB1-B3F4-87F24A259C5C}" destId="{D8AF2EC9-79FB-4BB4-85B2-28F74968285E}" srcOrd="2" destOrd="0" parTransId="{1F8999B3-9C1A-43F1-8267-5F2DF629EA8E}" sibTransId="{5B2ACCB0-0EE1-4365-88BC-0AED71604919}"/>
    <dgm:cxn modelId="{350FFB75-E2CF-4A74-808B-FE7BBE15E213}" srcId="{4DFA9AB9-A92A-4BB1-B3F4-87F24A259C5C}" destId="{8DA79D86-8E13-4ED9-AD1D-8BACDEB147C5}" srcOrd="0" destOrd="0" parTransId="{A5AE5E0B-DFE1-4919-9C8F-CDF0D8D15044}" sibTransId="{4996567D-D348-4250-B776-1D6B4CFC41A0}"/>
    <dgm:cxn modelId="{958E7A7D-20EB-40A9-A261-867A113B16FE}" type="presOf" srcId="{D8AF2EC9-79FB-4BB4-85B2-28F74968285E}" destId="{BE249803-9A11-4D2B-9B02-E475B5948714}" srcOrd="0" destOrd="0" presId="urn:microsoft.com/office/officeart/2008/layout/LinedList"/>
    <dgm:cxn modelId="{E0B817A5-DF1B-4742-8343-AB3F657D28A3}" type="presOf" srcId="{8DA79D86-8E13-4ED9-AD1D-8BACDEB147C5}" destId="{35AF07B2-4E0A-4114-B256-DE40B7B7564F}" srcOrd="0" destOrd="0" presId="urn:microsoft.com/office/officeart/2008/layout/LinedList"/>
    <dgm:cxn modelId="{4FD2BCB5-6F23-4BE3-822B-07138BD388B6}" srcId="{4DFA9AB9-A92A-4BB1-B3F4-87F24A259C5C}" destId="{6E527AD1-1080-4349-B978-C56517979A4A}" srcOrd="1" destOrd="0" parTransId="{9D72A317-1F5C-4012-8A5E-965A03412AC1}" sibTransId="{63BB5E0E-FF9A-40C1-96C3-CA1083212B25}"/>
    <dgm:cxn modelId="{CE280889-FAC0-48AA-AA5A-80515C5A02D5}" type="presParOf" srcId="{1C0468E4-8DBB-4C7A-B1AF-3CD88C3385CB}" destId="{CA41956A-410B-4843-A50F-6D12A21FCFEC}" srcOrd="0" destOrd="0" presId="urn:microsoft.com/office/officeart/2008/layout/LinedList"/>
    <dgm:cxn modelId="{51F1BEA9-6934-4B28-8842-C3F82C977A70}" type="presParOf" srcId="{1C0468E4-8DBB-4C7A-B1AF-3CD88C3385CB}" destId="{098EAA54-3E93-4FF9-98A8-654AC4B2D1E1}" srcOrd="1" destOrd="0" presId="urn:microsoft.com/office/officeart/2008/layout/LinedList"/>
    <dgm:cxn modelId="{C9A5E201-811E-45FB-8F95-6859130A9E41}" type="presParOf" srcId="{098EAA54-3E93-4FF9-98A8-654AC4B2D1E1}" destId="{35AF07B2-4E0A-4114-B256-DE40B7B7564F}" srcOrd="0" destOrd="0" presId="urn:microsoft.com/office/officeart/2008/layout/LinedList"/>
    <dgm:cxn modelId="{54910C84-E1CF-4C63-A207-422CDFD734AE}" type="presParOf" srcId="{098EAA54-3E93-4FF9-98A8-654AC4B2D1E1}" destId="{7D2F1695-828E-4E2F-BB94-A63ABD3304B5}" srcOrd="1" destOrd="0" presId="urn:microsoft.com/office/officeart/2008/layout/LinedList"/>
    <dgm:cxn modelId="{5B2398E2-82FC-47EC-A9DF-31310B12AA4E}" type="presParOf" srcId="{1C0468E4-8DBB-4C7A-B1AF-3CD88C3385CB}" destId="{288032CB-980D-4E72-A91E-03E7A76C9B9D}" srcOrd="2" destOrd="0" presId="urn:microsoft.com/office/officeart/2008/layout/LinedList"/>
    <dgm:cxn modelId="{5CBC7B71-F29E-4027-A47F-4EC30979FDC4}" type="presParOf" srcId="{1C0468E4-8DBB-4C7A-B1AF-3CD88C3385CB}" destId="{A1CB32ED-9B06-419E-8F9B-61E05F2C1473}" srcOrd="3" destOrd="0" presId="urn:microsoft.com/office/officeart/2008/layout/LinedList"/>
    <dgm:cxn modelId="{BB13E1CC-2E3B-4D01-B954-10AF09DEBBF2}" type="presParOf" srcId="{A1CB32ED-9B06-419E-8F9B-61E05F2C1473}" destId="{41885402-AB59-4DCE-9C8F-51AE9EE46667}" srcOrd="0" destOrd="0" presId="urn:microsoft.com/office/officeart/2008/layout/LinedList"/>
    <dgm:cxn modelId="{4C7EFA49-3ED4-4D52-B466-FBE2ACB1844B}" type="presParOf" srcId="{A1CB32ED-9B06-419E-8F9B-61E05F2C1473}" destId="{46C66E98-7415-41B2-8ED5-B58D425705C4}" srcOrd="1" destOrd="0" presId="urn:microsoft.com/office/officeart/2008/layout/LinedList"/>
    <dgm:cxn modelId="{8FB385B8-3346-4F37-B91B-D6B96E902BC5}" type="presParOf" srcId="{1C0468E4-8DBB-4C7A-B1AF-3CD88C3385CB}" destId="{36CD445C-D428-4516-8E0F-9DCB49DAC448}" srcOrd="4" destOrd="0" presId="urn:microsoft.com/office/officeart/2008/layout/LinedList"/>
    <dgm:cxn modelId="{7D04D832-94ED-48A8-9DEF-ECA3D7973FC1}" type="presParOf" srcId="{1C0468E4-8DBB-4C7A-B1AF-3CD88C3385CB}" destId="{6C663650-C140-46B3-B6BC-F88D2EE203E3}" srcOrd="5" destOrd="0" presId="urn:microsoft.com/office/officeart/2008/layout/LinedList"/>
    <dgm:cxn modelId="{02C12F83-54BE-4CF9-964E-C65E7B685F66}" type="presParOf" srcId="{6C663650-C140-46B3-B6BC-F88D2EE203E3}" destId="{BE249803-9A11-4D2B-9B02-E475B5948714}" srcOrd="0" destOrd="0" presId="urn:microsoft.com/office/officeart/2008/layout/LinedList"/>
    <dgm:cxn modelId="{B5F4B90A-075E-4DA0-9382-BA830968B0AE}" type="presParOf" srcId="{6C663650-C140-46B3-B6BC-F88D2EE203E3}" destId="{D5E130C3-4A25-497B-813C-AEC8C70F17C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036088-0C2E-4FA2-9389-6D819F809455}">
      <dsp:nvSpPr>
        <dsp:cNvPr id="0" name=""/>
        <dsp:cNvSpPr/>
      </dsp:nvSpPr>
      <dsp:spPr>
        <a:xfrm>
          <a:off x="0" y="69882"/>
          <a:ext cx="7003777" cy="1352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Understand the historical view of acid and base</a:t>
          </a:r>
        </a:p>
      </dsp:txBody>
      <dsp:txXfrm>
        <a:off x="66025" y="135907"/>
        <a:ext cx="6871727" cy="1220470"/>
      </dsp:txXfrm>
    </dsp:sp>
    <dsp:sp modelId="{71E497AA-5F68-41A9-9835-8DFAFB837317}">
      <dsp:nvSpPr>
        <dsp:cNvPr id="0" name=""/>
        <dsp:cNvSpPr/>
      </dsp:nvSpPr>
      <dsp:spPr>
        <a:xfrm>
          <a:off x="0" y="1520322"/>
          <a:ext cx="7003777" cy="1352520"/>
        </a:xfrm>
        <a:prstGeom prst="roundRect">
          <a:avLst/>
        </a:prstGeom>
        <a:solidFill>
          <a:schemeClr val="accent2">
            <a:hueOff val="-499344"/>
            <a:satOff val="-3696"/>
            <a:lumOff val="1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Be able to use pH to indicate the acidity or basicity</a:t>
          </a:r>
        </a:p>
      </dsp:txBody>
      <dsp:txXfrm>
        <a:off x="66025" y="1586347"/>
        <a:ext cx="6871727" cy="1220470"/>
      </dsp:txXfrm>
    </dsp:sp>
    <dsp:sp modelId="{843E64BE-11A2-4B21-B0A5-C5BE026C956A}">
      <dsp:nvSpPr>
        <dsp:cNvPr id="0" name=""/>
        <dsp:cNvSpPr/>
      </dsp:nvSpPr>
      <dsp:spPr>
        <a:xfrm>
          <a:off x="0" y="4491085"/>
          <a:ext cx="7003777" cy="1352520"/>
        </a:xfrm>
        <a:prstGeom prst="roundRect">
          <a:avLst/>
        </a:prstGeom>
        <a:solidFill>
          <a:schemeClr val="accent2">
            <a:hueOff val="-998688"/>
            <a:satOff val="-7393"/>
            <a:lumOff val="26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pKa and pKb</a:t>
          </a:r>
        </a:p>
      </dsp:txBody>
      <dsp:txXfrm>
        <a:off x="66025" y="4557110"/>
        <a:ext cx="6871727" cy="1220470"/>
      </dsp:txXfrm>
    </dsp:sp>
    <dsp:sp modelId="{6144772B-66B5-435C-950F-F54DA55E698F}">
      <dsp:nvSpPr>
        <dsp:cNvPr id="0" name=""/>
        <dsp:cNvSpPr/>
      </dsp:nvSpPr>
      <dsp:spPr>
        <a:xfrm>
          <a:off x="0" y="2971803"/>
          <a:ext cx="7003777" cy="1352520"/>
        </a:xfrm>
        <a:prstGeom prst="roundRect">
          <a:avLst/>
        </a:prstGeom>
        <a:solidFill>
          <a:schemeClr val="accent2">
            <a:hueOff val="-1498032"/>
            <a:satOff val="-11089"/>
            <a:lumOff val="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Calculate the pH and pOH of different acids and bases</a:t>
          </a:r>
        </a:p>
      </dsp:txBody>
      <dsp:txXfrm>
        <a:off x="66025" y="3037828"/>
        <a:ext cx="6871727" cy="12204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41956A-410B-4843-A50F-6D12A21FCFEC}">
      <dsp:nvSpPr>
        <dsp:cNvPr id="0" name=""/>
        <dsp:cNvSpPr/>
      </dsp:nvSpPr>
      <dsp:spPr>
        <a:xfrm>
          <a:off x="0" y="2853"/>
          <a:ext cx="700377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F07B2-4E0A-4114-B256-DE40B7B7564F}">
      <dsp:nvSpPr>
        <dsp:cNvPr id="0" name=""/>
        <dsp:cNvSpPr/>
      </dsp:nvSpPr>
      <dsp:spPr>
        <a:xfrm>
          <a:off x="0" y="2853"/>
          <a:ext cx="7003777" cy="194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What’s the definition of acid and base in Arrehenius, Bronsted-Lowry, and Lewis definition?</a:t>
          </a:r>
        </a:p>
      </dsp:txBody>
      <dsp:txXfrm>
        <a:off x="0" y="2853"/>
        <a:ext cx="7003777" cy="1945966"/>
      </dsp:txXfrm>
    </dsp:sp>
    <dsp:sp modelId="{288032CB-980D-4E72-A91E-03E7A76C9B9D}">
      <dsp:nvSpPr>
        <dsp:cNvPr id="0" name=""/>
        <dsp:cNvSpPr/>
      </dsp:nvSpPr>
      <dsp:spPr>
        <a:xfrm>
          <a:off x="0" y="1948819"/>
          <a:ext cx="700377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885402-AB59-4DCE-9C8F-51AE9EE46667}">
      <dsp:nvSpPr>
        <dsp:cNvPr id="0" name=""/>
        <dsp:cNvSpPr/>
      </dsp:nvSpPr>
      <dsp:spPr>
        <a:xfrm>
          <a:off x="0" y="1948819"/>
          <a:ext cx="7003777" cy="194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What indicates the acidity in solution?</a:t>
          </a:r>
        </a:p>
      </dsp:txBody>
      <dsp:txXfrm>
        <a:off x="0" y="1948819"/>
        <a:ext cx="7003777" cy="1945966"/>
      </dsp:txXfrm>
    </dsp:sp>
    <dsp:sp modelId="{36CD445C-D428-4516-8E0F-9DCB49DAC448}">
      <dsp:nvSpPr>
        <dsp:cNvPr id="0" name=""/>
        <dsp:cNvSpPr/>
      </dsp:nvSpPr>
      <dsp:spPr>
        <a:xfrm>
          <a:off x="0" y="3894785"/>
          <a:ext cx="700377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249803-9A11-4D2B-9B02-E475B5948714}">
      <dsp:nvSpPr>
        <dsp:cNvPr id="0" name=""/>
        <dsp:cNvSpPr/>
      </dsp:nvSpPr>
      <dsp:spPr>
        <a:xfrm>
          <a:off x="0" y="3894785"/>
          <a:ext cx="7003777" cy="194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What is strong acid? What is weak acid?</a:t>
          </a:r>
        </a:p>
      </dsp:txBody>
      <dsp:txXfrm>
        <a:off x="0" y="3894785"/>
        <a:ext cx="7003777" cy="1945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00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3/31/26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9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16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970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5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33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72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45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496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99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2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3/31/26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04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4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3">
            <a:extLst>
              <a:ext uri="{FF2B5EF4-FFF2-40B4-BE49-F238E27FC236}">
                <a16:creationId xmlns:a16="http://schemas.microsoft.com/office/drawing/2014/main" id="{1E644DE9-8D09-43E2-BA69-F57482CFC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6C23C919-B32E-40FF-B3D8-631316E84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61B17B84-F8A7-4053-9C9D-91E3CA7F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88951" cy="6858000"/>
          </a:xfrm>
          <a:prstGeom prst="rect">
            <a:avLst/>
          </a:prstGeom>
          <a:blipFill dpi="0" rotWithShape="1">
            <a:blip r:embed="rId2">
              <a:alphaModFix amt="30000"/>
              <a:lum bright="70000" contrast="-70000"/>
            </a:blip>
            <a:srcRect/>
            <a:tile tx="889000" ty="0" sx="100000" sy="100000" flip="xy" algn="t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B55551DE-459C-B510-4A95-C8ECC3DF49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0"/>
          </a:blip>
          <a:srcRect r="-1" b="15725"/>
          <a:stretch/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A3A438-2C29-33D9-3997-6158CCEF5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740211"/>
            <a:ext cx="7530685" cy="3163864"/>
          </a:xfrm>
        </p:spPr>
        <p:txBody>
          <a:bodyPr>
            <a:normAutofit/>
          </a:bodyPr>
          <a:lstStyle/>
          <a:p>
            <a:pPr algn="l"/>
            <a:r>
              <a:rPr lang="en-US" sz="5200" dirty="0">
                <a:solidFill>
                  <a:srgbClr val="FFFFFF"/>
                </a:solidFill>
              </a:rPr>
              <a:t>U</a:t>
            </a:r>
            <a:r>
              <a:rPr lang="en-US" altLang="zh-CN" sz="5200" dirty="0">
                <a:solidFill>
                  <a:srgbClr val="FFFFFF"/>
                </a:solidFill>
              </a:rPr>
              <a:t>nit 12 Acid and Base Chemistry</a:t>
            </a:r>
            <a:endParaRPr lang="en-US" sz="52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47EF8-5E29-A974-0F81-A07033689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074515"/>
            <a:ext cx="7583133" cy="1279124"/>
          </a:xfrm>
        </p:spPr>
        <p:txBody>
          <a:bodyPr>
            <a:normAutofit/>
          </a:bodyPr>
          <a:lstStyle/>
          <a:p>
            <a:pPr algn="l"/>
            <a:r>
              <a:rPr lang="en-US" sz="2200" dirty="0">
                <a:solidFill>
                  <a:srgbClr val="FFFFFF"/>
                </a:solidFill>
              </a:rPr>
              <a:t>Mar. 24 2026</a:t>
            </a:r>
          </a:p>
        </p:txBody>
      </p:sp>
    </p:spTree>
    <p:extLst>
      <p:ext uri="{BB962C8B-B14F-4D97-AF65-F5344CB8AC3E}">
        <p14:creationId xmlns:p14="http://schemas.microsoft.com/office/powerpoint/2010/main" val="103754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043836-9086-2F00-996E-555981F0A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What are acid and base?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10CEB-4EE5-20F1-2770-68DE78F4A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598" y="1369545"/>
            <a:ext cx="10156531" cy="972166"/>
          </a:xfrm>
        </p:spPr>
        <p:txBody>
          <a:bodyPr/>
          <a:lstStyle/>
          <a:p>
            <a:pPr marL="0" indent="0" algn="ctr" defTabSz="877824">
              <a:spcBef>
                <a:spcPts val="960"/>
              </a:spcBef>
              <a:buNone/>
            </a:pPr>
            <a:r>
              <a:rPr lang="en-US" sz="2688" kern="1200" dirty="0">
                <a:solidFill>
                  <a:schemeClr val="tx1"/>
                </a:solidFill>
              </a:rPr>
              <a:t>Let’s recall from your middle school chemistry, what do you know about acid and base?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70978-AC58-3592-FC45-E45DCBBCA655}"/>
              </a:ext>
            </a:extLst>
          </p:cNvPr>
          <p:cNvSpPr txBox="1"/>
          <p:nvPr/>
        </p:nvSpPr>
        <p:spPr>
          <a:xfrm>
            <a:off x="628910" y="2240429"/>
            <a:ext cx="439184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77824" fontAlgn="base">
              <a:spcAft>
                <a:spcPts val="600"/>
              </a:spcAft>
              <a:buFont typeface="+mj-lt"/>
              <a:buAutoNum type="arabicPeriod"/>
            </a:pPr>
            <a:r>
              <a:rPr lang="en-US" kern="1200" dirty="0">
                <a:latin typeface="ProximaNova"/>
              </a:rPr>
              <a:t>Aqueous solutions of acids are electrolytes.</a:t>
            </a:r>
          </a:p>
          <a:p>
            <a:pPr defTabSz="877824" fontAlgn="base">
              <a:spcAft>
                <a:spcPts val="600"/>
              </a:spcAft>
              <a:buFont typeface="+mj-lt"/>
              <a:buAutoNum type="arabicPeriod"/>
            </a:pPr>
            <a:r>
              <a:rPr lang="en-US" kern="1200" dirty="0">
                <a:latin typeface="ProximaNova"/>
              </a:rPr>
              <a:t>Acids have a sour taste. Lemons, vinegar, and sour candies all contain acids.</a:t>
            </a:r>
          </a:p>
          <a:p>
            <a:pPr defTabSz="877824" fontAlgn="base">
              <a:spcAft>
                <a:spcPts val="600"/>
              </a:spcAft>
              <a:buFont typeface="+mj-lt"/>
              <a:buAutoNum type="arabicPeriod"/>
            </a:pPr>
            <a:r>
              <a:rPr lang="en-US" kern="1200" dirty="0">
                <a:latin typeface="ProximaNova"/>
              </a:rPr>
              <a:t>Acids change the color of certain acid-base indicators. Two common indicators are litmus and phenolphthalein. Blue litmus turns red in the presence of an acid, while phenolphthalein turns colorless.</a:t>
            </a:r>
          </a:p>
          <a:p>
            <a:pPr defTabSz="877824" fontAlgn="base">
              <a:spcAft>
                <a:spcPts val="600"/>
              </a:spcAft>
              <a:buFont typeface="+mj-lt"/>
              <a:buAutoNum type="arabicPeriod"/>
            </a:pPr>
            <a:r>
              <a:rPr lang="en-US" kern="1200" dirty="0">
                <a:latin typeface="ProximaNova"/>
              </a:rPr>
              <a:t>Acids react with active metals to yield hydrogen gas. </a:t>
            </a:r>
          </a:p>
          <a:p>
            <a:pPr defTabSz="877824" fontAlgn="base">
              <a:spcAft>
                <a:spcPts val="600"/>
              </a:spcAft>
            </a:pPr>
            <a:endParaRPr lang="en-US" kern="1200" dirty="0">
              <a:latin typeface="ProximaNova"/>
            </a:endParaRPr>
          </a:p>
          <a:p>
            <a:pPr defTabSz="877824" fontAlgn="base">
              <a:spcAft>
                <a:spcPts val="600"/>
              </a:spcAft>
            </a:pPr>
            <a:r>
              <a:rPr lang="en-US" kern="1200" dirty="0">
                <a:latin typeface="ProximaNova"/>
              </a:rPr>
              <a:t>5.Acids react with bases to produce a salt compound and water.  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4235AF-FB37-2C9D-0C52-3FAEA4E21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1" y="5277433"/>
            <a:ext cx="3160304" cy="4220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5E38A8-8514-1503-4DE1-9919D1F6A5AF}"/>
              </a:ext>
            </a:extLst>
          </p:cNvPr>
          <p:cNvSpPr txBox="1"/>
          <p:nvPr/>
        </p:nvSpPr>
        <p:spPr>
          <a:xfrm>
            <a:off x="7647038" y="2240429"/>
            <a:ext cx="42325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buFont typeface="+mj-lt"/>
              <a:buAutoNum type="arabicPeriod"/>
            </a:pPr>
            <a:r>
              <a:rPr lang="en-US" b="0" i="0" strike="noStrike" dirty="0">
                <a:effectLst/>
                <a:latin typeface="ProximaNova"/>
              </a:rPr>
              <a:t>Aqueous solutions</a:t>
            </a:r>
            <a:r>
              <a:rPr lang="en-US" b="0" i="0" dirty="0">
                <a:effectLst/>
                <a:latin typeface="ProximaNova"/>
              </a:rPr>
              <a:t> of bases are also electrolytes. Bases can be either strong or weak, just as acids can.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ProximaNova"/>
              </a:rPr>
              <a:t>Bases often have a bitter taste and are found in foods less frequently than acids. Many bases, like soaps, are slippery to the touch.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ProximaNova"/>
              </a:rPr>
              <a:t>Bases also change the color of indicators. Litmus turns blue in the presence of a base while phenolphthalein turns pink.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ProximaNova"/>
              </a:rPr>
              <a:t>Bases do not react with metals in the way that acids do.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ProximaNova"/>
              </a:rPr>
              <a:t>Bases react with acids to produce a </a:t>
            </a:r>
            <a:r>
              <a:rPr lang="en-US" b="0" i="0" strike="noStrike" dirty="0">
                <a:effectLst/>
                <a:latin typeface="ProximaNova"/>
              </a:rPr>
              <a:t>salt</a:t>
            </a:r>
            <a:r>
              <a:rPr lang="en-US" b="0" i="0" dirty="0">
                <a:effectLst/>
                <a:latin typeface="ProximaNova"/>
              </a:rPr>
              <a:t> and water.</a:t>
            </a:r>
          </a:p>
          <a:p>
            <a:endParaRPr lang="en-US" dirty="0"/>
          </a:p>
        </p:txBody>
      </p:sp>
      <p:pic>
        <p:nvPicPr>
          <p:cNvPr id="1026" name="Picture 2" descr="Phenolphthalein turns pink in basic solutions">
            <a:extLst>
              <a:ext uri="{FF2B5EF4-FFF2-40B4-BE49-F238E27FC236}">
                <a16:creationId xmlns:a16="http://schemas.microsoft.com/office/drawing/2014/main" id="{9E130E2B-9C32-CB65-544C-7351747F6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076" y="2332293"/>
            <a:ext cx="18288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201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B05C66-B580-7D7E-EC5A-A8AD5F3FB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dirty="0"/>
              <a:t>In this class, we will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06476A-A00D-7EBE-9594-E03BAE135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0250911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661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598902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8" y="0"/>
            <a:ext cx="5989019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647E0-027C-943D-3073-FE144AC5A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0" y="586992"/>
            <a:ext cx="4953000" cy="16645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Arrhenius acid and base</a:t>
            </a:r>
          </a:p>
        </p:txBody>
      </p:sp>
      <p:pic>
        <p:nvPicPr>
          <p:cNvPr id="2050" name="Picture 2" descr="Svante Arrhenius – Biographical - NobelPrize.org">
            <a:extLst>
              <a:ext uri="{FF2B5EF4-FFF2-40B4-BE49-F238E27FC236}">
                <a16:creationId xmlns:a16="http://schemas.microsoft.com/office/drawing/2014/main" id="{5E76E3E0-3CBD-38E1-C254-26AC4445B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1253" y="377767"/>
            <a:ext cx="3769348" cy="5646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F995-F3BB-EEC8-F75D-7FBE71254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0" y="2411653"/>
            <a:ext cx="4952681" cy="3728613"/>
          </a:xfrm>
        </p:spPr>
        <p:txBody>
          <a:bodyPr>
            <a:normAutofit/>
          </a:bodyPr>
          <a:lstStyle/>
          <a:p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An </a:t>
            </a:r>
            <a:r>
              <a:rPr lang="en-US" sz="1800" b="1" i="0" strike="noStrike" dirty="0">
                <a:solidFill>
                  <a:schemeClr val="tx2"/>
                </a:solidFill>
                <a:effectLst/>
                <a:latin typeface="ProximaNova"/>
              </a:rPr>
              <a:t>Arrhenius acid</a:t>
            </a:r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 is a compound, which ionizes to yield hydrogen ions (H</a:t>
            </a:r>
            <a:r>
              <a:rPr lang="en-US" sz="1800" b="0" i="0" baseline="30000" dirty="0">
                <a:solidFill>
                  <a:schemeClr val="tx2"/>
                </a:solidFill>
                <a:effectLst/>
                <a:latin typeface="ProximaNova"/>
              </a:rPr>
              <a:t>+</a:t>
            </a:r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) in </a:t>
            </a:r>
            <a:r>
              <a:rPr lang="en-US" sz="1800" b="0" i="0" strike="noStrike" dirty="0">
                <a:solidFill>
                  <a:schemeClr val="tx2"/>
                </a:solidFill>
                <a:effectLst/>
                <a:latin typeface="ProximaNova"/>
              </a:rPr>
              <a:t>aqueous solution</a:t>
            </a:r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.</a:t>
            </a:r>
          </a:p>
          <a:p>
            <a:r>
              <a:rPr lang="en-US" sz="1800" b="0" i="0" dirty="0">
                <a:solidFill>
                  <a:schemeClr val="tx1"/>
                </a:solidFill>
                <a:effectLst/>
                <a:latin typeface="ProximaNova"/>
              </a:rPr>
              <a:t>An </a:t>
            </a:r>
            <a:r>
              <a:rPr lang="en-US" sz="1800" b="1" i="0" u="none" strike="noStrike" dirty="0">
                <a:solidFill>
                  <a:schemeClr val="tx1"/>
                </a:solidFill>
                <a:effectLst/>
                <a:latin typeface="ProximaNova"/>
              </a:rPr>
              <a:t>Arrhenius base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ProximaNova"/>
              </a:rPr>
              <a:t> is a compound, which ionizes to yield hydroxide 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ProximaNova"/>
              </a:rPr>
              <a:t>ions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ProximaNova"/>
              </a:rPr>
              <a:t> (OH</a:t>
            </a:r>
            <a:r>
              <a:rPr lang="en-US" sz="1800" b="0" i="0" baseline="30000" dirty="0">
                <a:solidFill>
                  <a:schemeClr val="tx1"/>
                </a:solidFill>
                <a:effectLst/>
                <a:latin typeface="ProximaNova"/>
              </a:rPr>
              <a:t>−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ProximaNova"/>
              </a:rPr>
              <a:t>) in 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ProximaNova"/>
              </a:rPr>
              <a:t>aqueous solution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ProximaNova"/>
              </a:rPr>
              <a:t>. 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AE2B0-B67E-CA7E-A3F1-7D4AC7C427A4}"/>
              </a:ext>
            </a:extLst>
          </p:cNvPr>
          <p:cNvSpPr txBox="1"/>
          <p:nvPr/>
        </p:nvSpPr>
        <p:spPr>
          <a:xfrm>
            <a:off x="1031253" y="5973127"/>
            <a:ext cx="4310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Svante Arrhenius (1859-1927), Nobel Prize of Chemistry in 1903. Whistleblower of global warming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C8CCEE5-72DA-577F-0A75-DEC9E635A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290" y="4347252"/>
            <a:ext cx="4762500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70ACBF-9FCD-CFBB-99F3-A3CEEDDD13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5708558"/>
            <a:ext cx="51530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208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2EBE56B-DFF0-4948-83B7-D40B66737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BF036-9631-E81D-9D96-4CFAF41D5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36" y="4871408"/>
            <a:ext cx="5996628" cy="20680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Common Arrhenius acids and bases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A80FB64-DCE9-4522-B219-46AD36DB5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07"/>
          <a:stretch/>
        </p:blipFill>
        <p:spPr>
          <a:xfrm rot="10800000">
            <a:off x="0" y="3047998"/>
            <a:ext cx="640488" cy="25483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A5D2AB-4501-A56B-E8F7-1814610CE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206" y="367648"/>
            <a:ext cx="10082540" cy="27726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2B3DEB-6071-BEE9-0080-8AA357B07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206" y="3334392"/>
            <a:ext cx="10131078" cy="197556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504D9BB-C5B4-4DB5-9217-B4CDBBE19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73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AED29-F488-A6F2-BE6C-B9BE2756B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Brønsted</a:t>
            </a:r>
            <a:r>
              <a:rPr lang="en-US" dirty="0"/>
              <a:t>-Lowry acids and 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503B5-CE86-8657-87CC-74B79C724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NH</a:t>
            </a:r>
            <a:r>
              <a:rPr lang="en-US" baseline="-25000" dirty="0"/>
              <a:t>3</a:t>
            </a:r>
            <a:r>
              <a:rPr lang="en-US" dirty="0"/>
              <a:t> an acid or base? It’s a dilemma in Arrhenius’ definition.</a:t>
            </a:r>
          </a:p>
          <a:p>
            <a:r>
              <a:rPr lang="en-US" b="0" i="0" dirty="0">
                <a:effectLst/>
                <a:latin typeface="ProximaNova"/>
              </a:rPr>
              <a:t>In 1923, a broader definition of acids and bases was independently proposed by Danish chemist Johannes </a:t>
            </a:r>
            <a:r>
              <a:rPr lang="en-US" b="0" i="0" dirty="0" err="1">
                <a:effectLst/>
                <a:latin typeface="ProximaNova"/>
              </a:rPr>
              <a:t>Brønsted</a:t>
            </a:r>
            <a:r>
              <a:rPr lang="en-US" b="0" i="0" dirty="0">
                <a:effectLst/>
                <a:latin typeface="ProximaNova"/>
              </a:rPr>
              <a:t> (1879-1947) and English chemist Thomas Lowry (1874-1936). </a:t>
            </a:r>
          </a:p>
          <a:p>
            <a:r>
              <a:rPr lang="en-US" b="0" i="0" dirty="0">
                <a:effectLst/>
                <a:latin typeface="ProximaNova"/>
              </a:rPr>
              <a:t>A </a:t>
            </a:r>
            <a:r>
              <a:rPr lang="en-US" b="1" i="0" u="none" strike="noStrike" dirty="0" err="1">
                <a:effectLst/>
                <a:latin typeface="ProximaNova"/>
              </a:rPr>
              <a:t>Brønsted</a:t>
            </a:r>
            <a:r>
              <a:rPr lang="en-US" b="1" i="0" u="none" strike="noStrike" dirty="0">
                <a:effectLst/>
                <a:latin typeface="ProximaNova"/>
              </a:rPr>
              <a:t>-Lowry acid</a:t>
            </a:r>
            <a:r>
              <a:rPr lang="en-US" b="0" i="0" dirty="0">
                <a:effectLst/>
                <a:latin typeface="ProximaNova"/>
              </a:rPr>
              <a:t> is a molecule or ion that donates a hydrogen ion in a reaction. A </a:t>
            </a:r>
            <a:r>
              <a:rPr lang="en-US" b="1" i="0" u="none" strike="noStrike" dirty="0" err="1">
                <a:effectLst/>
                <a:latin typeface="ProximaNova"/>
              </a:rPr>
              <a:t>Brønsted</a:t>
            </a:r>
            <a:r>
              <a:rPr lang="en-US" b="1" i="0" u="none" strike="noStrike" dirty="0">
                <a:effectLst/>
                <a:latin typeface="ProximaNova"/>
              </a:rPr>
              <a:t>-Lowry base</a:t>
            </a:r>
            <a:r>
              <a:rPr lang="en-US" b="0" i="0" dirty="0">
                <a:effectLst/>
                <a:latin typeface="ProximaNova"/>
              </a:rPr>
              <a:t> is a molecule or ion that accepts a hydrogen ion in a reaction.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59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EBE56B-DFF0-4948-83B7-D40B66737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12" y="-9526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0264E0-BE2E-E018-F813-897B076D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4071961"/>
            <a:ext cx="5996628" cy="20680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Brønsted-Lowry Acid-Base Reactions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504D9BB-C5B4-4DB5-9217-B4CDBBE19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80FB64-DCE9-4522-B219-46AD36DB5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07"/>
          <a:stretch/>
        </p:blipFill>
        <p:spPr>
          <a:xfrm rot="10800000">
            <a:off x="0" y="3047998"/>
            <a:ext cx="640488" cy="2548349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23290B-81BC-FD48-F78E-5E2BDAE22E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537672" y="607441"/>
            <a:ext cx="8883063" cy="16433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BFDC5B-5B74-6063-9FFF-9D35E78AC6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7672" y="2786039"/>
            <a:ext cx="8608671" cy="139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9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0" name="Rectangle 308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94" name="Rectangle 3093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96" name="Rectangle 3095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50"/>
            <a:ext cx="625465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98" name="Rectangle 3097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48" y="0"/>
            <a:ext cx="6251447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8283F6-C5AB-7149-A8B7-753866049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953000" cy="1664573"/>
          </a:xfrm>
        </p:spPr>
        <p:txBody>
          <a:bodyPr>
            <a:normAutofit/>
          </a:bodyPr>
          <a:lstStyle/>
          <a:p>
            <a:r>
              <a:rPr lang="en-US"/>
              <a:t>Lewis acids and 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0B634-0353-F9AB-8F1E-9692560A0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53"/>
            <a:ext cx="4952681" cy="3728613"/>
          </a:xfrm>
        </p:spPr>
        <p:txBody>
          <a:bodyPr>
            <a:normAutofit/>
          </a:bodyPr>
          <a:lstStyle/>
          <a:p>
            <a:r>
              <a:rPr lang="en-US" sz="1800" b="0" i="0">
                <a:effectLst/>
                <a:latin typeface="ProximaNova"/>
              </a:rPr>
              <a:t>Gilbert Lewis (1875-1946) proposed a third </a:t>
            </a:r>
            <a:r>
              <a:rPr lang="en-US" sz="1800" b="0" i="0" u="none" strike="noStrike">
                <a:effectLst/>
                <a:latin typeface="ProximaNova"/>
              </a:rPr>
              <a:t>theory</a:t>
            </a:r>
            <a:r>
              <a:rPr lang="en-US" sz="1800" b="0" i="0">
                <a:effectLst/>
                <a:latin typeface="ProximaNova"/>
              </a:rPr>
              <a:t> of acids and bases that is even more general than either the Arrhenius or Brønsted-Lowry theories. </a:t>
            </a:r>
          </a:p>
          <a:p>
            <a:r>
              <a:rPr lang="en-US" sz="1800" b="0" i="0">
                <a:effectLst/>
                <a:latin typeface="ProximaNova"/>
              </a:rPr>
              <a:t>A </a:t>
            </a:r>
            <a:r>
              <a:rPr lang="en-US" sz="1800" b="1" i="0" u="none" strike="noStrike">
                <a:effectLst/>
                <a:latin typeface="ProximaNova"/>
              </a:rPr>
              <a:t>Lewis acid</a:t>
            </a:r>
            <a:r>
              <a:rPr lang="en-US" sz="1800" b="0" i="0">
                <a:effectLst/>
                <a:latin typeface="ProximaNova"/>
              </a:rPr>
              <a:t> is a </a:t>
            </a:r>
            <a:r>
              <a:rPr lang="en-US" sz="1800" b="0" i="0" u="none" strike="noStrike">
                <a:effectLst/>
                <a:latin typeface="ProximaNova"/>
              </a:rPr>
              <a:t>substance</a:t>
            </a:r>
            <a:r>
              <a:rPr lang="en-US" sz="1800" b="0" i="0">
                <a:effectLst/>
                <a:latin typeface="ProximaNova"/>
              </a:rPr>
              <a:t> that accepts a pair of electrons to form a </a:t>
            </a:r>
            <a:r>
              <a:rPr lang="en-US" sz="1800" b="0" i="0" u="none" strike="noStrike">
                <a:effectLst/>
                <a:latin typeface="ProximaNova"/>
              </a:rPr>
              <a:t>covalent bond</a:t>
            </a:r>
            <a:r>
              <a:rPr lang="en-US" sz="1800" b="0" i="0">
                <a:effectLst/>
                <a:latin typeface="ProximaNova"/>
              </a:rPr>
              <a:t>. </a:t>
            </a:r>
          </a:p>
          <a:p>
            <a:r>
              <a:rPr lang="en-US" sz="1800" b="0" i="0">
                <a:effectLst/>
                <a:latin typeface="ProximaNova"/>
              </a:rPr>
              <a:t>A </a:t>
            </a:r>
            <a:r>
              <a:rPr lang="en-US" sz="1800" b="1" i="0" u="none" strike="noStrike">
                <a:effectLst/>
                <a:latin typeface="ProximaNova"/>
              </a:rPr>
              <a:t>Lewis base</a:t>
            </a:r>
            <a:r>
              <a:rPr lang="en-US" sz="1800" b="0" i="0">
                <a:effectLst/>
                <a:latin typeface="ProximaNova"/>
              </a:rPr>
              <a:t> is a substance that donates a pair of electrons to form a covalent bond. </a:t>
            </a:r>
            <a:endParaRPr lang="en-US" sz="180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50D14F2-D5FE-D7A7-3DED-44DE43126A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4241"/>
          <a:stretch/>
        </p:blipFill>
        <p:spPr bwMode="auto">
          <a:xfrm>
            <a:off x="6965578" y="51319"/>
            <a:ext cx="4724400" cy="571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85E1D3-43FB-4EA7-0A52-DE803F6C31DF}"/>
              </a:ext>
            </a:extLst>
          </p:cNvPr>
          <p:cNvSpPr txBox="1"/>
          <p:nvPr/>
        </p:nvSpPr>
        <p:spPr>
          <a:xfrm>
            <a:off x="7750277" y="5969783"/>
            <a:ext cx="3510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Gilbert Lewis (1875-1946)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CC9F7FC-87B5-C46F-199E-838ADC425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03" y="5307795"/>
            <a:ext cx="4762500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658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07FED-B67E-2358-8FD4-64CE04B3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5" y="-821783"/>
            <a:ext cx="4388405" cy="5580556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A summary of acid and base definition</a:t>
            </a:r>
          </a:p>
        </p:txBody>
      </p:sp>
      <p:pic>
        <p:nvPicPr>
          <p:cNvPr id="4107" name="Picture 4106">
            <a:extLst>
              <a:ext uri="{FF2B5EF4-FFF2-40B4-BE49-F238E27FC236}">
                <a16:creationId xmlns:a16="http://schemas.microsoft.com/office/drawing/2014/main" id="{48897B96-3039-4268-8B57-3076C0EDD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403"/>
          <a:stretch/>
        </p:blipFill>
        <p:spPr>
          <a:xfrm rot="10800000">
            <a:off x="-3049" y="2719660"/>
            <a:ext cx="650748" cy="2548349"/>
          </a:xfrm>
          <a:prstGeom prst="rect">
            <a:avLst/>
          </a:prstGeom>
        </p:spPr>
      </p:pic>
      <p:pic>
        <p:nvPicPr>
          <p:cNvPr id="4109" name="Picture 4108">
            <a:extLst>
              <a:ext uri="{FF2B5EF4-FFF2-40B4-BE49-F238E27FC236}">
                <a16:creationId xmlns:a16="http://schemas.microsoft.com/office/drawing/2014/main" id="{DEEA387F-FE32-404D-B9E2-0DB5D1F50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2BF45B-102A-3C38-6A55-4A761311EE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2776870"/>
              </p:ext>
            </p:extLst>
          </p:nvPr>
        </p:nvGraphicFramePr>
        <p:xfrm>
          <a:off x="4301617" y="1794764"/>
          <a:ext cx="7388940" cy="330647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62980">
                  <a:extLst>
                    <a:ext uri="{9D8B030D-6E8A-4147-A177-3AD203B41FA5}">
                      <a16:colId xmlns:a16="http://schemas.microsoft.com/office/drawing/2014/main" val="4124675228"/>
                    </a:ext>
                  </a:extLst>
                </a:gridCol>
                <a:gridCol w="2462980">
                  <a:extLst>
                    <a:ext uri="{9D8B030D-6E8A-4147-A177-3AD203B41FA5}">
                      <a16:colId xmlns:a16="http://schemas.microsoft.com/office/drawing/2014/main" val="2881693148"/>
                    </a:ext>
                  </a:extLst>
                </a:gridCol>
                <a:gridCol w="2462980">
                  <a:extLst>
                    <a:ext uri="{9D8B030D-6E8A-4147-A177-3AD203B41FA5}">
                      <a16:colId xmlns:a16="http://schemas.microsoft.com/office/drawing/2014/main" val="3800456219"/>
                    </a:ext>
                  </a:extLst>
                </a:gridCol>
              </a:tblGrid>
              <a:tr h="826619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306626"/>
                  </a:ext>
                </a:extLst>
              </a:tr>
              <a:tr h="826619">
                <a:tc>
                  <a:txBody>
                    <a:bodyPr/>
                    <a:lstStyle/>
                    <a:p>
                      <a:r>
                        <a:rPr lang="en-US" dirty="0"/>
                        <a:t>Arrhenius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804057"/>
                  </a:ext>
                </a:extLst>
              </a:tr>
              <a:tr h="826619">
                <a:tc>
                  <a:txBody>
                    <a:bodyPr/>
                    <a:lstStyle/>
                    <a:p>
                      <a:r>
                        <a:rPr lang="en-US" dirty="0"/>
                        <a:t>Bronsted-Lowry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716781"/>
                  </a:ext>
                </a:extLst>
              </a:tr>
              <a:tr h="826619">
                <a:tc>
                  <a:txBody>
                    <a:bodyPr/>
                    <a:lstStyle/>
                    <a:p>
                      <a:r>
                        <a:rPr lang="en-US" dirty="0"/>
                        <a:t>Lewis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64734"/>
                  </a:ext>
                </a:extLst>
              </a:tr>
            </a:tbl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0EECCB4F-3761-AED5-BDDB-A94DCDFD3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43" y="3184228"/>
            <a:ext cx="3473247" cy="3473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1602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D924463-4DB7-437D-85B1-7EE5042DE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108545-2EA9-4B3E-915B-295949608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32D1C9-8AD3-453F-948D-966B7A11B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" y="0"/>
            <a:ext cx="12191999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ACD4D7-3FA3-4106-AFB4-55B58A02E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457" y="739600"/>
            <a:ext cx="10768226" cy="53909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F6734-8481-B65F-AD78-17C0E62FF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1" y="1219200"/>
            <a:ext cx="9067799" cy="26811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chemeClr val="tx2"/>
                </a:solidFill>
              </a:rPr>
              <a:t>Acid...base...who is neutral?</a:t>
            </a:r>
          </a:p>
        </p:txBody>
      </p:sp>
    </p:spTree>
    <p:extLst>
      <p:ext uri="{BB962C8B-B14F-4D97-AF65-F5344CB8AC3E}">
        <p14:creationId xmlns:p14="http://schemas.microsoft.com/office/powerpoint/2010/main" val="144844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DD1F-CA11-E3FF-053A-9DFCF6766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water behaves neutral?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D68CDC-2C76-7C52-9989-1AE21BD78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4619" y="1880115"/>
            <a:ext cx="6000750" cy="7429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E98EA8-6FD0-C44E-A8D8-19EFFE58DD33}"/>
              </a:ext>
            </a:extLst>
          </p:cNvPr>
          <p:cNvSpPr txBox="1"/>
          <p:nvPr/>
        </p:nvSpPr>
        <p:spPr>
          <a:xfrm>
            <a:off x="1047135" y="2625213"/>
            <a:ext cx="99182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Let’s recall the autoionization of water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To what extent does water ionize? Write the Keq for this process.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876C73-A04F-0877-A82A-0C6E7079B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455" y="3645002"/>
            <a:ext cx="4819650" cy="895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197D9C-8654-9A05-A2CE-ACE8EB1A57D4}"/>
              </a:ext>
            </a:extLst>
          </p:cNvPr>
          <p:cNvSpPr txBox="1"/>
          <p:nvPr/>
        </p:nvSpPr>
        <p:spPr>
          <a:xfrm>
            <a:off x="1821427" y="5126699"/>
            <a:ext cx="9033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What’s the concentration of H</a:t>
            </a:r>
            <a:r>
              <a:rPr lang="en-US" sz="2400" baseline="30000" dirty="0">
                <a:solidFill>
                  <a:schemeClr val="bg1"/>
                </a:solidFill>
              </a:rPr>
              <a:t>+</a:t>
            </a:r>
            <a:r>
              <a:rPr lang="en-US" sz="2400" dirty="0">
                <a:solidFill>
                  <a:schemeClr val="bg1"/>
                </a:solidFill>
              </a:rPr>
              <a:t> and OH</a:t>
            </a:r>
            <a:r>
              <a:rPr lang="en-US" sz="2400" baseline="30000" dirty="0">
                <a:solidFill>
                  <a:schemeClr val="bg1"/>
                </a:solidFill>
              </a:rPr>
              <a:t>-</a:t>
            </a:r>
            <a:r>
              <a:rPr lang="en-US" sz="2400" dirty="0">
                <a:solidFill>
                  <a:schemeClr val="bg1"/>
                </a:solidFill>
              </a:rPr>
              <a:t> in water at 25</a:t>
            </a:r>
            <a:r>
              <a:rPr lang="en-US" sz="2400" baseline="30000" dirty="0">
                <a:solidFill>
                  <a:schemeClr val="bg1"/>
                </a:solidFill>
              </a:rPr>
              <a:t>o</a:t>
            </a:r>
            <a:r>
              <a:rPr lang="en-US" sz="2400" dirty="0">
                <a:solidFill>
                  <a:schemeClr val="bg1"/>
                </a:solidFill>
              </a:rPr>
              <a:t>C?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EC776-1E06-0D07-1E00-30C1E4955EDE}"/>
              </a:ext>
            </a:extLst>
          </p:cNvPr>
          <p:cNvSpPr txBox="1"/>
          <p:nvPr/>
        </p:nvSpPr>
        <p:spPr>
          <a:xfrm>
            <a:off x="1337186" y="5518343"/>
            <a:ext cx="1051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For an aqueous solution at 25</a:t>
            </a:r>
            <a:r>
              <a:rPr lang="en-US" sz="2800" baseline="30000" dirty="0">
                <a:solidFill>
                  <a:srgbClr val="FF0000"/>
                </a:solidFill>
              </a:rPr>
              <a:t>o</a:t>
            </a:r>
            <a:r>
              <a:rPr lang="en-US" sz="2800" dirty="0">
                <a:solidFill>
                  <a:srgbClr val="FF0000"/>
                </a:solidFill>
              </a:rPr>
              <a:t>C, the product of hydride ion concentration and hydroxide ion concentration will remain constant at 10</a:t>
            </a:r>
            <a:r>
              <a:rPr lang="en-US" sz="2800" baseline="30000" dirty="0">
                <a:solidFill>
                  <a:srgbClr val="FF0000"/>
                </a:solidFill>
              </a:rPr>
              <a:t>-14</a:t>
            </a:r>
            <a:r>
              <a:rPr lang="en-US" sz="28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231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57B7B-30D9-4515-9542-FFA699A3C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52227-2409-5620-2B5D-2953837E0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8763000" cy="16645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Sample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B6F7E-0FE2-FFC9-5563-851229D04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797" y="2384474"/>
            <a:ext cx="8762436" cy="3728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Hydrochloric acid (HCl) is a </a:t>
            </a:r>
            <a:r>
              <a:rPr lang="en-US" sz="1800" b="0" i="0" u="none" strike="noStrike" dirty="0">
                <a:solidFill>
                  <a:schemeClr val="tx2"/>
                </a:solidFill>
                <a:effectLst/>
                <a:latin typeface="ProximaNova"/>
              </a:rPr>
              <a:t>strong acid</a:t>
            </a:r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, meaning it is 100% ionized in solution. What is the [H</a:t>
            </a:r>
            <a:r>
              <a:rPr lang="en-US" sz="1800" b="0" i="0" baseline="30000" dirty="0">
                <a:solidFill>
                  <a:schemeClr val="tx2"/>
                </a:solidFill>
                <a:effectLst/>
                <a:latin typeface="ProximaNova"/>
              </a:rPr>
              <a:t>+</a:t>
            </a:r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] and the [OH</a:t>
            </a:r>
            <a:r>
              <a:rPr lang="en-US" sz="1800" b="0" i="0" baseline="30000" dirty="0">
                <a:solidFill>
                  <a:schemeClr val="tx2"/>
                </a:solidFill>
                <a:effectLst/>
                <a:latin typeface="ProximaNova"/>
              </a:rPr>
              <a:t>−</a:t>
            </a:r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] in a solution of 2.0 × 10</a:t>
            </a:r>
            <a:r>
              <a:rPr lang="en-US" sz="1800" b="0" i="0" baseline="30000" dirty="0">
                <a:solidFill>
                  <a:schemeClr val="tx2"/>
                </a:solidFill>
                <a:effectLst/>
                <a:latin typeface="ProximaNova"/>
              </a:rPr>
              <a:t>3</a:t>
            </a:r>
            <a:r>
              <a:rPr lang="en-US" sz="1800" b="0" i="0" dirty="0">
                <a:solidFill>
                  <a:schemeClr val="tx2"/>
                </a:solidFill>
                <a:effectLst/>
                <a:latin typeface="ProximaNova"/>
              </a:rPr>
              <a:t> M HCl?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29F241-2B1B-40E9-A72C-63955DFFF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8481" y="0"/>
            <a:ext cx="2143519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B4B9D7-F359-44A2-87B4-EAFA68AA9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8481" y="0"/>
            <a:ext cx="2143519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xy" algn="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783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50"/>
            <a:ext cx="625465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135" name="Rectangle 5134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48" y="0"/>
            <a:ext cx="6251447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1D7B61-FA1E-6F7F-8FEC-B9F77F8BD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953000" cy="1664573"/>
          </a:xfrm>
        </p:spPr>
        <p:txBody>
          <a:bodyPr>
            <a:normAutofit/>
          </a:bodyPr>
          <a:lstStyle/>
          <a:p>
            <a:r>
              <a:rPr lang="en-US" dirty="0"/>
              <a:t>What indicates neutral?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57D6B-02F4-B867-87FE-9B5F69E3A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53"/>
            <a:ext cx="4952681" cy="3728613"/>
          </a:xfrm>
        </p:spPr>
        <p:txBody>
          <a:bodyPr>
            <a:normAutofit/>
          </a:bodyPr>
          <a:lstStyle/>
          <a:p>
            <a:r>
              <a:rPr lang="en-US" sz="1800" dirty="0"/>
              <a:t>pH scale is used to indicate the amount of hydride ion in a solution.</a:t>
            </a:r>
          </a:p>
          <a:p>
            <a:r>
              <a:rPr lang="en-US" sz="1800" dirty="0"/>
              <a:t>pH ranges from 0-14</a:t>
            </a:r>
          </a:p>
          <a:p>
            <a:r>
              <a:rPr lang="en-US" sz="1800" b="1" i="1" dirty="0"/>
              <a:t>p</a:t>
            </a:r>
            <a:r>
              <a:rPr lang="en-US" sz="1800" dirty="0"/>
              <a:t> is a mathematical operator, means –log</a:t>
            </a:r>
            <a:r>
              <a:rPr lang="en-US" sz="1800" baseline="-25000" dirty="0"/>
              <a:t>10</a:t>
            </a:r>
            <a:r>
              <a:rPr lang="en-US" sz="1800" dirty="0"/>
              <a:t>(X)</a:t>
            </a:r>
          </a:p>
          <a:p>
            <a:r>
              <a:rPr lang="en-US" sz="1800" dirty="0"/>
              <a:t>So pH=-log</a:t>
            </a:r>
            <a:r>
              <a:rPr lang="en-US" sz="1800" baseline="-25000" dirty="0"/>
              <a:t>10</a:t>
            </a:r>
            <a:r>
              <a:rPr lang="en-US" sz="1800" dirty="0"/>
              <a:t>([H</a:t>
            </a:r>
            <a:r>
              <a:rPr lang="en-US" sz="1800" baseline="30000" dirty="0"/>
              <a:t>+</a:t>
            </a:r>
            <a:r>
              <a:rPr lang="en-US" sz="1800" dirty="0"/>
              <a:t>])</a:t>
            </a:r>
          </a:p>
          <a:p>
            <a:r>
              <a:rPr lang="en-US" sz="1800" dirty="0"/>
              <a:t>What is the pH of pure water at 25</a:t>
            </a:r>
            <a:r>
              <a:rPr lang="en-US" sz="1800" baseline="30000" dirty="0"/>
              <a:t>o</a:t>
            </a:r>
            <a:r>
              <a:rPr lang="en-US" sz="1800" dirty="0"/>
              <a:t>C?</a:t>
            </a:r>
            <a:br>
              <a:rPr lang="en-US" sz="1800" dirty="0"/>
            </a:br>
            <a:endParaRPr lang="en-US" sz="1800" dirty="0"/>
          </a:p>
        </p:txBody>
      </p:sp>
      <p:pic>
        <p:nvPicPr>
          <p:cNvPr id="5122" name="Picture 2" descr="pH values of several common materials">
            <a:extLst>
              <a:ext uri="{FF2B5EF4-FFF2-40B4-BE49-F238E27FC236}">
                <a16:creationId xmlns:a16="http://schemas.microsoft.com/office/drawing/2014/main" id="{95F06074-0E0C-27D5-F868-3645EAE992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468"/>
          <a:stretch/>
        </p:blipFill>
        <p:spPr bwMode="auto">
          <a:xfrm>
            <a:off x="6858001" y="567942"/>
            <a:ext cx="4724400" cy="571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783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9" name="Rectangle 6156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6170" name="Picture 6158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6171" name="Rectangle 6160">
            <a:extLst>
              <a:ext uri="{FF2B5EF4-FFF2-40B4-BE49-F238E27FC236}">
                <a16:creationId xmlns:a16="http://schemas.microsoft.com/office/drawing/2014/main" id="{310E06F9-9F12-4D1B-92C0-4B30818D0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172" name="Rectangle 6162">
            <a:extLst>
              <a:ext uri="{FF2B5EF4-FFF2-40B4-BE49-F238E27FC236}">
                <a16:creationId xmlns:a16="http://schemas.microsoft.com/office/drawing/2014/main" id="{8F5EFE88-F6A7-4B53-AF99-227DFC56A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173" name="Rectangle 6164">
            <a:extLst>
              <a:ext uri="{FF2B5EF4-FFF2-40B4-BE49-F238E27FC236}">
                <a16:creationId xmlns:a16="http://schemas.microsoft.com/office/drawing/2014/main" id="{BF9AF5CF-AE21-453A-8D3F-6D9FC64A1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8335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174" name="Rectangle 6166">
            <a:extLst>
              <a:ext uri="{FF2B5EF4-FFF2-40B4-BE49-F238E27FC236}">
                <a16:creationId xmlns:a16="http://schemas.microsoft.com/office/drawing/2014/main" id="{F18A41FE-6F14-49D2-8C0F-56A351A9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" y="0"/>
            <a:ext cx="5483352" cy="6857999"/>
          </a:xfrm>
          <a:prstGeom prst="rect">
            <a:avLst/>
          </a:prstGeom>
          <a:blipFill dpi="0" rotWithShape="1">
            <a:blip r:embed="rId3">
              <a:alphaModFix amt="3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xy" algn="t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183E50-7295-FFFC-5E17-D7E1FD0E0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909"/>
            <a:ext cx="4495800" cy="31554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pH measuring</a:t>
            </a:r>
            <a:endParaRPr lang="en-US" dirty="0"/>
          </a:p>
        </p:txBody>
      </p:sp>
      <p:pic>
        <p:nvPicPr>
          <p:cNvPr id="6150" name="Picture 6" descr="Litmus solution added to alkali - Stock Image - A500/0483 - Science Photo  Library">
            <a:extLst>
              <a:ext uri="{FF2B5EF4-FFF2-40B4-BE49-F238E27FC236}">
                <a16:creationId xmlns:a16="http://schemas.microsoft.com/office/drawing/2014/main" id="{292ECD7A-001E-C9D5-D2B4-5544999B33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88" r="2" b="15157"/>
          <a:stretch/>
        </p:blipFill>
        <p:spPr bwMode="auto">
          <a:xfrm>
            <a:off x="6191409" y="933067"/>
            <a:ext cx="2478845" cy="2411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Litmus Paper and the Litmus Test">
            <a:extLst>
              <a:ext uri="{FF2B5EF4-FFF2-40B4-BE49-F238E27FC236}">
                <a16:creationId xmlns:a16="http://schemas.microsoft.com/office/drawing/2014/main" id="{CA7FC65C-1F5C-DC2D-D032-3F3B870FC6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5" r="15793" b="1"/>
          <a:stretch/>
        </p:blipFill>
        <p:spPr bwMode="auto">
          <a:xfrm>
            <a:off x="8764559" y="933067"/>
            <a:ext cx="2478845" cy="2411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Always in Stock - Oakton PH 550 Benchtop pH Meter Kit from Cole-Parmer">
            <a:extLst>
              <a:ext uri="{FF2B5EF4-FFF2-40B4-BE49-F238E27FC236}">
                <a16:creationId xmlns:a16="http://schemas.microsoft.com/office/drawing/2014/main" id="{6845A27A-48C9-22F9-D962-ED5A514A87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6" r="-4" b="-4"/>
          <a:stretch/>
        </p:blipFill>
        <p:spPr bwMode="auto">
          <a:xfrm>
            <a:off x="6191409" y="3440239"/>
            <a:ext cx="2478845" cy="2411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pH Colour Change - What is a pH Indicator and pH colour Changes in  Universal Indicators, along with some FAQs">
            <a:extLst>
              <a:ext uri="{FF2B5EF4-FFF2-40B4-BE49-F238E27FC236}">
                <a16:creationId xmlns:a16="http://schemas.microsoft.com/office/drawing/2014/main" id="{1588004F-A81D-7B96-7AB0-ACD222D25E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57" r="33210" b="-3"/>
          <a:stretch/>
        </p:blipFill>
        <p:spPr bwMode="auto">
          <a:xfrm>
            <a:off x="8764559" y="3440239"/>
            <a:ext cx="2478845" cy="2411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093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A4CC6-FEF1-CB19-549D-5854F73C0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E2DB9-9DF7-BA21-80DE-8620E2574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pH of 1x10</a:t>
            </a:r>
            <a:r>
              <a:rPr lang="en-US" baseline="30000" dirty="0"/>
              <a:t>-2 </a:t>
            </a:r>
            <a:r>
              <a:rPr lang="en-US" dirty="0"/>
              <a:t>M HCl.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Calculate the pH of 2.3x10</a:t>
            </a:r>
            <a:r>
              <a:rPr lang="en-US" baseline="30000" dirty="0"/>
              <a:t>-5</a:t>
            </a:r>
            <a:r>
              <a:rPr lang="en-US" dirty="0"/>
              <a:t> M NaOH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Calculate the pOH and pH of 2.3x10</a:t>
            </a:r>
            <a:r>
              <a:rPr lang="en-US" baseline="30000" dirty="0"/>
              <a:t>-5</a:t>
            </a:r>
            <a:r>
              <a:rPr lang="en-US" dirty="0"/>
              <a:t> M NaOH</a:t>
            </a:r>
          </a:p>
        </p:txBody>
      </p:sp>
    </p:spTree>
    <p:extLst>
      <p:ext uri="{BB962C8B-B14F-4D97-AF65-F5344CB8AC3E}">
        <p14:creationId xmlns:p14="http://schemas.microsoft.com/office/powerpoint/2010/main" val="3204288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B614023-3F38-44EB-8ABB-B52E5B9E2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5F9310-ED3E-45B9-9D97-AC0F2C890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Picture 4" descr="Two cute robots">
            <a:extLst>
              <a:ext uri="{FF2B5EF4-FFF2-40B4-BE49-F238E27FC236}">
                <a16:creationId xmlns:a16="http://schemas.microsoft.com/office/drawing/2014/main" id="{C07B0E81-B4D8-E86E-72A8-81F76FD4D2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20"/>
          <a:stretch/>
        </p:blipFill>
        <p:spPr>
          <a:xfrm>
            <a:off x="20" y="1376"/>
            <a:ext cx="12191980" cy="685662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D2A0DB3-EF43-4032-9B27-954E12CCB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3124261"/>
            <a:ext cx="12188952" cy="3732362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0">
                <a:schemeClr val="tx1"/>
              </a:gs>
              <a:gs pos="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C44E9-678A-722F-556C-088F7C5D6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3523512"/>
            <a:ext cx="6198566" cy="2603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</a:rPr>
              <a:t>What’s the relationship between pH and pOH?</a:t>
            </a:r>
          </a:p>
        </p:txBody>
      </p:sp>
    </p:spTree>
    <p:extLst>
      <p:ext uri="{BB962C8B-B14F-4D97-AF65-F5344CB8AC3E}">
        <p14:creationId xmlns:p14="http://schemas.microsoft.com/office/powerpoint/2010/main" val="1030875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A3E49-6ABB-D091-D18F-3B6CFA9D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Strong acid vs. weak acid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3987A-EF5C-63B1-0D87-E1957B5A6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ProximaNova"/>
              </a:rPr>
              <a:t>Acids are classified as either strong or weak, based on their ionization in water. </a:t>
            </a:r>
          </a:p>
          <a:p>
            <a:r>
              <a:rPr lang="en-US" b="0" i="0" dirty="0">
                <a:effectLst/>
                <a:latin typeface="ProximaNova"/>
              </a:rPr>
              <a:t>A </a:t>
            </a:r>
            <a:r>
              <a:rPr lang="en-US" b="1" i="0" u="none" strike="noStrike" dirty="0">
                <a:effectLst/>
                <a:latin typeface="ProximaNova"/>
              </a:rPr>
              <a:t>strong acid</a:t>
            </a:r>
            <a:r>
              <a:rPr lang="en-US" b="0" i="0" dirty="0">
                <a:effectLst/>
                <a:latin typeface="ProximaNova"/>
              </a:rPr>
              <a:t> is an acid which is completely ionized in an </a:t>
            </a:r>
            <a:r>
              <a:rPr lang="en-US" b="0" i="0" u="none" strike="noStrike" dirty="0">
                <a:effectLst/>
                <a:latin typeface="ProximaNova"/>
              </a:rPr>
              <a:t>aqueous solution</a:t>
            </a:r>
            <a:r>
              <a:rPr lang="en-US" b="0" i="0" dirty="0">
                <a:effectLst/>
                <a:latin typeface="ProximaNova"/>
              </a:rPr>
              <a:t>. Hydrogen chloride (HCl) ionizes completely into hydrogen </a:t>
            </a:r>
            <a:r>
              <a:rPr lang="en-US" b="0" i="0" u="none" strike="noStrike" dirty="0">
                <a:effectLst/>
                <a:latin typeface="ProximaNova"/>
              </a:rPr>
              <a:t>ions</a:t>
            </a:r>
            <a:r>
              <a:rPr lang="en-US" b="0" i="0" dirty="0">
                <a:effectLst/>
                <a:latin typeface="ProximaNova"/>
              </a:rPr>
              <a:t> and chloride ions in water.</a:t>
            </a:r>
          </a:p>
          <a:p>
            <a:r>
              <a:rPr lang="en-US" b="0" i="0" dirty="0">
                <a:effectLst/>
                <a:latin typeface="ProximaNova"/>
              </a:rPr>
              <a:t>A </a:t>
            </a:r>
            <a:r>
              <a:rPr lang="en-US" b="1" i="0" u="none" strike="noStrike" dirty="0">
                <a:effectLst/>
                <a:latin typeface="ProximaNova"/>
              </a:rPr>
              <a:t>weak acid</a:t>
            </a:r>
            <a:r>
              <a:rPr lang="en-US" b="0" i="0" dirty="0">
                <a:effectLst/>
                <a:latin typeface="ProximaNova"/>
              </a:rPr>
              <a:t> is an acid that ionizes only slightly in an aqueous solution. Acetic acid (found in vinegar) is a very common weak acid. Its ionization is shown below.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653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EBE56B-DFF0-4948-83B7-D40B66737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12" y="-9526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FFB94A-21BA-328A-BBDD-CD20E6A9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791" y="4852067"/>
            <a:ext cx="5996628" cy="20680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Acid strength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504D9BB-C5B4-4DB5-9217-B4CDBBE19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80FB64-DCE9-4522-B219-46AD36DB5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07"/>
          <a:stretch/>
        </p:blipFill>
        <p:spPr>
          <a:xfrm rot="10800000">
            <a:off x="0" y="3047998"/>
            <a:ext cx="640488" cy="25483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4AE8AA-6E54-0E23-D79C-46734D898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604" y="588341"/>
            <a:ext cx="10550516" cy="453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205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25E0-447F-5CD1-6A65-4F7F53CF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A diluted acid dilemma..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8640E-A8C1-ECD1-D2CC-1BEA3EADB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What’s the</a:t>
            </a:r>
            <a:r>
              <a:rPr lang="zh-CN" altLang="en-US" dirty="0"/>
              <a:t> </a:t>
            </a:r>
            <a:r>
              <a:rPr lang="en-US" altLang="zh-CN" dirty="0"/>
              <a:t>pH</a:t>
            </a:r>
            <a:r>
              <a:rPr lang="en-CN" dirty="0"/>
              <a:t> of a 1x10</a:t>
            </a:r>
            <a:r>
              <a:rPr lang="en-CN" baseline="30000" dirty="0"/>
              <a:t>-8</a:t>
            </a:r>
            <a:r>
              <a:rPr lang="en-CN" dirty="0"/>
              <a:t> mol</a:t>
            </a:r>
            <a:r>
              <a:rPr lang="en-US" altLang="zh-CN" dirty="0"/>
              <a:t>/L</a:t>
            </a:r>
            <a:r>
              <a:rPr lang="en-CN" dirty="0"/>
              <a:t> HCl solution?</a:t>
            </a:r>
          </a:p>
          <a:p>
            <a:r>
              <a:rPr lang="en-CN" dirty="0"/>
              <a:t>Does your calculation make sense?</a:t>
            </a:r>
          </a:p>
          <a:p>
            <a:r>
              <a:rPr lang="en-CN" dirty="0"/>
              <a:t>What’s wrong with the pH system?</a:t>
            </a:r>
          </a:p>
        </p:txBody>
      </p:sp>
    </p:spTree>
    <p:extLst>
      <p:ext uri="{BB962C8B-B14F-4D97-AF65-F5344CB8AC3E}">
        <p14:creationId xmlns:p14="http://schemas.microsoft.com/office/powerpoint/2010/main" val="3837440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D29B1E-CA72-026C-C81F-4062736D2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Ka and pKa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FA15B6-5011-48C0-D803-C13AA43E9AC8}"/>
              </a:ext>
            </a:extLst>
          </p:cNvPr>
          <p:cNvSpPr txBox="1"/>
          <p:nvPr/>
        </p:nvSpPr>
        <p:spPr>
          <a:xfrm>
            <a:off x="1311569" y="2254104"/>
            <a:ext cx="10156531" cy="1096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23544">
              <a:spcAft>
                <a:spcPts val="600"/>
              </a:spcAft>
            </a:pPr>
            <a:r>
              <a:rPr lang="en-US" sz="3232" kern="1200" dirty="0">
                <a:latin typeface="+mn-lt"/>
                <a:ea typeface="+mn-ea"/>
                <a:cs typeface="+mn-cs"/>
              </a:rPr>
              <a:t>How to express the degree of dissociation by using equilibrium constant?</a:t>
            </a: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DCB64C-697C-3906-0622-FE226E782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247" y="3429000"/>
            <a:ext cx="3062054" cy="1201337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34EEC03-69D4-4095-F208-87FE506F3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3778" y="1535750"/>
            <a:ext cx="10515600" cy="41957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HA</a:t>
            </a:r>
            <a:r>
              <a:rPr lang="en-US" baseline="-25000" dirty="0">
                <a:solidFill>
                  <a:schemeClr val="tx1"/>
                </a:solidFill>
              </a:rPr>
              <a:t>(</a:t>
            </a:r>
            <a:r>
              <a:rPr lang="en-US" baseline="-25000" dirty="0" err="1">
                <a:solidFill>
                  <a:schemeClr val="tx1"/>
                </a:solidFill>
              </a:rPr>
              <a:t>aq</a:t>
            </a:r>
            <a:r>
              <a:rPr lang="en-US" baseline="-25000" dirty="0">
                <a:solidFill>
                  <a:schemeClr val="tx1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 +  H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O</a:t>
            </a:r>
            <a:r>
              <a:rPr lang="en-US" baseline="-25000" dirty="0">
                <a:solidFill>
                  <a:schemeClr val="tx1"/>
                </a:solidFill>
              </a:rPr>
              <a:t>(l)</a:t>
            </a: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 H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O</a:t>
            </a:r>
            <a:r>
              <a:rPr lang="en-US" baseline="30000" dirty="0">
                <a:solidFill>
                  <a:schemeClr val="tx1"/>
                </a:solidFill>
                <a:sym typeface="Wingdings" panose="05000000000000000000" pitchFamily="2" charset="2"/>
              </a:rPr>
              <a:t>+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(</a:t>
            </a:r>
            <a:r>
              <a:rPr lang="en-US" baseline="-25000" dirty="0" err="1">
                <a:solidFill>
                  <a:schemeClr val="tx1"/>
                </a:solidFill>
                <a:sym typeface="Wingdings" panose="05000000000000000000" pitchFamily="2" charset="2"/>
              </a:rPr>
              <a:t>aq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+ A</a:t>
            </a:r>
            <a:r>
              <a:rPr lang="en-US" baseline="30000" dirty="0">
                <a:solidFill>
                  <a:schemeClr val="tx1"/>
                </a:solidFill>
                <a:sym typeface="Wingdings" panose="05000000000000000000" pitchFamily="2" charset="2"/>
              </a:rPr>
              <a:t>-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(</a:t>
            </a:r>
            <a:r>
              <a:rPr lang="en-US" baseline="-25000" dirty="0" err="1">
                <a:solidFill>
                  <a:schemeClr val="tx1"/>
                </a:solidFill>
                <a:sym typeface="Wingdings" panose="05000000000000000000" pitchFamily="2" charset="2"/>
              </a:rPr>
              <a:t>aq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664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015C0F-634B-C379-B5DF-EBB2DFB94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51" y="809786"/>
            <a:ext cx="11880498" cy="523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49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9E7F6-EE6F-4E45-0C66-A71CA3664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Typical acid and base reactions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2E1A1-80D6-A8F7-A703-6DBEB3158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Neutralization Reactions (Most Fundamental)</a:t>
            </a:r>
          </a:p>
          <a:p>
            <a:r>
              <a:rPr lang="en-US" b="1" dirty="0"/>
              <a:t>Acid + Base → Salt + Water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General: H</a:t>
            </a:r>
            <a:r>
              <a:rPr lang="en-US" baseline="30000" dirty="0"/>
              <a:t>+</a:t>
            </a:r>
            <a:r>
              <a:rPr lang="en-US" dirty="0"/>
              <a:t>+OH</a:t>
            </a:r>
            <a:r>
              <a:rPr lang="en-US" baseline="30000" dirty="0"/>
              <a:t>−</a:t>
            </a:r>
            <a:r>
              <a:rPr lang="en-US" dirty="0"/>
              <a:t>→H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HCl+NaOH→NaCl+H2O</a:t>
            </a:r>
          </a:p>
          <a:p>
            <a:r>
              <a:rPr lang="en-US" b="1" dirty="0"/>
              <a:t>2. Acid + Metal → Salt + Hydrogen Gas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General: Acid+Metal→Salt+H2(g)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2HCl+Zn→ZnCl</a:t>
            </a:r>
            <a:r>
              <a:rPr lang="en-US" baseline="-25000" dirty="0"/>
              <a:t>2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endParaRPr lang="en-CN" baseline="-25000" dirty="0"/>
          </a:p>
        </p:txBody>
      </p:sp>
    </p:spTree>
    <p:extLst>
      <p:ext uri="{BB962C8B-B14F-4D97-AF65-F5344CB8AC3E}">
        <p14:creationId xmlns:p14="http://schemas.microsoft.com/office/powerpoint/2010/main" val="180441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825A5-F5C6-8C7F-F291-483F8161D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73" y="512956"/>
            <a:ext cx="10684727" cy="563225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3. Acid + Carbonate / Bicarbonate → CO₂ + Water + Salt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General: Acid+CO</a:t>
            </a:r>
            <a:r>
              <a:rPr lang="en-US" baseline="-25000" dirty="0"/>
              <a:t>3</a:t>
            </a:r>
            <a:r>
              <a:rPr lang="en-US" baseline="30000" dirty="0"/>
              <a:t>2-</a:t>
            </a:r>
            <a:r>
              <a:rPr lang="en-US" dirty="0"/>
              <a:t>→CO</a:t>
            </a:r>
            <a:r>
              <a:rPr lang="en-US" baseline="-25000" dirty="0"/>
              <a:t>2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r>
              <a:rPr lang="en-US" dirty="0"/>
              <a:t>O+Salt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Example: 2HCl+Na</a:t>
            </a:r>
            <a:r>
              <a:rPr lang="en-US" baseline="-25000" dirty="0"/>
              <a:t>2</a:t>
            </a:r>
            <a:r>
              <a:rPr lang="en-US" dirty="0"/>
              <a:t>CO</a:t>
            </a:r>
            <a:r>
              <a:rPr lang="en-US" baseline="-25000" dirty="0"/>
              <a:t>3</a:t>
            </a:r>
            <a:r>
              <a:rPr lang="en-US" dirty="0"/>
              <a:t>→2NaCl+CO</a:t>
            </a:r>
            <a:r>
              <a:rPr lang="en-US" baseline="-25000" dirty="0"/>
              <a:t>2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  <a:p>
            <a:pPr marL="0" indent="0">
              <a:buNone/>
            </a:pPr>
            <a:r>
              <a:rPr lang="en-US" b="1" dirty="0"/>
              <a:t>4. Acid + Metal Oxide → Salt + Water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General: </a:t>
            </a:r>
            <a:r>
              <a:rPr lang="en-US" dirty="0" err="1"/>
              <a:t>Acid+Metal</a:t>
            </a:r>
            <a:r>
              <a:rPr lang="en-US" dirty="0"/>
              <a:t> Oxide→Salt+H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2HCl+CuO→CuCl</a:t>
            </a:r>
            <a:r>
              <a:rPr lang="en-US" baseline="-25000" dirty="0"/>
              <a:t>2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  <a:p>
            <a:pPr marL="0" indent="0">
              <a:buNone/>
            </a:pPr>
            <a:r>
              <a:rPr lang="en-US" b="1" dirty="0"/>
              <a:t>5. Base + Nonmetal Oxide (Acidic Oxide) → Salt + Water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General: </a:t>
            </a:r>
            <a:r>
              <a:rPr lang="en-US" dirty="0" err="1"/>
              <a:t>Base+Nonmetal</a:t>
            </a:r>
            <a:r>
              <a:rPr lang="en-US" dirty="0"/>
              <a:t> Oxide→Salt+H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2NaOH+CO</a:t>
            </a:r>
            <a:r>
              <a:rPr lang="en-US" baseline="-25000" dirty="0"/>
              <a:t>2</a:t>
            </a:r>
            <a:r>
              <a:rPr lang="en-US" dirty="0"/>
              <a:t>→Na</a:t>
            </a:r>
            <a:r>
              <a:rPr lang="en-US" baseline="-25000" dirty="0"/>
              <a:t>2</a:t>
            </a:r>
            <a:r>
              <a:rPr lang="en-US" dirty="0"/>
              <a:t>CO</a:t>
            </a:r>
            <a:r>
              <a:rPr lang="en-US" baseline="-25000" dirty="0"/>
              <a:t>3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  <a:p>
            <a:pPr marL="0" indent="0">
              <a:buNone/>
            </a:pPr>
            <a:r>
              <a:rPr lang="en-CN" b="1" dirty="0"/>
              <a:t>6. Base+ ammonium salt</a:t>
            </a:r>
            <a:r>
              <a:rPr lang="en-US" b="1" dirty="0"/>
              <a:t> →</a:t>
            </a:r>
            <a:r>
              <a:rPr lang="en-US" b="1" dirty="0" err="1"/>
              <a:t>Salt+ammonia+water</a:t>
            </a:r>
            <a:endParaRPr lang="en-US" b="1" dirty="0"/>
          </a:p>
          <a:p>
            <a:r>
              <a:rPr lang="en-CN" dirty="0"/>
              <a:t>Example: NaOH + NH</a:t>
            </a:r>
            <a:r>
              <a:rPr lang="en-CN" baseline="-25000" dirty="0"/>
              <a:t>4</a:t>
            </a:r>
            <a:r>
              <a:rPr lang="en-CN" dirty="0"/>
              <a:t>Cl </a:t>
            </a:r>
            <a:r>
              <a:rPr lang="en-US" dirty="0"/>
              <a:t>→ NaCl + NH</a:t>
            </a:r>
            <a:r>
              <a:rPr lang="en-US" baseline="-25000" dirty="0"/>
              <a:t>3</a:t>
            </a:r>
            <a:r>
              <a:rPr lang="en-US" dirty="0"/>
              <a:t> + H</a:t>
            </a:r>
            <a:r>
              <a:rPr lang="en-US" baseline="-25000" dirty="0"/>
              <a:t>2</a:t>
            </a:r>
            <a:r>
              <a:rPr lang="en-US" dirty="0"/>
              <a:t>O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26917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0E3B12-8175-185F-7A53-44F7F7BB6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057EA76-361F-0CAF-7E4B-9E9FBEA697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1317392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92513270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AnalogousFromDarkSeedLeftStep">
      <a:dk1>
        <a:srgbClr val="000000"/>
      </a:dk1>
      <a:lt1>
        <a:srgbClr val="FFFFFF"/>
      </a:lt1>
      <a:dk2>
        <a:srgbClr val="213A21"/>
      </a:dk2>
      <a:lt2>
        <a:srgbClr val="E8E4E2"/>
      </a:lt2>
      <a:accent1>
        <a:srgbClr val="299EE7"/>
      </a:accent1>
      <a:accent2>
        <a:srgbClr val="13B3AE"/>
      </a:accent2>
      <a:accent3>
        <a:srgbClr val="21B975"/>
      </a:accent3>
      <a:accent4>
        <a:srgbClr val="15BD2B"/>
      </a:accent4>
      <a:accent5>
        <a:srgbClr val="4BB821"/>
      </a:accent5>
      <a:accent6>
        <a:srgbClr val="81B113"/>
      </a:accent6>
      <a:hlink>
        <a:srgbClr val="3C9431"/>
      </a:hlink>
      <a:folHlink>
        <a:srgbClr val="7F7F7F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1061</Words>
  <Application>Microsoft Macintosh PowerPoint</Application>
  <PresentationFormat>Widescreen</PresentationFormat>
  <Paragraphs>101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AvenirNext LT Pro Medium</vt:lpstr>
      <vt:lpstr>ProximaNova</vt:lpstr>
      <vt:lpstr>Arial</vt:lpstr>
      <vt:lpstr>Avenir Next LT Pro</vt:lpstr>
      <vt:lpstr>Wingdings</vt:lpstr>
      <vt:lpstr>BlockprintVTI</vt:lpstr>
      <vt:lpstr>Unit 12 Acid and Base Chemistry</vt:lpstr>
      <vt:lpstr>What are acid and base?</vt:lpstr>
      <vt:lpstr>In this class, we will</vt:lpstr>
      <vt:lpstr>Arrhenius acid and base</vt:lpstr>
      <vt:lpstr>Common Arrhenius acids and bases</vt:lpstr>
      <vt:lpstr>Brønsted-Lowry acids and bases</vt:lpstr>
      <vt:lpstr>Brønsted-Lowry Acid-Base Reactions</vt:lpstr>
      <vt:lpstr>Lewis acids and bases</vt:lpstr>
      <vt:lpstr>A summary of acid and base definition</vt:lpstr>
      <vt:lpstr>Acid...base...who is neutral?</vt:lpstr>
      <vt:lpstr>Why water behaves neutral?</vt:lpstr>
      <vt:lpstr>Sample problem</vt:lpstr>
      <vt:lpstr>What indicates neutral?</vt:lpstr>
      <vt:lpstr>pH measuring</vt:lpstr>
      <vt:lpstr>Sample problem</vt:lpstr>
      <vt:lpstr>What’s the relationship between pH and pOH?</vt:lpstr>
      <vt:lpstr>Strong acid vs. weak acid</vt:lpstr>
      <vt:lpstr>Acid strength</vt:lpstr>
      <vt:lpstr>A diluted acid dilemma..</vt:lpstr>
      <vt:lpstr>Ka and pKa</vt:lpstr>
      <vt:lpstr>PowerPoint Presentation</vt:lpstr>
      <vt:lpstr>Typical acid and base reactions</vt:lpstr>
      <vt:lpstr>PowerPoint Presentation</vt:lpstr>
      <vt:lpstr>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11 Acid and Base Chemistry</dc:title>
  <dc:creator>Chen, Xinyu</dc:creator>
  <cp:lastModifiedBy>Xinyu Chen</cp:lastModifiedBy>
  <cp:revision>5</cp:revision>
  <dcterms:created xsi:type="dcterms:W3CDTF">2023-03-22T01:13:17Z</dcterms:created>
  <dcterms:modified xsi:type="dcterms:W3CDTF">2026-03-31T03:08:44Z</dcterms:modified>
</cp:coreProperties>
</file>