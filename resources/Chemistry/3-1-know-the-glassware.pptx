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1" r:id="rId1"/>
  </p:sldMasterIdLst>
  <p:notesMasterIdLst>
    <p:notesMasterId r:id="rId11"/>
  </p:notesMasterIdLst>
  <p:sldIdLst>
    <p:sldId id="564" r:id="rId2"/>
    <p:sldId id="662" r:id="rId3"/>
    <p:sldId id="663" r:id="rId4"/>
    <p:sldId id="664" r:id="rId5"/>
    <p:sldId id="665" r:id="rId6"/>
    <p:sldId id="666" r:id="rId7"/>
    <p:sldId id="669" r:id="rId8"/>
    <p:sldId id="667" r:id="rId9"/>
    <p:sldId id="668" r:id="rId10"/>
  </p:sldIdLst>
  <p:sldSz cx="12192000" cy="6858000"/>
  <p:notesSz cx="10234613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3D"/>
    <a:srgbClr val="006AC3"/>
    <a:srgbClr val="C2DBF0"/>
    <a:srgbClr val="00BA54"/>
    <a:srgbClr val="FFFFFF"/>
    <a:srgbClr val="D04042"/>
    <a:srgbClr val="B70303"/>
    <a:srgbClr val="20483A"/>
    <a:srgbClr val="429578"/>
    <a:srgbClr val="EED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1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066" y="0"/>
            <a:ext cx="4434861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86024" y="887968"/>
            <a:ext cx="4262247" cy="239751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3430" y="3418677"/>
            <a:ext cx="8187436" cy="2797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7325"/>
            <a:ext cx="4434861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066" y="6747325"/>
            <a:ext cx="4434861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481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22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77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763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33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5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529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216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038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96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5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0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jp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6E6531A-0776-43BA-A852-5FB5C7753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56085" y="533400"/>
            <a:ext cx="9079832" cy="5077326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C5273F-2B84-46BF-A94F-1A20E13B3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605" y="763203"/>
            <a:ext cx="8622792" cy="46177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 descr="SZZXID_logo+name_v_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199" y="1247835"/>
            <a:ext cx="1043869" cy="836838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/>
        </p:nvSpPr>
        <p:spPr>
          <a:xfrm>
            <a:off x="2687991" y="2667345"/>
            <a:ext cx="6816020" cy="96904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521208">
              <a:lnSpc>
                <a:spcPct val="100000"/>
              </a:lnSpc>
              <a:spcAft>
                <a:spcPts val="600"/>
              </a:spcAft>
            </a:pPr>
            <a:r>
              <a:rPr lang="en-US" altLang="zh-CN" sz="3762" b="1" kern="1200" dirty="0">
                <a:solidFill>
                  <a:srgbClr val="29614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2.2 An introduction to the glassware</a:t>
            </a:r>
            <a:endParaRPr lang="en-US" altLang="zh-CN" sz="4400" b="1" dirty="0">
              <a:solidFill>
                <a:srgbClr val="296140"/>
              </a:solidFill>
              <a:latin typeface="Arial" panose="020B0604020202020204" pitchFamily="34" charset="0"/>
              <a:ea typeface="微软雅黑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 descr="Neon coloured glass tubes">
            <a:extLst>
              <a:ext uri="{FF2B5EF4-FFF2-40B4-BE49-F238E27FC236}">
                <a16:creationId xmlns:a16="http://schemas.microsoft.com/office/drawing/2014/main" id="{66B28F6D-8001-F58E-A670-72732A505D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4119" r="-1" b="2853"/>
          <a:stretch/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7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4EC4F-8094-150A-26B9-D28150C3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In this course, we will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7BB24F-3F8A-4055-87D3-E0632B426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n-US" dirty="0"/>
              <a:t>learn the functions of different glassware</a:t>
            </a:r>
          </a:p>
          <a:p>
            <a:r>
              <a:rPr lang="en-US" dirty="0"/>
              <a:t>Understand their properties and limits</a:t>
            </a:r>
          </a:p>
          <a:p>
            <a:r>
              <a:rPr lang="en-US" dirty="0"/>
              <a:t>Identify the right apparatus to carry out specific experimental procedures</a:t>
            </a:r>
          </a:p>
          <a:p>
            <a:endParaRPr lang="en-US" dirty="0"/>
          </a:p>
        </p:txBody>
      </p:sp>
      <p:sp>
        <p:nvSpPr>
          <p:cNvPr id="23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311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4356D-E18A-7C53-53C3-CF7F765D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Contain</a:t>
            </a:r>
            <a:r>
              <a:rPr lang="en-US" altLang="zh-CN" dirty="0"/>
              <a:t>ment and reaction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288B-5CE2-B9CF-91E2-C8E1466AE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3443" y="2331497"/>
            <a:ext cx="8347372" cy="2999346"/>
          </a:xfrm>
        </p:spPr>
        <p:txBody>
          <a:bodyPr/>
          <a:lstStyle/>
          <a:p>
            <a:pPr marL="196596" indent="-196596" defTabSz="786384">
              <a:spcBef>
                <a:spcPts val="860"/>
              </a:spcBef>
            </a:pPr>
            <a:r>
              <a:rPr lang="en-US" sz="172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Containers are usually where reactions take place</a:t>
            </a:r>
          </a:p>
          <a:p>
            <a:pPr marL="196596" indent="-196596" defTabSz="786384">
              <a:spcBef>
                <a:spcPts val="860"/>
              </a:spcBef>
            </a:pPr>
            <a:r>
              <a:rPr lang="en-US" sz="172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Containers may </a:t>
            </a:r>
            <a:r>
              <a:rPr lang="en-US" sz="172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n-US" sz="172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used for volume measurement</a:t>
            </a:r>
          </a:p>
          <a:p>
            <a:pPr marL="196596" indent="-196596" defTabSz="786384">
              <a:spcBef>
                <a:spcPts val="860"/>
              </a:spcBef>
            </a:pPr>
            <a:r>
              <a:rPr lang="en-US" sz="172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Containers have multiple volume, choose the right volume is important!</a:t>
            </a:r>
          </a:p>
          <a:p>
            <a:pPr marL="589788" lvl="1" indent="-196596" defTabSz="786384">
              <a:spcBef>
                <a:spcPts val="430"/>
              </a:spcBef>
            </a:pPr>
            <a:r>
              <a:rPr lang="en-US" sz="1548" kern="1200" cap="none" baseline="0" dirty="0">
                <a:solidFill>
                  <a:srgbClr val="374151"/>
                </a:solidFill>
                <a:effectLst/>
                <a:latin typeface="Söhne"/>
                <a:ea typeface="+mn-ea"/>
                <a:cs typeface="+mn-cs"/>
              </a:rPr>
              <a:t>Beakers</a:t>
            </a:r>
          </a:p>
          <a:p>
            <a:pPr marL="589788" lvl="1" indent="-196596" defTabSz="786384">
              <a:spcBef>
                <a:spcPts val="430"/>
              </a:spcBef>
            </a:pPr>
            <a:r>
              <a:rPr lang="en-US" sz="1548" kern="1200" cap="none" baseline="0" dirty="0">
                <a:solidFill>
                  <a:srgbClr val="374151"/>
                </a:solidFill>
                <a:effectLst/>
                <a:latin typeface="Söhne"/>
                <a:ea typeface="+mn-ea"/>
                <a:cs typeface="+mn-cs"/>
              </a:rPr>
              <a:t>Erlenmeyer flasks</a:t>
            </a:r>
          </a:p>
          <a:p>
            <a:pPr marL="589788" lvl="1" indent="-196596" defTabSz="786384">
              <a:spcBef>
                <a:spcPts val="430"/>
              </a:spcBef>
            </a:pPr>
            <a:r>
              <a:rPr lang="en-US" sz="1548" kern="1200" cap="none" baseline="0" dirty="0">
                <a:solidFill>
                  <a:srgbClr val="374151"/>
                </a:solidFill>
                <a:effectLst/>
                <a:latin typeface="Söhne"/>
                <a:ea typeface="+mn-ea"/>
                <a:cs typeface="+mn-cs"/>
              </a:rPr>
              <a:t>Test tubes</a:t>
            </a:r>
          </a:p>
          <a:p>
            <a:pPr marL="589788" lvl="1" indent="-196596" defTabSz="786384">
              <a:spcBef>
                <a:spcPts val="430"/>
              </a:spcBef>
            </a:pPr>
            <a:r>
              <a:rPr lang="en-US" sz="1548" kern="1200" cap="none" baseline="0" dirty="0">
                <a:solidFill>
                  <a:srgbClr val="374151"/>
                </a:solidFill>
                <a:effectLst/>
                <a:latin typeface="Söhne"/>
                <a:ea typeface="+mn-ea"/>
                <a:cs typeface="+mn-cs"/>
              </a:rPr>
              <a:t>Reaction flasks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8982A-A4C5-25C2-71E0-26A03DA1D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19" y="4940870"/>
            <a:ext cx="827933" cy="18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D68002-CC4F-EA9B-04B4-0FAC12126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944" y="4944994"/>
            <a:ext cx="1415766" cy="1829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DD09A-4DBE-75CB-C919-62A305ABD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42" y="4924163"/>
            <a:ext cx="1291576" cy="17552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081927-1788-C720-621A-E14E83FC19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857" y="4949118"/>
            <a:ext cx="1324693" cy="17469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277CC5-0A29-E90F-0998-29F0405BE0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6394" y="4959466"/>
            <a:ext cx="1258459" cy="17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08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7E9771-7057-4B1C-A442-B929DC7E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73DE81-A410-47F8-B617-36EF6215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8938" y="1847088"/>
            <a:ext cx="283152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788B653-FF8A-2F82-7034-1ED64FFE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23" y="804520"/>
            <a:ext cx="2830940" cy="1049235"/>
          </a:xfrm>
        </p:spPr>
        <p:txBody>
          <a:bodyPr>
            <a:normAutofit/>
          </a:bodyPr>
          <a:lstStyle/>
          <a:p>
            <a:r>
              <a:rPr lang="en-US" sz="2500" dirty="0"/>
              <a:t>Measurement and dispensing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8D35C3-48CD-4EE5-BA0F-A1A132C7A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9FFC-8757-A1F7-3E66-1F9977621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4" y="2015732"/>
            <a:ext cx="2828026" cy="328756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Measuring tools are glassware used to measure out specific number of volumes.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Their precision may vary, depend on your goals. So, choose the right glassware!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Reactions CANNOT undergo in the measuring tools. Neither heating.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Graduated cylinders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Burettes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Graduated pipettes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Volumetric flasks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374151"/>
                </a:solidFill>
                <a:effectLst/>
                <a:latin typeface="Söhne"/>
              </a:rPr>
              <a:t>Mechanical pipette</a:t>
            </a:r>
          </a:p>
          <a:p>
            <a:pPr lvl="1">
              <a:lnSpc>
                <a:spcPct val="110000"/>
              </a:lnSpc>
            </a:pPr>
            <a:endParaRPr lang="en-US" sz="15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CAEFDA-5D6A-4085-B80D-4317DEE01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A0C0CC8-828D-4478-A5A9-69961B949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CEAB92-5D11-4A2B-A6F1-704DCD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EE095BE-2923-4F9D-9B66-4A0FD49BD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871" y="977099"/>
            <a:ext cx="6613984" cy="4136205"/>
          </a:xfrm>
          <a:prstGeom prst="rect">
            <a:avLst/>
          </a:prstGeom>
          <a:solidFill>
            <a:srgbClr val="FFFFFE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0AC8B-EE13-E8A8-4E78-CC87ED29F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359" y="1124557"/>
            <a:ext cx="1117726" cy="38579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46C654-D48B-D728-5E74-852827EEF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144" y="1071592"/>
            <a:ext cx="1273501" cy="3857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D3B23B-9F1A-D832-3505-2B8BED6D3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106" y="1071592"/>
            <a:ext cx="1282771" cy="38579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4822122-BCC6-452D-B907-31FDA6CA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EAB49D-C7AA-4FAF-8D66-1AD97FD5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1E9D9C3-6B2D-78C2-C402-635D5D635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074" y="1071592"/>
            <a:ext cx="1045939" cy="380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69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7E9771-7057-4B1C-A442-B929DC7E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73DE81-A410-47F8-B617-36EF62151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8938" y="1847088"/>
            <a:ext cx="283152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582869C-B5BE-7C4A-4006-5A659061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623" y="804520"/>
            <a:ext cx="2830940" cy="1049235"/>
          </a:xfrm>
        </p:spPr>
        <p:txBody>
          <a:bodyPr>
            <a:normAutofit/>
          </a:bodyPr>
          <a:lstStyle/>
          <a:p>
            <a:r>
              <a:rPr lang="en-US" sz="3000"/>
              <a:t>Heating and cooling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8D35C3-48CD-4EE5-BA0F-A1A132C7A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E1F93-9987-8021-AAB4-D0FBC9D35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4" y="2015732"/>
            <a:ext cx="2828026" cy="328756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Glass beaker tongs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Crucibles and crucible tongs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Condensers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Söhne"/>
              </a:rPr>
              <a:t>Distillation condenser</a:t>
            </a:r>
          </a:p>
          <a:p>
            <a:pPr lvl="1">
              <a:lnSpc>
                <a:spcPct val="110000"/>
              </a:lnSpc>
            </a:pPr>
            <a:r>
              <a:rPr lang="en-US" b="0" i="0" dirty="0">
                <a:effectLst/>
                <a:latin typeface="Söhne"/>
              </a:rPr>
              <a:t>Reflux condenser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Watch glasses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öhne"/>
              </a:rPr>
              <a:t>A</a:t>
            </a:r>
            <a:r>
              <a:rPr lang="en-US" altLang="zh-CN" dirty="0">
                <a:latin typeface="Söhne"/>
              </a:rPr>
              <a:t>lcohol burner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H</a:t>
            </a:r>
            <a:r>
              <a:rPr lang="en-US" altLang="zh-CN" b="0" i="0" dirty="0">
                <a:effectLst/>
                <a:latin typeface="Söhne"/>
              </a:rPr>
              <a:t>eating plate</a:t>
            </a:r>
            <a:endParaRPr lang="en-US" b="0" i="0" dirty="0">
              <a:effectLst/>
              <a:latin typeface="Söhne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CAEFDA-5D6A-4085-B80D-4317DEE01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7463258" y="583365"/>
            <a:chExt cx="7560115" cy="518192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A0C0CC8-828D-4478-A5A9-69961B9499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8CEAB92-5D11-4A2B-A6F1-704DCD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EE095BE-2923-4F9D-9B66-4A0FD49BD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871" y="977099"/>
            <a:ext cx="6613984" cy="4136205"/>
          </a:xfrm>
          <a:prstGeom prst="rect">
            <a:avLst/>
          </a:prstGeom>
          <a:solidFill>
            <a:srgbClr val="FFFFFE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F5BE3-4B2F-E016-1498-D42C5F80A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622" y="1124557"/>
            <a:ext cx="945199" cy="3857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4F218D-B023-070F-859F-856E104D2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938" y="1122808"/>
            <a:ext cx="945199" cy="3857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86BFA3-071C-9606-2E1A-CA513DD28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332" y="1122808"/>
            <a:ext cx="993424" cy="38579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4822122-BCC6-452D-B907-31FDA6CA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EAB49D-C7AA-4FAF-8D66-1AD97FD5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27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C5811-E098-336A-007F-BDFEAB92A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US" altLang="zh-CN" dirty="0"/>
              <a:t>iltration and separation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8549-6E26-CB6A-3E14-066D49BC1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Glass funnel</a:t>
            </a:r>
          </a:p>
          <a:p>
            <a:r>
              <a:rPr lang="en-US" dirty="0"/>
              <a:t>Buchner </a:t>
            </a:r>
            <a:r>
              <a:rPr lang="en-US" dirty="0" err="1"/>
              <a:t>funnel+flask</a:t>
            </a:r>
            <a:endParaRPr lang="en-US" dirty="0"/>
          </a:p>
          <a:p>
            <a:r>
              <a:rPr lang="en-US" dirty="0"/>
              <a:t>Separation funnel</a:t>
            </a:r>
          </a:p>
          <a:p>
            <a:r>
              <a:rPr lang="en-US" dirty="0"/>
              <a:t>Chromatography column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4D5C76-D27C-C1A5-A557-89AD37E9D3C9}"/>
              </a:ext>
            </a:extLst>
          </p:cNvPr>
          <p:cNvGrpSpPr/>
          <p:nvPr/>
        </p:nvGrpSpPr>
        <p:grpSpPr>
          <a:xfrm>
            <a:off x="4581215" y="1926233"/>
            <a:ext cx="2160039" cy="3629609"/>
            <a:chOff x="5007561" y="1853754"/>
            <a:chExt cx="2160039" cy="362960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DFE0CE6-1BF7-8BB3-A607-AE6585FD5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7561" y="1853754"/>
              <a:ext cx="1245655" cy="178175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58DD0CE-AD5F-148B-3BFD-9DC89BD62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4449" y="1853754"/>
              <a:ext cx="913151" cy="178175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5C4B660-A7B6-BC66-693B-D358E5571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07561" y="3627004"/>
              <a:ext cx="1318152" cy="18478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009CA7F-BF52-1A16-B77E-FD42842B8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97421" y="3635513"/>
              <a:ext cx="839932" cy="1847850"/>
            </a:xfrm>
            <a:prstGeom prst="rect">
              <a:avLst/>
            </a:prstGeom>
          </p:spPr>
        </p:pic>
      </p:grpSp>
      <p:pic>
        <p:nvPicPr>
          <p:cNvPr id="1026" name="Picture 2" descr="Glass Vaccum Suction Filter Filtration Kit 250ml Buchner Funnel 1000mL  Conical Flask : Amazon.in: Home &amp; Kitchen">
            <a:extLst>
              <a:ext uri="{FF2B5EF4-FFF2-40B4-BE49-F238E27FC236}">
                <a16:creationId xmlns:a16="http://schemas.microsoft.com/office/drawing/2014/main" id="{C99AF0AD-8CFD-8484-DFF7-9FE9B69F4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79" y="4200525"/>
            <a:ext cx="1847851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photo description available.">
            <a:extLst>
              <a:ext uri="{FF2B5EF4-FFF2-40B4-BE49-F238E27FC236}">
                <a16:creationId xmlns:a16="http://schemas.microsoft.com/office/drawing/2014/main" id="{4D400126-0D69-4C67-C301-88E706644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727" y="1934744"/>
            <a:ext cx="4667250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071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2BED5-E9FE-F38D-75A4-F7842B19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pic>
        <p:nvPicPr>
          <p:cNvPr id="5" name="Content Placeholder 4" descr="A close-up of different types of laboratory equipment&#10;&#10;Description automatically generated">
            <a:extLst>
              <a:ext uri="{FF2B5EF4-FFF2-40B4-BE49-F238E27FC236}">
                <a16:creationId xmlns:a16="http://schemas.microsoft.com/office/drawing/2014/main" id="{43E58F6A-D3FC-4983-D0B0-F09E4C6EB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171" y="1936598"/>
            <a:ext cx="6518606" cy="4074129"/>
          </a:xfrm>
        </p:spPr>
      </p:pic>
    </p:spTree>
    <p:extLst>
      <p:ext uri="{BB962C8B-B14F-4D97-AF65-F5344CB8AC3E}">
        <p14:creationId xmlns:p14="http://schemas.microsoft.com/office/powerpoint/2010/main" val="48476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057" name="Picture 2056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61" name="Rectangle 2060">
            <a:extLst>
              <a:ext uri="{FF2B5EF4-FFF2-40B4-BE49-F238E27FC236}">
                <a16:creationId xmlns:a16="http://schemas.microsoft.com/office/drawing/2014/main" id="{F1176DA6-4BBF-42A4-9C94-E6613CCD6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9AAB0AE-172B-4FB4-80C2-86CD6B824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 w="22225">
            <a:solidFill>
              <a:srgbClr val="58A0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nfographic showing graphic representations of various items of laboratory glassware and listing their names.">
            <a:extLst>
              <a:ext uri="{FF2B5EF4-FFF2-40B4-BE49-F238E27FC236}">
                <a16:creationId xmlns:a16="http://schemas.microsoft.com/office/drawing/2014/main" id="{D28D4EB7-F7B2-A5BC-BB1B-0ECC92DCF7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6241" y="643467"/>
            <a:ext cx="787951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2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E529-2590-973B-B48C-FEAB04E0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650F5-DC47-6EA3-55B5-3FCF5CCE3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the name of these above-mentioned common glassware and prepare for the in-class quiz next class</a:t>
            </a:r>
          </a:p>
        </p:txBody>
      </p:sp>
    </p:spTree>
    <p:extLst>
      <p:ext uri="{BB962C8B-B14F-4D97-AF65-F5344CB8AC3E}">
        <p14:creationId xmlns:p14="http://schemas.microsoft.com/office/powerpoint/2010/main" val="370302810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14060</TotalTime>
  <Words>175</Words>
  <Application>Microsoft Macintosh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Söhne</vt:lpstr>
      <vt:lpstr>Arial</vt:lpstr>
      <vt:lpstr>Calibri</vt:lpstr>
      <vt:lpstr>Gill Sans MT</vt:lpstr>
      <vt:lpstr>Gallery</vt:lpstr>
      <vt:lpstr>PowerPoint Presentation</vt:lpstr>
      <vt:lpstr>In this course, we will</vt:lpstr>
      <vt:lpstr>Containment and reaction</vt:lpstr>
      <vt:lpstr>Measurement and dispensing</vt:lpstr>
      <vt:lpstr>Heating and cooling</vt:lpstr>
      <vt:lpstr>Filtration and separation</vt:lpstr>
      <vt:lpstr>Others</vt:lpstr>
      <vt:lpstr>PowerPoint Presentation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guyb</dc:creator>
  <cp:lastModifiedBy>Chen, Xinyu</cp:lastModifiedBy>
  <cp:revision>10</cp:revision>
  <cp:lastPrinted>2022-06-21T05:54:47Z</cp:lastPrinted>
  <dcterms:created xsi:type="dcterms:W3CDTF">2022-06-21T05:22:22Z</dcterms:created>
  <dcterms:modified xsi:type="dcterms:W3CDTF">2025-09-16T23:18:44Z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AF528A4B61E74D8BA45EFE142C89E91A</vt:lpwstr>
  </property>
</Properties>
</file>