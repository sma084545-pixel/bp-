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72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97" autoAdjust="0"/>
    <p:restoredTop sz="94660"/>
  </p:normalViewPr>
  <p:slideViewPr>
    <p:cSldViewPr snapToGrid="0">
      <p:cViewPr varScale="1">
        <p:scale>
          <a:sx n="85" d="100"/>
          <a:sy n="85" d="100"/>
        </p:scale>
        <p:origin x="192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50E48C-2722-4019-A485-7377F5D599B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228B386-1281-45D4-ADEC-8AC4B9AAA61D}">
      <dgm:prSet/>
      <dgm:spPr/>
      <dgm:t>
        <a:bodyPr/>
        <a:lstStyle/>
        <a:p>
          <a:r>
            <a:rPr lang="en-US"/>
            <a:t>Why does </a:t>
          </a:r>
          <a:r>
            <a:rPr lang="en-US" b="1"/>
            <a:t>acid rain</a:t>
          </a:r>
          <a:r>
            <a:rPr lang="en-US"/>
            <a:t> damage buildings? </a:t>
          </a:r>
        </a:p>
      </dgm:t>
    </dgm:pt>
    <dgm:pt modelId="{33B30790-5FEE-4AA7-89C0-6250BCEF621D}" type="parTrans" cxnId="{6BEE57F5-F357-4B16-B6E2-5A1B4D0583B7}">
      <dgm:prSet/>
      <dgm:spPr/>
      <dgm:t>
        <a:bodyPr/>
        <a:lstStyle/>
        <a:p>
          <a:endParaRPr lang="en-US"/>
        </a:p>
      </dgm:t>
    </dgm:pt>
    <dgm:pt modelId="{8921A373-6401-4003-978E-82A95B503D8E}" type="sibTrans" cxnId="{6BEE57F5-F357-4B16-B6E2-5A1B4D0583B7}">
      <dgm:prSet/>
      <dgm:spPr/>
      <dgm:t>
        <a:bodyPr/>
        <a:lstStyle/>
        <a:p>
          <a:endParaRPr lang="en-US"/>
        </a:p>
      </dgm:t>
    </dgm:pt>
    <dgm:pt modelId="{7ADC1364-88B3-4A59-91A3-AF0828FA5AE8}">
      <dgm:prSet/>
      <dgm:spPr/>
      <dgm:t>
        <a:bodyPr/>
        <a:lstStyle/>
        <a:p>
          <a:r>
            <a:rPr lang="en-US"/>
            <a:t>Why is </a:t>
          </a:r>
          <a:r>
            <a:rPr lang="en-US" b="1"/>
            <a:t>quicklime (CaO)</a:t>
          </a:r>
          <a:r>
            <a:rPr lang="en-US"/>
            <a:t> used in construction? </a:t>
          </a:r>
        </a:p>
      </dgm:t>
    </dgm:pt>
    <dgm:pt modelId="{67713B76-9A63-4623-92A9-73B1D2EC20F8}" type="parTrans" cxnId="{A92A2C35-5A1E-4D7A-9135-494E022A5558}">
      <dgm:prSet/>
      <dgm:spPr/>
      <dgm:t>
        <a:bodyPr/>
        <a:lstStyle/>
        <a:p>
          <a:endParaRPr lang="en-US"/>
        </a:p>
      </dgm:t>
    </dgm:pt>
    <dgm:pt modelId="{414284EA-99C5-46DD-89AD-28F4FF786964}" type="sibTrans" cxnId="{A92A2C35-5A1E-4D7A-9135-494E022A5558}">
      <dgm:prSet/>
      <dgm:spPr/>
      <dgm:t>
        <a:bodyPr/>
        <a:lstStyle/>
        <a:p>
          <a:endParaRPr lang="en-US"/>
        </a:p>
      </dgm:t>
    </dgm:pt>
    <dgm:pt modelId="{BF735630-294C-4D9B-B3BB-9AD2A15074DE}">
      <dgm:prSet/>
      <dgm:spPr/>
      <dgm:t>
        <a:bodyPr/>
        <a:lstStyle/>
        <a:p>
          <a:r>
            <a:rPr lang="en-US"/>
            <a:t>Why does </a:t>
          </a:r>
          <a:r>
            <a:rPr lang="en-US" b="1"/>
            <a:t>aluminum not corrode easily</a:t>
          </a:r>
          <a:r>
            <a:rPr lang="en-US"/>
            <a:t>?</a:t>
          </a:r>
        </a:p>
      </dgm:t>
    </dgm:pt>
    <dgm:pt modelId="{15211407-C5E6-42C9-9F98-1E79AD6EEFDB}" type="parTrans" cxnId="{2BAE6D40-F2CB-476F-B251-D4ED2AB6D852}">
      <dgm:prSet/>
      <dgm:spPr/>
      <dgm:t>
        <a:bodyPr/>
        <a:lstStyle/>
        <a:p>
          <a:endParaRPr lang="en-US"/>
        </a:p>
      </dgm:t>
    </dgm:pt>
    <dgm:pt modelId="{8790716A-8084-4043-BD24-4C5F2ACE5FC7}" type="sibTrans" cxnId="{2BAE6D40-F2CB-476F-B251-D4ED2AB6D852}">
      <dgm:prSet/>
      <dgm:spPr/>
      <dgm:t>
        <a:bodyPr/>
        <a:lstStyle/>
        <a:p>
          <a:endParaRPr lang="en-US"/>
        </a:p>
      </dgm:t>
    </dgm:pt>
    <dgm:pt modelId="{3D871F9D-25E6-074E-B05A-F507E089E07F}" type="pres">
      <dgm:prSet presAssocID="{B550E48C-2722-4019-A485-7377F5D599B8}" presName="linear" presStyleCnt="0">
        <dgm:presLayoutVars>
          <dgm:animLvl val="lvl"/>
          <dgm:resizeHandles val="exact"/>
        </dgm:presLayoutVars>
      </dgm:prSet>
      <dgm:spPr/>
    </dgm:pt>
    <dgm:pt modelId="{1D71664B-6317-DA4E-B8AA-F3FE91963F57}" type="pres">
      <dgm:prSet presAssocID="{9228B386-1281-45D4-ADEC-8AC4B9AAA61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417D65E-2FEC-8946-A170-465116C73DD9}" type="pres">
      <dgm:prSet presAssocID="{8921A373-6401-4003-978E-82A95B503D8E}" presName="spacer" presStyleCnt="0"/>
      <dgm:spPr/>
    </dgm:pt>
    <dgm:pt modelId="{615EBB44-AA17-794E-A83A-CC6E9495AA89}" type="pres">
      <dgm:prSet presAssocID="{7ADC1364-88B3-4A59-91A3-AF0828FA5AE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6FCE26D-6F45-BA49-B750-C8DC605688D5}" type="pres">
      <dgm:prSet presAssocID="{414284EA-99C5-46DD-89AD-28F4FF786964}" presName="spacer" presStyleCnt="0"/>
      <dgm:spPr/>
    </dgm:pt>
    <dgm:pt modelId="{282CAB52-D2F2-1D4F-AA79-FFCCF6DF8F81}" type="pres">
      <dgm:prSet presAssocID="{BF735630-294C-4D9B-B3BB-9AD2A15074D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0B3FB28-D86C-2546-87A6-5E72DE8662E3}" type="presOf" srcId="{7ADC1364-88B3-4A59-91A3-AF0828FA5AE8}" destId="{615EBB44-AA17-794E-A83A-CC6E9495AA89}" srcOrd="0" destOrd="0" presId="urn:microsoft.com/office/officeart/2005/8/layout/vList2"/>
    <dgm:cxn modelId="{ACB7EA31-DCB9-8F4D-B01B-D9D4B44AA58A}" type="presOf" srcId="{BF735630-294C-4D9B-B3BB-9AD2A15074DE}" destId="{282CAB52-D2F2-1D4F-AA79-FFCCF6DF8F81}" srcOrd="0" destOrd="0" presId="urn:microsoft.com/office/officeart/2005/8/layout/vList2"/>
    <dgm:cxn modelId="{A92A2C35-5A1E-4D7A-9135-494E022A5558}" srcId="{B550E48C-2722-4019-A485-7377F5D599B8}" destId="{7ADC1364-88B3-4A59-91A3-AF0828FA5AE8}" srcOrd="1" destOrd="0" parTransId="{67713B76-9A63-4623-92A9-73B1D2EC20F8}" sibTransId="{414284EA-99C5-46DD-89AD-28F4FF786964}"/>
    <dgm:cxn modelId="{2BAE6D40-F2CB-476F-B251-D4ED2AB6D852}" srcId="{B550E48C-2722-4019-A485-7377F5D599B8}" destId="{BF735630-294C-4D9B-B3BB-9AD2A15074DE}" srcOrd="2" destOrd="0" parTransId="{15211407-C5E6-42C9-9F98-1E79AD6EEFDB}" sibTransId="{8790716A-8084-4043-BD24-4C5F2ACE5FC7}"/>
    <dgm:cxn modelId="{EB7C4742-A4E0-B243-B8FD-2747277785EA}" type="presOf" srcId="{9228B386-1281-45D4-ADEC-8AC4B9AAA61D}" destId="{1D71664B-6317-DA4E-B8AA-F3FE91963F57}" srcOrd="0" destOrd="0" presId="urn:microsoft.com/office/officeart/2005/8/layout/vList2"/>
    <dgm:cxn modelId="{B649A7EE-F1E7-2A4A-BF73-445B3B729C44}" type="presOf" srcId="{B550E48C-2722-4019-A485-7377F5D599B8}" destId="{3D871F9D-25E6-074E-B05A-F507E089E07F}" srcOrd="0" destOrd="0" presId="urn:microsoft.com/office/officeart/2005/8/layout/vList2"/>
    <dgm:cxn modelId="{6BEE57F5-F357-4B16-B6E2-5A1B4D0583B7}" srcId="{B550E48C-2722-4019-A485-7377F5D599B8}" destId="{9228B386-1281-45D4-ADEC-8AC4B9AAA61D}" srcOrd="0" destOrd="0" parTransId="{33B30790-5FEE-4AA7-89C0-6250BCEF621D}" sibTransId="{8921A373-6401-4003-978E-82A95B503D8E}"/>
    <dgm:cxn modelId="{ED8F4D9F-1630-F342-B9A8-0AE92C5E4431}" type="presParOf" srcId="{3D871F9D-25E6-074E-B05A-F507E089E07F}" destId="{1D71664B-6317-DA4E-B8AA-F3FE91963F57}" srcOrd="0" destOrd="0" presId="urn:microsoft.com/office/officeart/2005/8/layout/vList2"/>
    <dgm:cxn modelId="{4B7C74C0-C69C-4343-8CC0-DFF412D57D61}" type="presParOf" srcId="{3D871F9D-25E6-074E-B05A-F507E089E07F}" destId="{9417D65E-2FEC-8946-A170-465116C73DD9}" srcOrd="1" destOrd="0" presId="urn:microsoft.com/office/officeart/2005/8/layout/vList2"/>
    <dgm:cxn modelId="{5648BCCA-9905-5C4A-961C-BC476A0EF980}" type="presParOf" srcId="{3D871F9D-25E6-074E-B05A-F507E089E07F}" destId="{615EBB44-AA17-794E-A83A-CC6E9495AA89}" srcOrd="2" destOrd="0" presId="urn:microsoft.com/office/officeart/2005/8/layout/vList2"/>
    <dgm:cxn modelId="{C6B5EA6F-2ECF-284A-831A-C562B475D019}" type="presParOf" srcId="{3D871F9D-25E6-074E-B05A-F507E089E07F}" destId="{86FCE26D-6F45-BA49-B750-C8DC605688D5}" srcOrd="3" destOrd="0" presId="urn:microsoft.com/office/officeart/2005/8/layout/vList2"/>
    <dgm:cxn modelId="{5BC5AAD5-4E8A-9B4B-B8A7-A097582A0281}" type="presParOf" srcId="{3D871F9D-25E6-074E-B05A-F507E089E07F}" destId="{282CAB52-D2F2-1D4F-AA79-FFCCF6DF8F8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71664B-6317-DA4E-B8AA-F3FE91963F57}">
      <dsp:nvSpPr>
        <dsp:cNvPr id="0" name=""/>
        <dsp:cNvSpPr/>
      </dsp:nvSpPr>
      <dsp:spPr>
        <a:xfrm>
          <a:off x="0" y="2002"/>
          <a:ext cx="6160315" cy="1591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Why does </a:t>
          </a:r>
          <a:r>
            <a:rPr lang="en-US" sz="4000" b="1" kern="1200"/>
            <a:t>acid rain</a:t>
          </a:r>
          <a:r>
            <a:rPr lang="en-US" sz="4000" kern="1200"/>
            <a:t> damage buildings? </a:t>
          </a:r>
        </a:p>
      </dsp:txBody>
      <dsp:txXfrm>
        <a:off x="77676" y="79678"/>
        <a:ext cx="6004963" cy="1435848"/>
      </dsp:txXfrm>
    </dsp:sp>
    <dsp:sp modelId="{615EBB44-AA17-794E-A83A-CC6E9495AA89}">
      <dsp:nvSpPr>
        <dsp:cNvPr id="0" name=""/>
        <dsp:cNvSpPr/>
      </dsp:nvSpPr>
      <dsp:spPr>
        <a:xfrm>
          <a:off x="0" y="1708402"/>
          <a:ext cx="6160315" cy="1591200"/>
        </a:xfrm>
        <a:prstGeom prst="roundRect">
          <a:avLst/>
        </a:prstGeom>
        <a:solidFill>
          <a:schemeClr val="accent2">
            <a:hueOff val="-10052515"/>
            <a:satOff val="-209"/>
            <a:lumOff val="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Why is </a:t>
          </a:r>
          <a:r>
            <a:rPr lang="en-US" sz="4000" b="1" kern="1200"/>
            <a:t>quicklime (CaO)</a:t>
          </a:r>
          <a:r>
            <a:rPr lang="en-US" sz="4000" kern="1200"/>
            <a:t> used in construction? </a:t>
          </a:r>
        </a:p>
      </dsp:txBody>
      <dsp:txXfrm>
        <a:off x="77676" y="1786078"/>
        <a:ext cx="6004963" cy="1435848"/>
      </dsp:txXfrm>
    </dsp:sp>
    <dsp:sp modelId="{282CAB52-D2F2-1D4F-AA79-FFCCF6DF8F81}">
      <dsp:nvSpPr>
        <dsp:cNvPr id="0" name=""/>
        <dsp:cNvSpPr/>
      </dsp:nvSpPr>
      <dsp:spPr>
        <a:xfrm>
          <a:off x="0" y="3414802"/>
          <a:ext cx="6160315" cy="1591200"/>
        </a:xfrm>
        <a:prstGeom prst="roundRect">
          <a:avLst/>
        </a:prstGeom>
        <a:solidFill>
          <a:schemeClr val="accent2">
            <a:hueOff val="-20105030"/>
            <a:satOff val="-418"/>
            <a:lumOff val="70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Why does </a:t>
          </a:r>
          <a:r>
            <a:rPr lang="en-US" sz="4000" b="1" kern="1200"/>
            <a:t>aluminum not corrode easily</a:t>
          </a:r>
          <a:r>
            <a:rPr lang="en-US" sz="4000" kern="1200"/>
            <a:t>?</a:t>
          </a:r>
        </a:p>
      </dsp:txBody>
      <dsp:txXfrm>
        <a:off x="77676" y="3492478"/>
        <a:ext cx="6004963" cy="14358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6A15-6E39-4FFA-B5DC-89EB633E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1371600"/>
            <a:ext cx="8127574" cy="2736443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169311-3201-45EC-B973-82EC27DA5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300" y="4299358"/>
            <a:ext cx="8127574" cy="1187042"/>
          </a:xfrm>
        </p:spPr>
        <p:txBody>
          <a:bodyPr>
            <a:normAutofit/>
          </a:bodyPr>
          <a:lstStyle>
            <a:lvl1pPr marL="0" indent="0" algn="l">
              <a:buNone/>
              <a:defRPr sz="1800" cap="all" spc="2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AE4B9-EDEF-4A2C-B464-332C5C624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4C951-4861-4549-8E72-CEECA89E4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E1401-5637-41BC-AC21-89105645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201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3747-9ADB-4FCC-89CE-6E84D134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EC9C6-5D7D-4249-8820-D4C99D0AE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F35F7-46A1-40A9-ACD7-C4923992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45637-B780-4999-A87D-0039BC5A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9777F-E471-4CC5-B27B-137CB061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864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DCB1D-064E-46DE-B533-7CDA331EE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2748406"/>
            <a:ext cx="8115300" cy="273799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222C0-D002-4A94-BAFF-FD1A1CCA6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1371600"/>
            <a:ext cx="8115300" cy="133327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E7D7E-EC9F-4AA5-A559-EF556C6A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7A8EE-88C1-400C-A23F-656DC76B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245A4-F9C6-44E9-929F-78C657C8B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820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F34F-B65E-4FA0-87E8-8890F482B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9382348" cy="1371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25A67-10CA-4531-93E1-39892C087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8297" y="2057400"/>
            <a:ext cx="4553103" cy="41250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2BE36-0CAF-4D92-9AC2-9249276B9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7000" y="2057400"/>
            <a:ext cx="4543647" cy="4125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36479-3B04-43BD-9B59-DBF6CA2BF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D4449-57DB-41D2-B49E-694E7C13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0CC2C-E50B-47D2-B62F-D5C4C9CD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5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8530B-D0F2-4FC4-A10F-1E54EF82C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755118"/>
            <a:ext cx="9378304" cy="122276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8865C-9D06-4FA3-BA3D-7187BB41B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56570-8F97-4B7E-A805-96925AC47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8300" y="2748405"/>
            <a:ext cx="4529391" cy="34412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57EF54-F63F-4730-99EE-0E472578F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87213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08453E-B012-4889-9F49-E1351532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87213" y="2748405"/>
            <a:ext cx="4529391" cy="34412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FC47A-8514-4C98-B1BE-FF6CC666C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D4301A-D375-4163-9488-27A9CDC6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ED6105-4A37-4D4B-9BE8-715FB732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909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007F-6649-4D23-8869-C1CC29D00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B85A1-41F9-4BC1-9C40-3E5D5C04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23774-EAA9-47ED-87EF-EE2B29A25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26550-DD4D-45E2-8916-8314C5D06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875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5FACD-1A4D-49F3-8EA8-21B5C1A6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FD9DD-0E4E-4C36-AF85-B3EAD7FE6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6F4C8-14FA-4405-85EE-ABF53FB0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71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E7C28-5DEE-493D-ABAD-38E4F2D75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621" y="1085481"/>
            <a:ext cx="365118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E79C5-E567-4F12-96B8-8BBEAE3D8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6900" y="1132676"/>
            <a:ext cx="5289480" cy="4728374"/>
          </a:xfrm>
        </p:spPr>
        <p:txBody>
          <a:bodyPr/>
          <a:lstStyle>
            <a:lvl1pPr>
              <a:lnSpc>
                <a:spcPct val="110000"/>
              </a:lnSpc>
              <a:defRPr sz="3200"/>
            </a:lvl1pPr>
            <a:lvl2pPr>
              <a:lnSpc>
                <a:spcPct val="110000"/>
              </a:lnSpc>
              <a:defRPr sz="2800"/>
            </a:lvl2pPr>
            <a:lvl3pPr>
              <a:lnSpc>
                <a:spcPct val="110000"/>
              </a:lnSpc>
              <a:defRPr sz="2400"/>
            </a:lvl3pPr>
            <a:lvl4pPr>
              <a:lnSpc>
                <a:spcPct val="110000"/>
              </a:lnSpc>
              <a:defRPr sz="2000"/>
            </a:lvl4pPr>
            <a:lvl5pPr>
              <a:lnSpc>
                <a:spcPct val="11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3DF7F-0B5C-40CE-A65F-779FA7EFB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5621" y="2748406"/>
            <a:ext cx="365118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2248C-1826-4833-9592-383B5873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219DC-2646-42AD-897A-EB765DCBE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238D7-4EEA-475B-B1CA-C44B89BEA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522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D65BE-C907-4660-A586-71C6A1D1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085481"/>
            <a:ext cx="365760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4C8A9-67DF-419C-B2FC-3A879CCEF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6900" y="1061885"/>
            <a:ext cx="5331069" cy="47755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A94A1-3058-402A-9C3F-2F210D91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2748406"/>
            <a:ext cx="365760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3CA50-C8D8-4F83-B2F6-BCE825866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E5BE3-7B02-4281-BD90-C1FAAF636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E256D-ACD5-438F-BA6F-605E5260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449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D0E6-AD36-493C-9DC3-5ACC2059E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B8558-FA83-4F6C-A6D1-2DF9D3F74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38299" y="2057399"/>
            <a:ext cx="8915401" cy="41148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DE619-0CC6-4480-ABDE-277D36BD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791E6-BE35-4ECA-8AD1-E8EC09B85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94606-B928-42D6-85CC-9576F60E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58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F18D8A-5002-491C-922A-E9624E2DB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882C6-2BE9-4E25-B8BB-A2346A2B0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BEFF9-B3BC-4C07-BF6C-2E3C91B54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F4CF6-CDF1-4AFD-8319-71FD4FED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1A026-57F4-47F7-B4F0-E0D48E012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496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1A689-589E-4A73-9313-EF44F7E4E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B11B8-9E77-4144-B9C1-FD164D9A1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57400"/>
            <a:ext cx="8915402" cy="4137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6E4CC-CF79-4C8D-9E5F-1BB517435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1001475" y="1517536"/>
            <a:ext cx="28011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B6D41BCC-AD73-4203-A5A6-E62EB28B0FE6}" type="datetimeFigureOut">
              <a:rPr lang="en-US" smtClean="0"/>
              <a:pPr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79449-05F6-4BC7-95DF-F04E1F161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118764" y="4237870"/>
            <a:ext cx="33440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17FE5-2D1F-4ECC-9460-08145C3BB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8877" y="6319138"/>
            <a:ext cx="7106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226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D3E3D-057C-76F0-DADD-E9A61C35E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6799" y="2176549"/>
            <a:ext cx="5676901" cy="1447466"/>
          </a:xfrm>
        </p:spPr>
        <p:txBody>
          <a:bodyPr>
            <a:normAutofit/>
          </a:bodyPr>
          <a:lstStyle/>
          <a:p>
            <a:r>
              <a:rPr lang="en-US" sz="3200"/>
              <a:t>1</a:t>
            </a:r>
            <a:r>
              <a:rPr lang="en-US" altLang="zh-CN" sz="3200"/>
              <a:t>2</a:t>
            </a:r>
            <a:r>
              <a:rPr lang="en-US" sz="3200"/>
              <a:t>.</a:t>
            </a:r>
            <a:r>
              <a:rPr lang="en-US" altLang="zh-CN" sz="3200"/>
              <a:t>4</a:t>
            </a:r>
            <a:r>
              <a:rPr lang="en-US" sz="3200"/>
              <a:t> </a:t>
            </a:r>
            <a:r>
              <a:rPr lang="en-US" altLang="zh-CN" sz="3200" dirty="0"/>
              <a:t>Oxides, and Salts Preparation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0979FF-AA0A-B527-C8F9-7BE655673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6799" y="3858564"/>
            <a:ext cx="5676901" cy="1061184"/>
          </a:xfrm>
        </p:spPr>
        <p:txBody>
          <a:bodyPr>
            <a:normAutofit/>
          </a:bodyPr>
          <a:lstStyle/>
          <a:p>
            <a:r>
              <a:rPr lang="en-US" sz="1600" dirty="0"/>
              <a:t>Apr.21</a:t>
            </a:r>
            <a:r>
              <a:rPr lang="en-US" sz="1600" baseline="30000" dirty="0"/>
              <a:t>st</a:t>
            </a:r>
            <a:r>
              <a:rPr lang="en-US" sz="1600" dirty="0"/>
              <a:t> 2025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7B37796-80FE-75EA-275D-C22C08F5E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59" r="17891" b="-3"/>
          <a:stretch/>
        </p:blipFill>
        <p:spPr>
          <a:xfrm>
            <a:off x="-1" y="1371600"/>
            <a:ext cx="4076699" cy="4114800"/>
          </a:xfrm>
          <a:prstGeom prst="rect">
            <a:avLst/>
          </a:prstGeom>
          <a:noFill/>
        </p:spPr>
      </p:pic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BCC502FE-2A33-48B8-80DC-2DB5B10F91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-1001475" y="1517536"/>
            <a:ext cx="280112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9D10FB2-1712-417E-8236-C4017D35AE56}" type="datetime1">
              <a:rPr 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pPr>
                <a:spcAft>
                  <a:spcPts val="600"/>
                </a:spcAft>
              </a:pPr>
              <a:t>4/7/26</a:t>
            </a:fld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F9A67DB4-2DF1-44AA-8AA1-B9A9D488C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118764" y="4237870"/>
            <a:ext cx="334405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2C1A5F6F-14E3-4A18-9AD2-ED95DC718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319138"/>
            <a:ext cx="71064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5563AB-8317-4F4A-8C10-D6F570F02A77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342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934C4-E44A-E47E-CD15-BB8A769E2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1231621"/>
            <a:ext cx="5252693" cy="1222397"/>
          </a:xfrm>
        </p:spPr>
        <p:txBody>
          <a:bodyPr anchor="t">
            <a:normAutofit/>
          </a:bodyPr>
          <a:lstStyle/>
          <a:p>
            <a:r>
              <a:rPr lang="en-US"/>
              <a:t>In this class, we will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204B-7BDD-FCD2-0E7E-F2A4C4191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2710545"/>
            <a:ext cx="5252694" cy="2871644"/>
          </a:xfrm>
        </p:spPr>
        <p:txBody>
          <a:bodyPr>
            <a:normAutofit/>
          </a:bodyPr>
          <a:lstStyle/>
          <a:p>
            <a:r>
              <a:rPr lang="en-US" dirty="0"/>
              <a:t>Understand the different types of oxides</a:t>
            </a:r>
          </a:p>
          <a:p>
            <a:r>
              <a:rPr lang="en-US" dirty="0"/>
              <a:t>Be able to make a salt based on acid base chemistry</a:t>
            </a:r>
          </a:p>
          <a:p>
            <a:r>
              <a:rPr lang="en-US" dirty="0"/>
              <a:t>Learn how to write the ionic equations</a:t>
            </a:r>
          </a:p>
        </p:txBody>
      </p:sp>
      <p:pic>
        <p:nvPicPr>
          <p:cNvPr id="5" name="Picture 4" descr="Molecules">
            <a:extLst>
              <a:ext uri="{FF2B5EF4-FFF2-40B4-BE49-F238E27FC236}">
                <a16:creationId xmlns:a16="http://schemas.microsoft.com/office/drawing/2014/main" id="{9CF3401D-71FB-E773-34A2-CF0CE6E27A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092" r="14858" b="-1"/>
          <a:stretch/>
        </p:blipFill>
        <p:spPr>
          <a:xfrm>
            <a:off x="8115299" y="1366561"/>
            <a:ext cx="3274281" cy="4119839"/>
          </a:xfrm>
          <a:prstGeom prst="rect">
            <a:avLst/>
          </a:prstGeom>
          <a:noFill/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C656694-E8B8-4DAB-A4FD-23655A1F11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-1001475" y="1517536"/>
            <a:ext cx="280112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8C60573-8BA9-4F06-8BC5-309D58F96E5C}" type="datetime1">
              <a:rPr lang="en-US" smtClean="0"/>
              <a:pPr>
                <a:spcAft>
                  <a:spcPts val="600"/>
                </a:spcAft>
              </a:pPr>
              <a:t>4/7/26</a:t>
            </a:fld>
            <a:endParaRPr lang="en-US"/>
          </a:p>
        </p:txBody>
      </p:sp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2C26A52E-FD03-472C-B2A6-1828C634D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118764" y="4237870"/>
            <a:ext cx="334405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Sample Footer Text</a:t>
            </a:r>
          </a:p>
        </p:txBody>
      </p:sp>
      <p:sp>
        <p:nvSpPr>
          <p:cNvPr id="13" name="Slide Number Placeholder 10">
            <a:extLst>
              <a:ext uri="{FF2B5EF4-FFF2-40B4-BE49-F238E27FC236}">
                <a16:creationId xmlns:a16="http://schemas.microsoft.com/office/drawing/2014/main" id="{1F03B11F-7EA0-4DD0-B80D-8B0E6DF73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319138"/>
            <a:ext cx="71064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AB6432-E879-4FE7-87DD-5FEE9CC88187}" type="slidenum">
              <a:rPr 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pPr>
                <a:spcAft>
                  <a:spcPts val="600"/>
                </a:spcAft>
              </a:pPr>
              <a:t>2</a:t>
            </a:fld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27117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F99E5-1AC0-78DE-E3B0-6E5DB05DE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1254827"/>
            <a:ext cx="4838700" cy="137060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to experimentally identify an acid or base?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FD3EF-A60B-4995-CBBC-AA4E25311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299" y="2772362"/>
            <a:ext cx="4838701" cy="280112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/>
              <a:t>Acids can react with carbonates and produce a gas that turns clear limewater cloudy.</a:t>
            </a:r>
          </a:p>
          <a:p>
            <a:r>
              <a:rPr lang="en-US" sz="1700"/>
              <a:t>What is the gas?</a:t>
            </a:r>
          </a:p>
          <a:p>
            <a:r>
              <a:rPr lang="en-US" sz="1700"/>
              <a:t>Bases can react with ammonium salts and produce a gas that turns damp red litmus paper blue.</a:t>
            </a:r>
          </a:p>
          <a:p>
            <a:r>
              <a:rPr lang="en-US" sz="1700"/>
              <a:t>What is the gas?</a:t>
            </a:r>
          </a:p>
        </p:txBody>
      </p:sp>
      <p:pic>
        <p:nvPicPr>
          <p:cNvPr id="1026" name="Picture 2" descr="science chemistry precipitation reaction carbon dioxide | Fundamental ...">
            <a:extLst>
              <a:ext uri="{FF2B5EF4-FFF2-40B4-BE49-F238E27FC236}">
                <a16:creationId xmlns:a16="http://schemas.microsoft.com/office/drawing/2014/main" id="{E1B88C4C-7180-2984-2ABB-29D0024CB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02487" y="1371600"/>
            <a:ext cx="3302127" cy="411480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031" name="Date Placeholder 3">
            <a:extLst>
              <a:ext uri="{FF2B5EF4-FFF2-40B4-BE49-F238E27FC236}">
                <a16:creationId xmlns:a16="http://schemas.microsoft.com/office/drawing/2014/main" id="{C8CB4EC0-30D7-4FCD-85AE-CD9CFAADBA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-1001475" y="1517536"/>
            <a:ext cx="280112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42CE256-A16D-4C05-82F9-D2517162EDD4}" type="datetime1">
              <a:rPr lang="en-US" smtClean="0"/>
              <a:pPr>
                <a:spcAft>
                  <a:spcPts val="600"/>
                </a:spcAft>
              </a:pPr>
              <a:t>4/7/26</a:t>
            </a:fld>
            <a:endParaRPr lang="en-US"/>
          </a:p>
        </p:txBody>
      </p:sp>
      <p:sp>
        <p:nvSpPr>
          <p:cNvPr id="1033" name="Footer Placeholder 4">
            <a:extLst>
              <a:ext uri="{FF2B5EF4-FFF2-40B4-BE49-F238E27FC236}">
                <a16:creationId xmlns:a16="http://schemas.microsoft.com/office/drawing/2014/main" id="{FC471A90-173B-4ACC-8B12-3CB7E5F6C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118764" y="4237870"/>
            <a:ext cx="334405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1035" name="Slide Number Placeholder 5">
            <a:extLst>
              <a:ext uri="{FF2B5EF4-FFF2-40B4-BE49-F238E27FC236}">
                <a16:creationId xmlns:a16="http://schemas.microsoft.com/office/drawing/2014/main" id="{8433DBE3-DD23-42C3-8133-949FBC7A1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319138"/>
            <a:ext cx="710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15563AB-8317-4F4A-8C10-D6F570F02A77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83A554-8771-90A2-9CE4-C0F1274BECE5}"/>
              </a:ext>
            </a:extLst>
          </p:cNvPr>
          <p:cNvSpPr txBox="1"/>
          <p:nvPr/>
        </p:nvSpPr>
        <p:spPr>
          <a:xfrm>
            <a:off x="1638299" y="5431969"/>
            <a:ext cx="909288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/>
              <a:t>Think: Arrhenius, Bronsted-Lowry, Lewis, which type of acid and base are tested here?</a:t>
            </a:r>
            <a:endParaRPr lang="en-US" sz="2000"/>
          </a:p>
          <a:p>
            <a:pPr>
              <a:spcAft>
                <a:spcPts val="6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03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FE9CC2-BA24-47CD-AE5E-A6BB2A464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B5E4CD-D48B-4BA2-A183-C7F932AA6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82830"/>
            <a:ext cx="4038600" cy="411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30099D-3BBA-6F51-851A-E8C6F6A0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1" y="2057400"/>
            <a:ext cx="2630854" cy="2647462"/>
          </a:xfrm>
        </p:spPr>
        <p:txBody>
          <a:bodyPr anchor="t">
            <a:normAutofit/>
          </a:bodyPr>
          <a:lstStyle/>
          <a:p>
            <a:r>
              <a:rPr lang="en-CN" dirty="0"/>
              <a:t>Some questions to consider…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BEDAD6-C76B-E8FE-EB02-864A107B26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8164991"/>
              </p:ext>
            </p:extLst>
          </p:nvPr>
        </p:nvGraphicFramePr>
        <p:xfrm>
          <a:off x="5068562" y="817510"/>
          <a:ext cx="6160315" cy="50080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497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49260-7133-E33C-5839-76C7AC26D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Oxides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3571B-9338-CC2E-CE2F-30ACF0D8C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Oxides are chemical compounds with one or more </a:t>
            </a:r>
            <a:r>
              <a:rPr lang="en-US" b="0" i="0" u="none" strike="noStrike" dirty="0">
                <a:effectLst/>
                <a:latin typeface="+mj-lt"/>
              </a:rPr>
              <a:t>oxygen</a:t>
            </a: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 atoms combined with another element (e.g. Li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+mj-lt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O). 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An oxide that combines with water to give an acid is termed as an acidic oxide.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The oxide that gives a base in water is known as a basic oxide.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An amphoteric solution is a substance that can chemically react as either acid or base.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However, it is also possible for an oxide to be neither acidic nor basic, but is a neutral oxide.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618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B5933-2E13-8035-0CB2-EC3DAE448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Acidic oxides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23489-63FF-2295-9143-3FAC0720C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Acidic oxides are the oxides of non-metals (Groups 14-17) and these acid anhydrides form acids with water: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Sulfurous Acid		SO</a:t>
            </a:r>
            <a:r>
              <a:rPr lang="en-US" baseline="-25000" dirty="0"/>
              <a:t>2</a:t>
            </a:r>
            <a:r>
              <a:rPr lang="en-US" dirty="0"/>
              <a:t>+H</a:t>
            </a:r>
            <a:r>
              <a:rPr lang="en-US" baseline="-25000" dirty="0"/>
              <a:t>2</a:t>
            </a:r>
            <a:r>
              <a:rPr lang="en-US" dirty="0"/>
              <a:t>O→H</a:t>
            </a:r>
            <a:r>
              <a:rPr lang="en-US" baseline="-25000" dirty="0"/>
              <a:t>2</a:t>
            </a:r>
            <a:r>
              <a:rPr lang="en-US" dirty="0"/>
              <a:t>SO</a:t>
            </a:r>
            <a:r>
              <a:rPr lang="en-US" baseline="-25000" dirty="0"/>
              <a:t>3</a:t>
            </a:r>
          </a:p>
          <a:p>
            <a:pPr marL="0" indent="0">
              <a:buNone/>
            </a:pPr>
            <a:r>
              <a:rPr lang="en-US" dirty="0"/>
              <a:t>Sulfuric Acid		SO</a:t>
            </a:r>
            <a:r>
              <a:rPr lang="en-US" baseline="-25000" dirty="0"/>
              <a:t>3</a:t>
            </a:r>
            <a:r>
              <a:rPr lang="en-US" dirty="0"/>
              <a:t>+H</a:t>
            </a:r>
            <a:r>
              <a:rPr lang="en-US" baseline="-25000" dirty="0"/>
              <a:t>2</a:t>
            </a:r>
            <a:r>
              <a:rPr lang="en-US" dirty="0"/>
              <a:t>O→H</a:t>
            </a:r>
            <a:r>
              <a:rPr lang="en-US" baseline="-25000" dirty="0"/>
              <a:t>2</a:t>
            </a:r>
            <a:r>
              <a:rPr lang="en-US" dirty="0"/>
              <a:t>SO</a:t>
            </a:r>
            <a:r>
              <a:rPr lang="en-US" baseline="-25000" dirty="0"/>
              <a:t>4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Carbonic Acid		CO</a:t>
            </a:r>
            <a:r>
              <a:rPr lang="en-US" baseline="-25000" dirty="0"/>
              <a:t>2</a:t>
            </a:r>
            <a:r>
              <a:rPr lang="en-US" dirty="0"/>
              <a:t>+H</a:t>
            </a:r>
            <a:r>
              <a:rPr lang="en-US" baseline="-25000" dirty="0"/>
              <a:t>2</a:t>
            </a:r>
            <a:r>
              <a:rPr lang="en-US" dirty="0"/>
              <a:t>O→H</a:t>
            </a:r>
            <a:r>
              <a:rPr lang="en-US" baseline="-25000" dirty="0"/>
              <a:t>2</a:t>
            </a:r>
            <a:r>
              <a:rPr lang="en-US" dirty="0"/>
              <a:t>CO</a:t>
            </a:r>
            <a:r>
              <a:rPr lang="en-US" baseline="-25000" dirty="0"/>
              <a:t>3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Acidic oxides combine with bases, they produce salts, e.g.,</a:t>
            </a:r>
          </a:p>
          <a:p>
            <a:pPr marL="0" indent="0">
              <a:buNone/>
            </a:pPr>
            <a:r>
              <a:rPr lang="en-US" dirty="0"/>
              <a:t>			SO</a:t>
            </a:r>
            <a:r>
              <a:rPr lang="en-US" baseline="-25000" dirty="0"/>
              <a:t>2</a:t>
            </a:r>
            <a:r>
              <a:rPr lang="en-US" dirty="0"/>
              <a:t>+2NaOH→Na</a:t>
            </a:r>
            <a:r>
              <a:rPr lang="en-US" baseline="-25000" dirty="0"/>
              <a:t>2</a:t>
            </a:r>
            <a:r>
              <a:rPr lang="en-US" dirty="0"/>
              <a:t>SO</a:t>
            </a:r>
            <a:r>
              <a:rPr lang="en-US" baseline="-25000" dirty="0"/>
              <a:t>3</a:t>
            </a:r>
            <a:r>
              <a:rPr lang="en-US" dirty="0"/>
              <a:t>+H</a:t>
            </a:r>
            <a:r>
              <a:rPr lang="en-US" baseline="-25000" dirty="0"/>
              <a:t>2</a:t>
            </a:r>
            <a:r>
              <a:rPr lang="en-US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120481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562C3-FC4B-FC17-0565-88D976777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oxides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F6FFB-81AB-6AC4-CB13-DE1C3F8E1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Generally Group 1 and Group 2 elements form bases called base anhydrides or basic oxides e.g.,</a:t>
            </a:r>
          </a:p>
          <a:p>
            <a:pPr marL="0" indent="0">
              <a:buNone/>
            </a:pPr>
            <a:r>
              <a:rPr lang="en-US" dirty="0"/>
              <a:t>			K</a:t>
            </a:r>
            <a:r>
              <a:rPr lang="en-US" baseline="-25000" dirty="0"/>
              <a:t>2</a:t>
            </a:r>
            <a:r>
              <a:rPr lang="en-US" dirty="0"/>
              <a:t>O(s)+H</a:t>
            </a:r>
            <a:r>
              <a:rPr lang="en-US" baseline="-25000" dirty="0"/>
              <a:t>2</a:t>
            </a:r>
            <a:r>
              <a:rPr lang="en-US" dirty="0"/>
              <a:t>O(l)→2KOH(</a:t>
            </a:r>
            <a:r>
              <a:rPr lang="en-US" dirty="0" err="1"/>
              <a:t>aq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Basic oxides are the oxides of metals. If soluble in water, they react with water to produce hydroxides (</a:t>
            </a:r>
            <a:r>
              <a:rPr lang="en-US" dirty="0" err="1"/>
              <a:t>alkalies</a:t>
            </a:r>
            <a:r>
              <a:rPr lang="en-US" dirty="0"/>
              <a:t>) e.g.,</a:t>
            </a:r>
          </a:p>
          <a:p>
            <a:pPr marL="0" indent="0">
              <a:buNone/>
            </a:pPr>
            <a:r>
              <a:rPr lang="en-US" dirty="0"/>
              <a:t>			CaO+H</a:t>
            </a:r>
            <a:r>
              <a:rPr lang="en-US" baseline="-25000" dirty="0"/>
              <a:t>2</a:t>
            </a:r>
            <a:r>
              <a:rPr lang="en-US" dirty="0"/>
              <a:t>O→Ca(OH)</a:t>
            </a:r>
            <a:r>
              <a:rPr lang="en-US" baseline="-25000" dirty="0"/>
              <a:t>2</a:t>
            </a:r>
          </a:p>
          <a:p>
            <a:pPr marL="0" indent="0">
              <a:buNone/>
            </a:pPr>
            <a:r>
              <a:rPr lang="en-US" dirty="0"/>
              <a:t>			MgO+H</a:t>
            </a:r>
            <a:r>
              <a:rPr lang="en-US" baseline="-25000" dirty="0"/>
              <a:t>2</a:t>
            </a:r>
            <a:r>
              <a:rPr lang="en-US" dirty="0"/>
              <a:t>O→Mg(OH)</a:t>
            </a:r>
            <a:r>
              <a:rPr lang="en-US" baseline="-25000" dirty="0"/>
              <a:t>2</a:t>
            </a:r>
          </a:p>
          <a:p>
            <a:pPr marL="0" indent="0">
              <a:buNone/>
            </a:pPr>
            <a:r>
              <a:rPr lang="en-US" dirty="0"/>
              <a:t>			Na</a:t>
            </a:r>
            <a:r>
              <a:rPr lang="en-US" baseline="-25000" dirty="0"/>
              <a:t>2</a:t>
            </a:r>
            <a:r>
              <a:rPr lang="en-US" dirty="0"/>
              <a:t>O+H</a:t>
            </a:r>
            <a:r>
              <a:rPr lang="en-US" baseline="-25000" dirty="0"/>
              <a:t>2</a:t>
            </a:r>
            <a:r>
              <a:rPr lang="en-US" dirty="0"/>
              <a:t>O→2NaOH</a:t>
            </a:r>
          </a:p>
          <a:p>
            <a:pPr marL="0" indent="0">
              <a:buNone/>
            </a:pPr>
            <a:r>
              <a:rPr lang="en-US" dirty="0"/>
              <a:t>These metallic oxides are known as basic anhydrides. They react with acids to produce salts, e.g.,</a:t>
            </a:r>
          </a:p>
          <a:p>
            <a:pPr marL="0" indent="0">
              <a:buNone/>
            </a:pPr>
            <a:r>
              <a:rPr lang="en-US" dirty="0"/>
              <a:t>			MgO+2HCl→MgCl</a:t>
            </a:r>
            <a:r>
              <a:rPr lang="en-US" baseline="-25000" dirty="0"/>
              <a:t>2</a:t>
            </a:r>
            <a:r>
              <a:rPr lang="en-US" dirty="0"/>
              <a:t>+H2O</a:t>
            </a:r>
          </a:p>
          <a:p>
            <a:pPr marL="0" indent="0">
              <a:buNone/>
            </a:pPr>
            <a:r>
              <a:rPr lang="en-US" dirty="0"/>
              <a:t>			Na</a:t>
            </a:r>
            <a:r>
              <a:rPr lang="en-US" baseline="-25000" dirty="0"/>
              <a:t>2</a:t>
            </a:r>
            <a:r>
              <a:rPr lang="en-US" dirty="0"/>
              <a:t>O+H</a:t>
            </a:r>
            <a:r>
              <a:rPr lang="en-US" baseline="-25000" dirty="0"/>
              <a:t>2</a:t>
            </a:r>
            <a:r>
              <a:rPr lang="en-US" dirty="0"/>
              <a:t>SO</a:t>
            </a:r>
            <a:r>
              <a:rPr lang="en-US" baseline="-25000" dirty="0"/>
              <a:t>4</a:t>
            </a:r>
            <a:r>
              <a:rPr lang="en-US" dirty="0"/>
              <a:t>→Na</a:t>
            </a:r>
            <a:r>
              <a:rPr lang="en-US" baseline="-25000" dirty="0"/>
              <a:t>2</a:t>
            </a:r>
            <a:r>
              <a:rPr lang="en-US" dirty="0"/>
              <a:t>SO</a:t>
            </a:r>
            <a:r>
              <a:rPr lang="en-US" baseline="-25000" dirty="0"/>
              <a:t>4</a:t>
            </a:r>
            <a:r>
              <a:rPr lang="en-US" dirty="0"/>
              <a:t>+H</a:t>
            </a:r>
            <a:r>
              <a:rPr lang="en-US" baseline="-25000" dirty="0"/>
              <a:t>2</a:t>
            </a:r>
            <a:r>
              <a:rPr lang="en-US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3077630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101BC-678A-711B-E6D7-1D5B236CD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Amphoteric oxides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72B3D-FBFC-4D15-768F-C3E9A0285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1120" y="1745027"/>
            <a:ext cx="8915402" cy="41372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Amphoteric oxides exhibit both basic as well as acidic properties. When they react with an acid, they produce salt and water, showing basic properties. While reacting with </a:t>
            </a:r>
            <a:r>
              <a:rPr lang="en-US" dirty="0" err="1"/>
              <a:t>alkalies</a:t>
            </a:r>
            <a:r>
              <a:rPr lang="en-US" dirty="0"/>
              <a:t> they form salt and water showing acidic properties.</a:t>
            </a:r>
          </a:p>
          <a:p>
            <a:pPr marL="0" indent="0">
              <a:buNone/>
            </a:pPr>
            <a:r>
              <a:rPr lang="en-US" dirty="0"/>
              <a:t>For example  </a:t>
            </a:r>
            <a:r>
              <a:rPr lang="en-US" dirty="0" err="1"/>
              <a:t>ZnO</a:t>
            </a:r>
            <a:r>
              <a:rPr lang="en-US" dirty="0"/>
              <a:t> exhibits basic behavior with  HCl</a:t>
            </a:r>
          </a:p>
          <a:p>
            <a:pPr marL="0" indent="0">
              <a:buNone/>
            </a:pPr>
            <a:r>
              <a:rPr lang="en-US" dirty="0"/>
              <a:t> 	ZnO+2HCl→ZnCl</a:t>
            </a:r>
            <a:r>
              <a:rPr lang="en-US" baseline="-25000" dirty="0"/>
              <a:t>2</a:t>
            </a:r>
            <a:r>
              <a:rPr lang="en-US" dirty="0"/>
              <a:t>+H</a:t>
            </a:r>
            <a:r>
              <a:rPr lang="en-US" baseline="-25000" dirty="0"/>
              <a:t>2</a:t>
            </a:r>
            <a:r>
              <a:rPr lang="en-US" dirty="0"/>
              <a:t>O(basic nature)</a:t>
            </a:r>
          </a:p>
          <a:p>
            <a:pPr marL="0" indent="0">
              <a:buNone/>
            </a:pPr>
            <a:r>
              <a:rPr lang="en-US" dirty="0"/>
              <a:t>and acidic behavior with  NaOH</a:t>
            </a:r>
          </a:p>
          <a:p>
            <a:pPr marL="0" indent="0">
              <a:buNone/>
            </a:pPr>
            <a:r>
              <a:rPr lang="en-US" dirty="0"/>
              <a:t> 	ZnO+2NaOH→Na</a:t>
            </a:r>
            <a:r>
              <a:rPr lang="en-US" baseline="-25000" dirty="0"/>
              <a:t>2</a:t>
            </a:r>
            <a:r>
              <a:rPr lang="en-US" dirty="0"/>
              <a:t>ZnO</a:t>
            </a:r>
            <a:r>
              <a:rPr lang="en-US" baseline="-25000" dirty="0"/>
              <a:t>2</a:t>
            </a:r>
            <a:r>
              <a:rPr lang="en-US" dirty="0"/>
              <a:t>+H</a:t>
            </a:r>
            <a:r>
              <a:rPr lang="en-US" baseline="-25000" dirty="0"/>
              <a:t>2</a:t>
            </a:r>
            <a:r>
              <a:rPr lang="en-US" dirty="0"/>
              <a:t>O(acidic nature)</a:t>
            </a:r>
          </a:p>
          <a:p>
            <a:pPr marL="0" indent="0">
              <a:buNone/>
            </a:pPr>
            <a:r>
              <a:rPr lang="en-US" dirty="0"/>
              <a:t>Similarly,  Al</a:t>
            </a:r>
            <a:r>
              <a:rPr lang="en-US" baseline="-25000" dirty="0"/>
              <a:t>2</a:t>
            </a:r>
            <a:r>
              <a:rPr lang="en-US" dirty="0"/>
              <a:t>O</a:t>
            </a:r>
            <a:r>
              <a:rPr lang="en-US" baseline="-25000" dirty="0"/>
              <a:t>3</a:t>
            </a:r>
            <a:r>
              <a:rPr lang="en-US" dirty="0"/>
              <a:t> exhibits basic behavior with H</a:t>
            </a:r>
            <a:r>
              <a:rPr lang="en-US" baseline="-25000" dirty="0"/>
              <a:t>2</a:t>
            </a:r>
            <a:r>
              <a:rPr lang="en-US" dirty="0"/>
              <a:t>SO</a:t>
            </a:r>
            <a:r>
              <a:rPr lang="en-US" baseline="-25000" dirty="0"/>
              <a:t>4</a:t>
            </a:r>
          </a:p>
          <a:p>
            <a:pPr marL="0" indent="0">
              <a:buNone/>
            </a:pPr>
            <a:r>
              <a:rPr lang="en-US" dirty="0"/>
              <a:t> 	Al</a:t>
            </a:r>
            <a:r>
              <a:rPr lang="en-US" baseline="-25000" dirty="0"/>
              <a:t>2</a:t>
            </a:r>
            <a:r>
              <a:rPr lang="en-US" dirty="0"/>
              <a:t>O</a:t>
            </a:r>
            <a:r>
              <a:rPr lang="en-US" baseline="-25000" dirty="0"/>
              <a:t>3</a:t>
            </a:r>
            <a:r>
              <a:rPr lang="en-US" dirty="0"/>
              <a:t>+3H</a:t>
            </a:r>
            <a:r>
              <a:rPr lang="en-US" baseline="-25000" dirty="0"/>
              <a:t>2</a:t>
            </a:r>
            <a:r>
              <a:rPr lang="en-US" dirty="0"/>
              <a:t>SO</a:t>
            </a:r>
            <a:r>
              <a:rPr lang="en-US" baseline="-25000" dirty="0"/>
              <a:t>4</a:t>
            </a:r>
            <a:r>
              <a:rPr lang="en-US" dirty="0"/>
              <a:t>→Al</a:t>
            </a:r>
            <a:r>
              <a:rPr lang="en-US" baseline="-25000" dirty="0"/>
              <a:t>2</a:t>
            </a:r>
            <a:r>
              <a:rPr lang="en-US" dirty="0"/>
              <a:t>(SO</a:t>
            </a:r>
            <a:r>
              <a:rPr lang="en-US" baseline="-25000" dirty="0"/>
              <a:t>4</a:t>
            </a:r>
            <a:r>
              <a:rPr lang="en-US" dirty="0"/>
              <a:t>)</a:t>
            </a:r>
            <a:r>
              <a:rPr lang="en-US" baseline="-25000" dirty="0"/>
              <a:t>3</a:t>
            </a:r>
            <a:r>
              <a:rPr lang="en-US" dirty="0"/>
              <a:t>+3H</a:t>
            </a:r>
            <a:r>
              <a:rPr lang="en-US" baseline="-25000" dirty="0"/>
              <a:t>2</a:t>
            </a:r>
            <a:r>
              <a:rPr lang="en-US" dirty="0"/>
              <a:t>O</a:t>
            </a:r>
          </a:p>
          <a:p>
            <a:pPr marL="0" indent="0">
              <a:buNone/>
            </a:pPr>
            <a:r>
              <a:rPr lang="en-US" dirty="0"/>
              <a:t>and acidic behavior with  NaOH </a:t>
            </a:r>
          </a:p>
          <a:p>
            <a:pPr marL="0" indent="0">
              <a:buNone/>
            </a:pPr>
            <a:r>
              <a:rPr lang="en-US" dirty="0"/>
              <a:t>	Al</a:t>
            </a:r>
            <a:r>
              <a:rPr lang="en-US" baseline="-25000" dirty="0"/>
              <a:t>2</a:t>
            </a:r>
            <a:r>
              <a:rPr lang="en-US" dirty="0"/>
              <a:t>O</a:t>
            </a:r>
            <a:r>
              <a:rPr lang="en-US" baseline="-25000" dirty="0"/>
              <a:t>3</a:t>
            </a:r>
            <a:r>
              <a:rPr lang="en-US" dirty="0"/>
              <a:t>+2NaOH→2NaAlO</a:t>
            </a:r>
            <a:r>
              <a:rPr lang="en-US" baseline="-25000" dirty="0"/>
              <a:t>2</a:t>
            </a:r>
            <a:r>
              <a:rPr lang="en-US" dirty="0"/>
              <a:t>+H</a:t>
            </a:r>
            <a:r>
              <a:rPr lang="en-US" baseline="-25000" dirty="0"/>
              <a:t>2</a:t>
            </a:r>
            <a:r>
              <a:rPr lang="en-US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506853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70DE8-8956-7EF8-5F67-1043BE82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Neutral oxides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36C36-FE17-F027-8C76-572B46C37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2057401"/>
            <a:ext cx="8915402" cy="827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Neutral oxides show neither basic nor acidic properties and hence do not form salts when reacted with acids or bases.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96502C-35D6-DC96-D435-20D77A149932}"/>
              </a:ext>
            </a:extLst>
          </p:cNvPr>
          <p:cNvSpPr txBox="1"/>
          <p:nvPr/>
        </p:nvSpPr>
        <p:spPr>
          <a:xfrm>
            <a:off x="1638299" y="3059668"/>
            <a:ext cx="9053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Carbon monoxide (CO); nitrous oxide (N2O); nitric oxide (NO), etc., are neutral oxides.</a:t>
            </a:r>
          </a:p>
        </p:txBody>
      </p:sp>
    </p:spTree>
    <p:extLst>
      <p:ext uri="{BB962C8B-B14F-4D97-AF65-F5344CB8AC3E}">
        <p14:creationId xmlns:p14="http://schemas.microsoft.com/office/powerpoint/2010/main" val="4196457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D2FBF-6C84-75A5-8154-FB9239AA9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Compound oxides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A7A8E-40AC-E3B4-5BCB-880E9FF62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Compound oxides are metallic oxides that behave as if they are made up of two oxides, one that has a lower oxidation and one with a higher oxidation of the same metal, e.g.,</a:t>
            </a:r>
          </a:p>
          <a:p>
            <a:pPr marL="0" indent="0">
              <a:buNone/>
            </a:pPr>
            <a:r>
              <a:rPr lang="en-US" dirty="0"/>
              <a:t>Red lead: Pb</a:t>
            </a:r>
            <a:r>
              <a:rPr lang="en-US" baseline="-25000" dirty="0"/>
              <a:t>3</a:t>
            </a:r>
            <a:r>
              <a:rPr lang="en-US" dirty="0"/>
              <a:t>O</a:t>
            </a:r>
            <a:r>
              <a:rPr lang="en-US" baseline="-25000" dirty="0"/>
              <a:t>4</a:t>
            </a:r>
            <a:r>
              <a:rPr lang="en-US" dirty="0"/>
              <a:t>=PbO</a:t>
            </a:r>
            <a:r>
              <a:rPr lang="en-US" baseline="-25000" dirty="0"/>
              <a:t>2</a:t>
            </a:r>
            <a:r>
              <a:rPr lang="en-US" dirty="0"/>
              <a:t>+2PbO</a:t>
            </a:r>
          </a:p>
          <a:p>
            <a:pPr marL="0" indent="0">
              <a:buNone/>
            </a:pPr>
            <a:r>
              <a:rPr lang="en-US" dirty="0"/>
              <a:t>Ferro-ferric oxide: Fe</a:t>
            </a:r>
            <a:r>
              <a:rPr lang="en-US" baseline="-25000" dirty="0"/>
              <a:t>3</a:t>
            </a:r>
            <a:r>
              <a:rPr lang="en-US" dirty="0"/>
              <a:t>O</a:t>
            </a:r>
            <a:r>
              <a:rPr lang="en-US" baseline="-25000" dirty="0"/>
              <a:t>4</a:t>
            </a:r>
            <a:r>
              <a:rPr lang="en-US" dirty="0"/>
              <a:t>=Fe</a:t>
            </a:r>
            <a:r>
              <a:rPr lang="en-US" baseline="-25000" dirty="0"/>
              <a:t>2</a:t>
            </a:r>
            <a:r>
              <a:rPr lang="en-US" dirty="0"/>
              <a:t>O</a:t>
            </a:r>
            <a:r>
              <a:rPr lang="en-US" baseline="-25000" dirty="0"/>
              <a:t>3</a:t>
            </a:r>
            <a:r>
              <a:rPr lang="en-US" dirty="0"/>
              <a:t>+FeO</a:t>
            </a:r>
          </a:p>
          <a:p>
            <a:pPr marL="0" indent="0">
              <a:buNone/>
            </a:pPr>
            <a:r>
              <a:rPr lang="en-US" dirty="0"/>
              <a:t>On treatment with an acid, compound oxides give a mixture of salts.</a:t>
            </a:r>
          </a:p>
          <a:p>
            <a:pPr marL="0" indent="0">
              <a:buNone/>
            </a:pPr>
            <a:r>
              <a:rPr lang="en-US" dirty="0"/>
              <a:t>		Fe</a:t>
            </a:r>
            <a:r>
              <a:rPr lang="en-US" baseline="-25000" dirty="0"/>
              <a:t>3</a:t>
            </a:r>
            <a:r>
              <a:rPr lang="en-US" dirty="0"/>
              <a:t>O</a:t>
            </a:r>
            <a:r>
              <a:rPr lang="en-US" baseline="-25000" dirty="0"/>
              <a:t>4</a:t>
            </a:r>
            <a:r>
              <a:rPr lang="en-US" dirty="0"/>
              <a:t>+8HCl→2FeCl</a:t>
            </a:r>
            <a:r>
              <a:rPr lang="en-US" baseline="-25000" dirty="0"/>
              <a:t>3</a:t>
            </a:r>
            <a:r>
              <a:rPr lang="en-US" dirty="0"/>
              <a:t>+FeCl</a:t>
            </a:r>
            <a:r>
              <a:rPr lang="en-US" baseline="-25000" dirty="0"/>
              <a:t>2</a:t>
            </a:r>
            <a:r>
              <a:rPr lang="en-US" dirty="0"/>
              <a:t>+4H</a:t>
            </a:r>
            <a:r>
              <a:rPr lang="en-US" baseline="-25000" dirty="0"/>
              <a:t>2</a:t>
            </a:r>
            <a:r>
              <a:rPr lang="en-US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870336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631E4-56CA-942B-D2DC-775DB9DA1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8" y="435247"/>
            <a:ext cx="9493893" cy="1186903"/>
          </a:xfrm>
        </p:spPr>
        <p:txBody>
          <a:bodyPr>
            <a:normAutofit/>
          </a:bodyPr>
          <a:lstStyle/>
          <a:p>
            <a:r>
              <a:rPr lang="en-US" dirty="0"/>
              <a:t>S</a:t>
            </a:r>
            <a:r>
              <a:rPr lang="en-US" altLang="zh-CN" dirty="0"/>
              <a:t>alt Preparation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0DCBA-B5B6-B439-E516-07AA16556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2748405"/>
            <a:ext cx="4744334" cy="3418587"/>
          </a:xfrm>
        </p:spPr>
        <p:txBody>
          <a:bodyPr>
            <a:normAutofit/>
          </a:bodyPr>
          <a:lstStyle/>
          <a:p>
            <a:r>
              <a:rPr lang="en-US" dirty="0"/>
              <a:t>H</a:t>
            </a:r>
            <a:r>
              <a:rPr lang="en-US" altLang="zh-CN" dirty="0"/>
              <a:t>ow to prepare pure CuSO</a:t>
            </a:r>
            <a:r>
              <a:rPr lang="en-US" altLang="zh-CN" baseline="-25000" dirty="0"/>
              <a:t>4 </a:t>
            </a:r>
            <a:r>
              <a:rPr lang="en-US" altLang="zh-CN" dirty="0"/>
              <a:t>hydrated crystal from copper oxides?</a:t>
            </a:r>
          </a:p>
          <a:p>
            <a:r>
              <a:rPr lang="en-US" dirty="0"/>
              <a:t>Work in small groups to design your synthesis route.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177F1D-F30D-FADC-A6D3-CA1D410891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310" r="24101" b="1"/>
          <a:stretch/>
        </p:blipFill>
        <p:spPr>
          <a:xfrm>
            <a:off x="7322029" y="2057400"/>
            <a:ext cx="4069871" cy="4800600"/>
          </a:xfrm>
          <a:prstGeom prst="rect">
            <a:avLst/>
          </a:prstGeom>
          <a:noFill/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D43CCAB2-22D6-47AE-BDF4-5E1E0EDFDC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-1001475" y="1517536"/>
            <a:ext cx="280112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42CE256-A16D-4C05-82F9-D2517162EDD4}" type="datetime1">
              <a:rPr lang="en-US" smtClean="0"/>
              <a:pPr>
                <a:spcAft>
                  <a:spcPts val="600"/>
                </a:spcAft>
              </a:pPr>
              <a:t>4/7/26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4AD6949-88FF-48FF-8190-99C87E364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118764" y="4237870"/>
            <a:ext cx="334405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0E2B0EB-3E00-4ED9-8E36-A8AF03FD3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319138"/>
            <a:ext cx="710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15563AB-8317-4F4A-8C10-D6F570F02A77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52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4537C-6653-0FAD-1DB3-DCE8D5B22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Salt Preparation-Explain all highlighted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CBE33-5929-5E44-4EE6-40D455B3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</a:t>
            </a:r>
            <a:r>
              <a:rPr lang="en-US" i="1" dirty="0"/>
              <a:t>excess</a:t>
            </a:r>
            <a:r>
              <a:rPr lang="en-US" dirty="0"/>
              <a:t> </a:t>
            </a:r>
            <a:r>
              <a:rPr lang="en-US" dirty="0" err="1"/>
              <a:t>CuO</a:t>
            </a:r>
            <a:r>
              <a:rPr lang="en-US" dirty="0"/>
              <a:t> to </a:t>
            </a:r>
            <a:r>
              <a:rPr lang="en-US" i="1" dirty="0"/>
              <a:t>warm, diluted </a:t>
            </a:r>
            <a:r>
              <a:rPr lang="en-US" dirty="0"/>
              <a:t>H</a:t>
            </a:r>
            <a:r>
              <a:rPr lang="en-US" baseline="-25000" dirty="0"/>
              <a:t>2</a:t>
            </a:r>
            <a:r>
              <a:rPr lang="en-US" dirty="0"/>
              <a:t>SO</a:t>
            </a:r>
            <a:r>
              <a:rPr lang="en-US" baseline="-25000" dirty="0"/>
              <a:t>4</a:t>
            </a:r>
          </a:p>
          <a:p>
            <a:r>
              <a:rPr lang="en-US" dirty="0"/>
              <a:t>Filter the mixture and collect the </a:t>
            </a:r>
            <a:r>
              <a:rPr lang="en-US" i="1" dirty="0"/>
              <a:t>filtrate</a:t>
            </a:r>
          </a:p>
          <a:p>
            <a:r>
              <a:rPr lang="en-US" dirty="0"/>
              <a:t>Boil off the solvent till solids start to precipitate at the bottom</a:t>
            </a:r>
          </a:p>
          <a:p>
            <a:r>
              <a:rPr lang="en-US" dirty="0"/>
              <a:t>Cool down to room temperature, then sit the flask </a:t>
            </a:r>
            <a:r>
              <a:rPr lang="en-US" i="1" dirty="0"/>
              <a:t>on ice.</a:t>
            </a:r>
          </a:p>
          <a:p>
            <a:r>
              <a:rPr lang="en-US" dirty="0"/>
              <a:t>Filter and collect the residue.</a:t>
            </a:r>
          </a:p>
        </p:txBody>
      </p:sp>
    </p:spTree>
    <p:extLst>
      <p:ext uri="{BB962C8B-B14F-4D97-AF65-F5344CB8AC3E}">
        <p14:creationId xmlns:p14="http://schemas.microsoft.com/office/powerpoint/2010/main" val="1196596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B81D2-7890-20DA-F796-9B15B35E9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0B2B9-15EE-DCA8-AB12-698AE3807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Prepare the FeCl</a:t>
            </a:r>
            <a:r>
              <a:rPr lang="en-US" sz="2600" baseline="-25000" dirty="0"/>
              <a:t>2 </a:t>
            </a:r>
            <a:r>
              <a:rPr lang="en-US" sz="2600" dirty="0"/>
              <a:t>salt, using as many pathways as you can figure out.</a:t>
            </a:r>
          </a:p>
        </p:txBody>
      </p:sp>
    </p:spTree>
    <p:extLst>
      <p:ext uri="{BB962C8B-B14F-4D97-AF65-F5344CB8AC3E}">
        <p14:creationId xmlns:p14="http://schemas.microsoft.com/office/powerpoint/2010/main" val="2803006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8F209-6DBA-63E4-82FF-1ABCA89CD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Ionic 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273BA-42B3-26AA-3225-106A78041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equation in which dissolved ionic compounds are shown as free ions in the aqueous phase.</a:t>
            </a:r>
          </a:p>
          <a:p>
            <a:endParaRPr lang="en-US" dirty="0"/>
          </a:p>
          <a:p>
            <a:r>
              <a:rPr lang="en-US" dirty="0"/>
              <a:t>Ionic equation format</a:t>
            </a:r>
          </a:p>
          <a:p>
            <a:endParaRPr lang="en-US" dirty="0"/>
          </a:p>
          <a:p>
            <a:r>
              <a:rPr lang="en-US" dirty="0"/>
              <a:t>Eliminate the ions that present on both sides, which are called spectator ions and get the net ionic equation.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17B296-6BD4-2AC7-72B3-C434EF392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984" y="2810734"/>
            <a:ext cx="4640155" cy="4729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3FE10F-820C-B7F1-37C5-7735E31E5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3930" y="3795308"/>
            <a:ext cx="6808748" cy="4384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2F2392-3845-8B54-E8C3-F262711BE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2731" y="4961243"/>
            <a:ext cx="2607631" cy="40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166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EA051-D7EA-BB33-FEA8-C9A271393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Ionic equations- what to separate?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E591F-57BD-0C68-E491-B2EEC8750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Soluble salts, strong acids, strong bases need to separate into their aqueous ionic form.</a:t>
            </a:r>
          </a:p>
          <a:p>
            <a:pPr marL="0" indent="0">
              <a:buNone/>
            </a:pPr>
            <a:r>
              <a:rPr lang="en-US" dirty="0"/>
              <a:t>Insoluble salts, weak acids, weak base, and molecular compound stay in their molecular or </a:t>
            </a:r>
            <a:r>
              <a:rPr lang="en-US" b="1" i="1" dirty="0"/>
              <a:t>ionic</a:t>
            </a:r>
            <a:r>
              <a:rPr lang="en-US" i="1" dirty="0"/>
              <a:t> </a:t>
            </a:r>
            <a:r>
              <a:rPr lang="en-US" dirty="0"/>
              <a:t>form.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DD9CB0-2DCF-9F26-6A04-9818E9892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746" y="3630416"/>
            <a:ext cx="6162202" cy="57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661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6D46D-5AC2-9D15-AB49-C26F20C1B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Practice-Write the ionic and net ionic equations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EB5FB-B8AB-8FAC-C737-5101DB18E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CuO+HCl</a:t>
            </a:r>
          </a:p>
          <a:p>
            <a:endParaRPr lang="en-US" dirty="0"/>
          </a:p>
          <a:p>
            <a:r>
              <a:rPr lang="en-US" dirty="0"/>
              <a:t>CaCO</a:t>
            </a:r>
            <a:r>
              <a:rPr lang="en-US" baseline="-25000" dirty="0"/>
              <a:t>3</a:t>
            </a:r>
            <a:r>
              <a:rPr lang="en-US" dirty="0"/>
              <a:t>+CH</a:t>
            </a:r>
            <a:r>
              <a:rPr lang="en-US" baseline="-25000" dirty="0"/>
              <a:t>3</a:t>
            </a:r>
            <a:r>
              <a:rPr lang="en-US" dirty="0"/>
              <a:t>COOH</a:t>
            </a:r>
          </a:p>
          <a:p>
            <a:endParaRPr lang="en-US" dirty="0"/>
          </a:p>
          <a:p>
            <a:r>
              <a:rPr lang="en-US" dirty="0"/>
              <a:t>NH</a:t>
            </a:r>
            <a:r>
              <a:rPr lang="en-US" baseline="-25000" dirty="0"/>
              <a:t>4</a:t>
            </a:r>
            <a:r>
              <a:rPr lang="en-US" dirty="0"/>
              <a:t>Cl+CuSO</a:t>
            </a:r>
            <a:r>
              <a:rPr lang="en-US" baseline="-25000" dirty="0"/>
              <a:t>4</a:t>
            </a:r>
            <a:endParaRPr lang="en-US" dirty="0"/>
          </a:p>
          <a:p>
            <a:endParaRPr lang="en-US" dirty="0"/>
          </a:p>
          <a:p>
            <a:r>
              <a:rPr lang="en-US" dirty="0"/>
              <a:t>CH</a:t>
            </a:r>
            <a:r>
              <a:rPr lang="en-US" baseline="-25000" dirty="0"/>
              <a:t>3</a:t>
            </a:r>
            <a:r>
              <a:rPr lang="en-US" dirty="0"/>
              <a:t>COONa+H</a:t>
            </a:r>
            <a:r>
              <a:rPr lang="en-US" baseline="-25000" dirty="0"/>
              <a:t>2</a:t>
            </a:r>
            <a:r>
              <a:rPr lang="en-US" dirty="0"/>
              <a:t>SO</a:t>
            </a:r>
            <a:r>
              <a:rPr lang="en-US" baseline="-25000" dirty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851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8703C-46A9-6111-61B4-EF39B5D1A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DCDE0-89D3-5D40-6906-0246CFC85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BaO</a:t>
            </a:r>
            <a:r>
              <a:rPr lang="en-US" baseline="-25000" dirty="0"/>
              <a:t>2</a:t>
            </a:r>
            <a:r>
              <a:rPr lang="en-US" dirty="0"/>
              <a:t> is which of the following: hydroxide, peroxide, or superoxide?</a:t>
            </a:r>
          </a:p>
          <a:p>
            <a:r>
              <a:rPr lang="en-US" dirty="0"/>
              <a:t>What is an amphoteric solution?</a:t>
            </a:r>
          </a:p>
          <a:p>
            <a:r>
              <a:rPr lang="en-US" dirty="0"/>
              <a:t>Can you list three acids, three salts, and three bases that do not need to separate in ionic equations?</a:t>
            </a:r>
          </a:p>
        </p:txBody>
      </p:sp>
    </p:spTree>
    <p:extLst>
      <p:ext uri="{BB962C8B-B14F-4D97-AF65-F5344CB8AC3E}">
        <p14:creationId xmlns:p14="http://schemas.microsoft.com/office/powerpoint/2010/main" val="3554938687"/>
      </p:ext>
    </p:extLst>
  </p:cSld>
  <p:clrMapOvr>
    <a:masterClrMapping/>
  </p:clrMapOvr>
</p:sld>
</file>

<file path=ppt/theme/theme1.xml><?xml version="1.0" encoding="utf-8"?>
<a:theme xmlns:a="http://schemas.openxmlformats.org/drawingml/2006/main" name="EncaseVTI">
  <a:themeElements>
    <a:clrScheme name="AnalogousFromRegularSeedRightStep">
      <a:dk1>
        <a:srgbClr val="000000"/>
      </a:dk1>
      <a:lt1>
        <a:srgbClr val="FFFFFF"/>
      </a:lt1>
      <a:dk2>
        <a:srgbClr val="412435"/>
      </a:dk2>
      <a:lt2>
        <a:srgbClr val="E2E8E5"/>
      </a:lt2>
      <a:accent1>
        <a:srgbClr val="C34D91"/>
      </a:accent1>
      <a:accent2>
        <a:srgbClr val="B13B4E"/>
      </a:accent2>
      <a:accent3>
        <a:srgbClr val="C36B4D"/>
      </a:accent3>
      <a:accent4>
        <a:srgbClr val="B18B3B"/>
      </a:accent4>
      <a:accent5>
        <a:srgbClr val="A0AA43"/>
      </a:accent5>
      <a:accent6>
        <a:srgbClr val="75B13B"/>
      </a:accent6>
      <a:hlink>
        <a:srgbClr val="31935A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ncaseVTI" id="{C293990F-FDB3-4ED3-8175-FB79CE5A2A12}" vid="{A5662C19-271F-459F-B4ED-861A9823764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8380</TotalTime>
  <Words>924</Words>
  <Application>Microsoft Macintosh PowerPoint</Application>
  <PresentationFormat>Widescreen</PresentationFormat>
  <Paragraphs>107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Avenir Next LT Pro</vt:lpstr>
      <vt:lpstr>Avenir Next LT Pro Light</vt:lpstr>
      <vt:lpstr>EncaseVTI</vt:lpstr>
      <vt:lpstr>12.4 Oxides, and Salts Preparation</vt:lpstr>
      <vt:lpstr>In this class, we will</vt:lpstr>
      <vt:lpstr>How to experimentally identify an acid or base?</vt:lpstr>
      <vt:lpstr>Some questions to consider…</vt:lpstr>
      <vt:lpstr>Oxides</vt:lpstr>
      <vt:lpstr>Acidic oxides</vt:lpstr>
      <vt:lpstr>Basic oxides</vt:lpstr>
      <vt:lpstr>Amphoteric oxides</vt:lpstr>
      <vt:lpstr>Neutral oxides</vt:lpstr>
      <vt:lpstr>Compound oxides</vt:lpstr>
      <vt:lpstr>Salt Preparation</vt:lpstr>
      <vt:lpstr>Salt Preparation-Explain all highlighted conditions</vt:lpstr>
      <vt:lpstr>Practice</vt:lpstr>
      <vt:lpstr>Ionic equations</vt:lpstr>
      <vt:lpstr>Ionic equations- what to separate?</vt:lpstr>
      <vt:lpstr>Practice-Write the ionic and net ionic equations </vt:lpstr>
      <vt:lpstr>Review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11.2 Oxides, and Salts Preparation</dc:title>
  <dc:creator>Chen, Xinyu</dc:creator>
  <cp:lastModifiedBy>Xinyu Chen</cp:lastModifiedBy>
  <cp:revision>5</cp:revision>
  <dcterms:created xsi:type="dcterms:W3CDTF">2023-04-11T07:18:38Z</dcterms:created>
  <dcterms:modified xsi:type="dcterms:W3CDTF">2026-04-07T01:39:42Z</dcterms:modified>
</cp:coreProperties>
</file>