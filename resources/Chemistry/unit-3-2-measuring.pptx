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6" autoAdjust="0"/>
    <p:restoredTop sz="94660"/>
  </p:normalViewPr>
  <p:slideViewPr>
    <p:cSldViewPr snapToGrid="0">
      <p:cViewPr>
        <p:scale>
          <a:sx n="68" d="100"/>
          <a:sy n="68" d="100"/>
        </p:scale>
        <p:origin x="750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065E3B-36BB-4294-934A-F2138DD8753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BF745D6-7677-4C87-994F-80BA38F971D9}">
      <dgm:prSet/>
      <dgm:spPr/>
      <dgm:t>
        <a:bodyPr/>
        <a:lstStyle/>
        <a:p>
          <a:r>
            <a:rPr lang="en-US" b="0" i="0" dirty="0"/>
            <a:t>Sig. fig. tells you the precision and certainty of the data. The more sig. figs, the more precise and certain.</a:t>
          </a:r>
          <a:endParaRPr lang="en-US" dirty="0"/>
        </a:p>
      </dgm:t>
    </dgm:pt>
    <dgm:pt modelId="{69E0C3F0-D570-49C0-A343-1CC5D6CE2554}" type="parTrans" cxnId="{B0AC7426-1F64-46AC-8216-6C38731E00AD}">
      <dgm:prSet/>
      <dgm:spPr/>
      <dgm:t>
        <a:bodyPr/>
        <a:lstStyle/>
        <a:p>
          <a:endParaRPr lang="en-US"/>
        </a:p>
      </dgm:t>
    </dgm:pt>
    <dgm:pt modelId="{B5300A7B-2DE9-46F4-AD43-AD567C195D36}" type="sibTrans" cxnId="{B0AC7426-1F64-46AC-8216-6C38731E00AD}">
      <dgm:prSet/>
      <dgm:spPr/>
      <dgm:t>
        <a:bodyPr/>
        <a:lstStyle/>
        <a:p>
          <a:endParaRPr lang="en-US"/>
        </a:p>
      </dgm:t>
    </dgm:pt>
    <dgm:pt modelId="{11B05470-CA23-43F5-8865-D9E0353D3446}">
      <dgm:prSet/>
      <dgm:spPr/>
      <dgm:t>
        <a:bodyPr/>
        <a:lstStyle/>
        <a:p>
          <a:r>
            <a:rPr lang="en-US" b="0" i="0" dirty="0"/>
            <a:t>Non-zero digits are always significant. (i.e. 3289)</a:t>
          </a:r>
          <a:endParaRPr lang="en-US" dirty="0"/>
        </a:p>
      </dgm:t>
    </dgm:pt>
    <dgm:pt modelId="{528FADC5-781F-4B04-AC0D-0B2CD035247D}" type="parTrans" cxnId="{E2354695-9DA9-4B19-9A3A-8C61BC4CBCFB}">
      <dgm:prSet/>
      <dgm:spPr/>
      <dgm:t>
        <a:bodyPr/>
        <a:lstStyle/>
        <a:p>
          <a:endParaRPr lang="en-US"/>
        </a:p>
      </dgm:t>
    </dgm:pt>
    <dgm:pt modelId="{E9DE5962-A3B5-476A-93A7-A37BCE28B2A9}" type="sibTrans" cxnId="{E2354695-9DA9-4B19-9A3A-8C61BC4CBCFB}">
      <dgm:prSet/>
      <dgm:spPr/>
      <dgm:t>
        <a:bodyPr/>
        <a:lstStyle/>
        <a:p>
          <a:endParaRPr lang="en-US"/>
        </a:p>
      </dgm:t>
    </dgm:pt>
    <dgm:pt modelId="{13D47C8C-AB58-411A-8E90-17A331E43E31}">
      <dgm:prSet/>
      <dgm:spPr/>
      <dgm:t>
        <a:bodyPr/>
        <a:lstStyle/>
        <a:p>
          <a:r>
            <a:rPr lang="en-US" b="0" i="0" dirty="0"/>
            <a:t>Any zeros between two significant digits are significant. (i.e. 8009)</a:t>
          </a:r>
          <a:endParaRPr lang="en-US" dirty="0"/>
        </a:p>
      </dgm:t>
    </dgm:pt>
    <dgm:pt modelId="{1C33F026-4932-4492-8047-FF25F60BCD7A}" type="parTrans" cxnId="{209D8A9C-C5BB-4D2A-9B2D-9A5A9BFD47B1}">
      <dgm:prSet/>
      <dgm:spPr/>
      <dgm:t>
        <a:bodyPr/>
        <a:lstStyle/>
        <a:p>
          <a:endParaRPr lang="en-US"/>
        </a:p>
      </dgm:t>
    </dgm:pt>
    <dgm:pt modelId="{BC8EAA79-86EA-4E9F-8057-C9D68F614A71}" type="sibTrans" cxnId="{209D8A9C-C5BB-4D2A-9B2D-9A5A9BFD47B1}">
      <dgm:prSet/>
      <dgm:spPr/>
      <dgm:t>
        <a:bodyPr/>
        <a:lstStyle/>
        <a:p>
          <a:endParaRPr lang="en-US"/>
        </a:p>
      </dgm:t>
    </dgm:pt>
    <dgm:pt modelId="{657C0F44-1B97-41ED-82E8-DD86BC171241}">
      <dgm:prSet/>
      <dgm:spPr/>
      <dgm:t>
        <a:bodyPr/>
        <a:lstStyle/>
        <a:p>
          <a:r>
            <a:rPr lang="en-US" b="0" i="0" dirty="0"/>
            <a:t>Any tailing zeros after decimal points </a:t>
          </a:r>
          <a:r>
            <a:rPr lang="en-US" b="1" i="0" dirty="0"/>
            <a:t>are significant. </a:t>
          </a:r>
          <a:r>
            <a:rPr lang="en-US" b="0" i="0" dirty="0"/>
            <a:t>(i.e. 0.8000)</a:t>
          </a:r>
          <a:endParaRPr lang="en-US" dirty="0"/>
        </a:p>
      </dgm:t>
    </dgm:pt>
    <dgm:pt modelId="{21ECEADF-DFEA-433B-B4A2-9705C3ABAC33}" type="parTrans" cxnId="{9238EC1F-8E5A-489B-99BB-F210D95CAD23}">
      <dgm:prSet/>
      <dgm:spPr/>
      <dgm:t>
        <a:bodyPr/>
        <a:lstStyle/>
        <a:p>
          <a:endParaRPr lang="en-US"/>
        </a:p>
      </dgm:t>
    </dgm:pt>
    <dgm:pt modelId="{F3E99438-4389-4155-90B7-F92FD5FED4E7}" type="sibTrans" cxnId="{9238EC1F-8E5A-489B-99BB-F210D95CAD23}">
      <dgm:prSet/>
      <dgm:spPr/>
      <dgm:t>
        <a:bodyPr/>
        <a:lstStyle/>
        <a:p>
          <a:endParaRPr lang="en-US"/>
        </a:p>
      </dgm:t>
    </dgm:pt>
    <dgm:pt modelId="{4CEB8B80-9833-4072-BCC7-3B1D37B04E08}">
      <dgm:prSet/>
      <dgm:spPr/>
      <dgm:t>
        <a:bodyPr/>
        <a:lstStyle/>
        <a:p>
          <a:r>
            <a:rPr lang="en-US" b="0" i="0" dirty="0"/>
            <a:t>Any heading zeros AFTER the decimal points </a:t>
          </a:r>
          <a:r>
            <a:rPr lang="en-US" b="1" i="0" dirty="0"/>
            <a:t>are not significant. </a:t>
          </a:r>
          <a:r>
            <a:rPr lang="en-US" b="0" i="0" dirty="0"/>
            <a:t>(i.e. 0.000098)</a:t>
          </a:r>
          <a:endParaRPr lang="en-US" dirty="0"/>
        </a:p>
      </dgm:t>
    </dgm:pt>
    <dgm:pt modelId="{9B740901-0BF4-40D7-BA30-E3ECBF0C0ABD}" type="parTrans" cxnId="{0F9E74EB-3451-4696-9793-BFBEDE1A4B75}">
      <dgm:prSet/>
      <dgm:spPr/>
      <dgm:t>
        <a:bodyPr/>
        <a:lstStyle/>
        <a:p>
          <a:endParaRPr lang="en-US"/>
        </a:p>
      </dgm:t>
    </dgm:pt>
    <dgm:pt modelId="{E14A0F1A-98D8-4EBF-B644-A4AD0C1D0B8C}" type="sibTrans" cxnId="{0F9E74EB-3451-4696-9793-BFBEDE1A4B75}">
      <dgm:prSet/>
      <dgm:spPr/>
      <dgm:t>
        <a:bodyPr/>
        <a:lstStyle/>
        <a:p>
          <a:endParaRPr lang="en-US"/>
        </a:p>
      </dgm:t>
    </dgm:pt>
    <dgm:pt modelId="{D4D17321-0538-40CE-90AE-F976F8671E6A}">
      <dgm:prSet/>
      <dgm:spPr/>
      <dgm:t>
        <a:bodyPr/>
        <a:lstStyle/>
        <a:p>
          <a:r>
            <a:rPr lang="en-US" b="0" i="0"/>
            <a:t>The tailing zeros of an integer are </a:t>
          </a:r>
          <a:r>
            <a:rPr lang="en-US" b="1" i="0"/>
            <a:t>unspecified. </a:t>
          </a:r>
          <a:r>
            <a:rPr lang="en-US" b="0" i="0"/>
            <a:t>(i.e. 1000)</a:t>
          </a:r>
          <a:endParaRPr lang="en-US"/>
        </a:p>
      </dgm:t>
    </dgm:pt>
    <dgm:pt modelId="{87F06DE4-C67D-4B66-AB98-E6C4BD62F45A}" type="parTrans" cxnId="{B333E1F8-3E93-4228-801E-667D64311730}">
      <dgm:prSet/>
      <dgm:spPr/>
      <dgm:t>
        <a:bodyPr/>
        <a:lstStyle/>
        <a:p>
          <a:endParaRPr lang="en-US"/>
        </a:p>
      </dgm:t>
    </dgm:pt>
    <dgm:pt modelId="{B2C755FF-CF34-4FF6-A78D-41490389C91A}" type="sibTrans" cxnId="{B333E1F8-3E93-4228-801E-667D64311730}">
      <dgm:prSet/>
      <dgm:spPr/>
      <dgm:t>
        <a:bodyPr/>
        <a:lstStyle/>
        <a:p>
          <a:endParaRPr lang="en-US"/>
        </a:p>
      </dgm:t>
    </dgm:pt>
    <dgm:pt modelId="{CDA847C3-7781-46F2-9D26-FA71421AE2EF}" type="pres">
      <dgm:prSet presAssocID="{DD065E3B-36BB-4294-934A-F2138DD87533}" presName="linear" presStyleCnt="0">
        <dgm:presLayoutVars>
          <dgm:animLvl val="lvl"/>
          <dgm:resizeHandles val="exact"/>
        </dgm:presLayoutVars>
      </dgm:prSet>
      <dgm:spPr/>
    </dgm:pt>
    <dgm:pt modelId="{DEBBB5D9-BF28-4511-90F6-C9465E6B1082}" type="pres">
      <dgm:prSet presAssocID="{1BF745D6-7677-4C87-994F-80BA38F971D9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ACB7348-0761-4E6B-9FFA-DF0EF003545B}" type="pres">
      <dgm:prSet presAssocID="{B5300A7B-2DE9-46F4-AD43-AD567C195D36}" presName="spacer" presStyleCnt="0"/>
      <dgm:spPr/>
    </dgm:pt>
    <dgm:pt modelId="{8B778367-6F1A-46F1-A1DF-28484E922910}" type="pres">
      <dgm:prSet presAssocID="{11B05470-CA23-43F5-8865-D9E0353D3446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B1A17CF0-5808-4E73-A5D4-489B5EDF2820}" type="pres">
      <dgm:prSet presAssocID="{E9DE5962-A3B5-476A-93A7-A37BCE28B2A9}" presName="spacer" presStyleCnt="0"/>
      <dgm:spPr/>
    </dgm:pt>
    <dgm:pt modelId="{7827A9CE-987D-423E-8DC5-BC356B69765B}" type="pres">
      <dgm:prSet presAssocID="{13D47C8C-AB58-411A-8E90-17A331E43E3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B5DBCE0-2FD9-4297-9501-A6F5218DEC3B}" type="pres">
      <dgm:prSet presAssocID="{BC8EAA79-86EA-4E9F-8057-C9D68F614A71}" presName="spacer" presStyleCnt="0"/>
      <dgm:spPr/>
    </dgm:pt>
    <dgm:pt modelId="{66A77FF3-8544-4E25-B616-E05DF647213D}" type="pres">
      <dgm:prSet presAssocID="{657C0F44-1B97-41ED-82E8-DD86BC17124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CF86CA43-8A25-4F05-9B6C-191B295F874C}" type="pres">
      <dgm:prSet presAssocID="{F3E99438-4389-4155-90B7-F92FD5FED4E7}" presName="spacer" presStyleCnt="0"/>
      <dgm:spPr/>
    </dgm:pt>
    <dgm:pt modelId="{E8A96D06-BC2C-4D47-9C03-AB8609C96361}" type="pres">
      <dgm:prSet presAssocID="{4CEB8B80-9833-4072-BCC7-3B1D37B04E08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D9F0ED42-AC99-4FC9-AB81-6DD79D333789}" type="pres">
      <dgm:prSet presAssocID="{E14A0F1A-98D8-4EBF-B644-A4AD0C1D0B8C}" presName="spacer" presStyleCnt="0"/>
      <dgm:spPr/>
    </dgm:pt>
    <dgm:pt modelId="{B2010A19-8229-498D-BDCE-AD9CD187C874}" type="pres">
      <dgm:prSet presAssocID="{D4D17321-0538-40CE-90AE-F976F8671E6A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9238EC1F-8E5A-489B-99BB-F210D95CAD23}" srcId="{DD065E3B-36BB-4294-934A-F2138DD87533}" destId="{657C0F44-1B97-41ED-82E8-DD86BC171241}" srcOrd="3" destOrd="0" parTransId="{21ECEADF-DFEA-433B-B4A2-9705C3ABAC33}" sibTransId="{F3E99438-4389-4155-90B7-F92FD5FED4E7}"/>
    <dgm:cxn modelId="{B0AC7426-1F64-46AC-8216-6C38731E00AD}" srcId="{DD065E3B-36BB-4294-934A-F2138DD87533}" destId="{1BF745D6-7677-4C87-994F-80BA38F971D9}" srcOrd="0" destOrd="0" parTransId="{69E0C3F0-D570-49C0-A343-1CC5D6CE2554}" sibTransId="{B5300A7B-2DE9-46F4-AD43-AD567C195D36}"/>
    <dgm:cxn modelId="{9C64D45E-4DF9-486F-88FF-F52955688237}" type="presOf" srcId="{4CEB8B80-9833-4072-BCC7-3B1D37B04E08}" destId="{E8A96D06-BC2C-4D47-9C03-AB8609C96361}" srcOrd="0" destOrd="0" presId="urn:microsoft.com/office/officeart/2005/8/layout/vList2"/>
    <dgm:cxn modelId="{C9F3A062-1AEA-4B9A-ABB2-E3A18A46F374}" type="presOf" srcId="{13D47C8C-AB58-411A-8E90-17A331E43E31}" destId="{7827A9CE-987D-423E-8DC5-BC356B69765B}" srcOrd="0" destOrd="0" presId="urn:microsoft.com/office/officeart/2005/8/layout/vList2"/>
    <dgm:cxn modelId="{F45A3371-6B14-4B45-BE4E-58815152917F}" type="presOf" srcId="{1BF745D6-7677-4C87-994F-80BA38F971D9}" destId="{DEBBB5D9-BF28-4511-90F6-C9465E6B1082}" srcOrd="0" destOrd="0" presId="urn:microsoft.com/office/officeart/2005/8/layout/vList2"/>
    <dgm:cxn modelId="{22851E7E-5F3A-4E78-82EF-7B0FB86273A9}" type="presOf" srcId="{11B05470-CA23-43F5-8865-D9E0353D3446}" destId="{8B778367-6F1A-46F1-A1DF-28484E922910}" srcOrd="0" destOrd="0" presId="urn:microsoft.com/office/officeart/2005/8/layout/vList2"/>
    <dgm:cxn modelId="{E2354695-9DA9-4B19-9A3A-8C61BC4CBCFB}" srcId="{DD065E3B-36BB-4294-934A-F2138DD87533}" destId="{11B05470-CA23-43F5-8865-D9E0353D3446}" srcOrd="1" destOrd="0" parTransId="{528FADC5-781F-4B04-AC0D-0B2CD035247D}" sibTransId="{E9DE5962-A3B5-476A-93A7-A37BCE28B2A9}"/>
    <dgm:cxn modelId="{209D8A9C-C5BB-4D2A-9B2D-9A5A9BFD47B1}" srcId="{DD065E3B-36BB-4294-934A-F2138DD87533}" destId="{13D47C8C-AB58-411A-8E90-17A331E43E31}" srcOrd="2" destOrd="0" parTransId="{1C33F026-4932-4492-8047-FF25F60BCD7A}" sibTransId="{BC8EAA79-86EA-4E9F-8057-C9D68F614A71}"/>
    <dgm:cxn modelId="{A05A0FE2-69CC-4C6B-A246-DBF8A84B71AA}" type="presOf" srcId="{D4D17321-0538-40CE-90AE-F976F8671E6A}" destId="{B2010A19-8229-498D-BDCE-AD9CD187C874}" srcOrd="0" destOrd="0" presId="urn:microsoft.com/office/officeart/2005/8/layout/vList2"/>
    <dgm:cxn modelId="{E3CDDEE6-6C10-407D-BA6D-D8ADC6372C2D}" type="presOf" srcId="{DD065E3B-36BB-4294-934A-F2138DD87533}" destId="{CDA847C3-7781-46F2-9D26-FA71421AE2EF}" srcOrd="0" destOrd="0" presId="urn:microsoft.com/office/officeart/2005/8/layout/vList2"/>
    <dgm:cxn modelId="{0F9E74EB-3451-4696-9793-BFBEDE1A4B75}" srcId="{DD065E3B-36BB-4294-934A-F2138DD87533}" destId="{4CEB8B80-9833-4072-BCC7-3B1D37B04E08}" srcOrd="4" destOrd="0" parTransId="{9B740901-0BF4-40D7-BA30-E3ECBF0C0ABD}" sibTransId="{E14A0F1A-98D8-4EBF-B644-A4AD0C1D0B8C}"/>
    <dgm:cxn modelId="{B333E1F8-3E93-4228-801E-667D64311730}" srcId="{DD065E3B-36BB-4294-934A-F2138DD87533}" destId="{D4D17321-0538-40CE-90AE-F976F8671E6A}" srcOrd="5" destOrd="0" parTransId="{87F06DE4-C67D-4B66-AB98-E6C4BD62F45A}" sibTransId="{B2C755FF-CF34-4FF6-A78D-41490389C91A}"/>
    <dgm:cxn modelId="{169882FF-B22A-4440-9661-E3E4E63FAF27}" type="presOf" srcId="{657C0F44-1B97-41ED-82E8-DD86BC171241}" destId="{66A77FF3-8544-4E25-B616-E05DF647213D}" srcOrd="0" destOrd="0" presId="urn:microsoft.com/office/officeart/2005/8/layout/vList2"/>
    <dgm:cxn modelId="{C96C9605-CB14-4693-ADDC-A58236919A9A}" type="presParOf" srcId="{CDA847C3-7781-46F2-9D26-FA71421AE2EF}" destId="{DEBBB5D9-BF28-4511-90F6-C9465E6B1082}" srcOrd="0" destOrd="0" presId="urn:microsoft.com/office/officeart/2005/8/layout/vList2"/>
    <dgm:cxn modelId="{D7974A7B-EC86-4C0D-8CAA-0EE34EE3583F}" type="presParOf" srcId="{CDA847C3-7781-46F2-9D26-FA71421AE2EF}" destId="{BACB7348-0761-4E6B-9FFA-DF0EF003545B}" srcOrd="1" destOrd="0" presId="urn:microsoft.com/office/officeart/2005/8/layout/vList2"/>
    <dgm:cxn modelId="{E7634CA8-514E-4246-8EF1-2FEBF0B7A2A2}" type="presParOf" srcId="{CDA847C3-7781-46F2-9D26-FA71421AE2EF}" destId="{8B778367-6F1A-46F1-A1DF-28484E922910}" srcOrd="2" destOrd="0" presId="urn:microsoft.com/office/officeart/2005/8/layout/vList2"/>
    <dgm:cxn modelId="{5525B304-E8B8-4928-9A6C-2067B71D3DA0}" type="presParOf" srcId="{CDA847C3-7781-46F2-9D26-FA71421AE2EF}" destId="{B1A17CF0-5808-4E73-A5D4-489B5EDF2820}" srcOrd="3" destOrd="0" presId="urn:microsoft.com/office/officeart/2005/8/layout/vList2"/>
    <dgm:cxn modelId="{3FFC8D3D-2338-473D-A139-43F769CE1FAA}" type="presParOf" srcId="{CDA847C3-7781-46F2-9D26-FA71421AE2EF}" destId="{7827A9CE-987D-423E-8DC5-BC356B69765B}" srcOrd="4" destOrd="0" presId="urn:microsoft.com/office/officeart/2005/8/layout/vList2"/>
    <dgm:cxn modelId="{5CAC1D3B-4A6D-444D-A400-C8C6D7EB69AF}" type="presParOf" srcId="{CDA847C3-7781-46F2-9D26-FA71421AE2EF}" destId="{8B5DBCE0-2FD9-4297-9501-A6F5218DEC3B}" srcOrd="5" destOrd="0" presId="urn:microsoft.com/office/officeart/2005/8/layout/vList2"/>
    <dgm:cxn modelId="{FBC2305D-7731-4E7D-99A4-79CFF9D85BD6}" type="presParOf" srcId="{CDA847C3-7781-46F2-9D26-FA71421AE2EF}" destId="{66A77FF3-8544-4E25-B616-E05DF647213D}" srcOrd="6" destOrd="0" presId="urn:microsoft.com/office/officeart/2005/8/layout/vList2"/>
    <dgm:cxn modelId="{31DA8F0C-7364-43A4-B4BD-F33D20124D6A}" type="presParOf" srcId="{CDA847C3-7781-46F2-9D26-FA71421AE2EF}" destId="{CF86CA43-8A25-4F05-9B6C-191B295F874C}" srcOrd="7" destOrd="0" presId="urn:microsoft.com/office/officeart/2005/8/layout/vList2"/>
    <dgm:cxn modelId="{1D8AB9AF-E4FB-4A3E-B6BF-8AB3A3252C3C}" type="presParOf" srcId="{CDA847C3-7781-46F2-9D26-FA71421AE2EF}" destId="{E8A96D06-BC2C-4D47-9C03-AB8609C96361}" srcOrd="8" destOrd="0" presId="urn:microsoft.com/office/officeart/2005/8/layout/vList2"/>
    <dgm:cxn modelId="{4BF98ABC-5CE1-4AFC-BA9C-5E10015CF681}" type="presParOf" srcId="{CDA847C3-7781-46F2-9D26-FA71421AE2EF}" destId="{D9F0ED42-AC99-4FC9-AB81-6DD79D333789}" srcOrd="9" destOrd="0" presId="urn:microsoft.com/office/officeart/2005/8/layout/vList2"/>
    <dgm:cxn modelId="{B79969D2-AD1B-4E34-B0D6-5605C1DBBD6B}" type="presParOf" srcId="{CDA847C3-7781-46F2-9D26-FA71421AE2EF}" destId="{B2010A19-8229-498D-BDCE-AD9CD187C87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BBB5D9-BF28-4511-90F6-C9465E6B1082}">
      <dsp:nvSpPr>
        <dsp:cNvPr id="0" name=""/>
        <dsp:cNvSpPr/>
      </dsp:nvSpPr>
      <dsp:spPr>
        <a:xfrm>
          <a:off x="0" y="63471"/>
          <a:ext cx="6316266" cy="77943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Sig. fig. tells you the precision and certainty of the data. The more sig. figs, the more precise and certain.</a:t>
          </a:r>
          <a:endParaRPr lang="en-US" sz="1900" kern="1200" dirty="0"/>
        </a:p>
      </dsp:txBody>
      <dsp:txXfrm>
        <a:off x="38049" y="101520"/>
        <a:ext cx="6240168" cy="703341"/>
      </dsp:txXfrm>
    </dsp:sp>
    <dsp:sp modelId="{8B778367-6F1A-46F1-A1DF-28484E922910}">
      <dsp:nvSpPr>
        <dsp:cNvPr id="0" name=""/>
        <dsp:cNvSpPr/>
      </dsp:nvSpPr>
      <dsp:spPr>
        <a:xfrm>
          <a:off x="0" y="897631"/>
          <a:ext cx="6316266" cy="779439"/>
        </a:xfrm>
        <a:prstGeom prst="roundRect">
          <a:avLst/>
        </a:prstGeom>
        <a:solidFill>
          <a:schemeClr val="accent2">
            <a:hueOff val="4029354"/>
            <a:satOff val="-122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Non-zero digits are always significant. (i.e. 3289)</a:t>
          </a:r>
          <a:endParaRPr lang="en-US" sz="1900" kern="1200" dirty="0"/>
        </a:p>
      </dsp:txBody>
      <dsp:txXfrm>
        <a:off x="38049" y="935680"/>
        <a:ext cx="6240168" cy="703341"/>
      </dsp:txXfrm>
    </dsp:sp>
    <dsp:sp modelId="{7827A9CE-987D-423E-8DC5-BC356B69765B}">
      <dsp:nvSpPr>
        <dsp:cNvPr id="0" name=""/>
        <dsp:cNvSpPr/>
      </dsp:nvSpPr>
      <dsp:spPr>
        <a:xfrm>
          <a:off x="0" y="1731790"/>
          <a:ext cx="6316266" cy="779439"/>
        </a:xfrm>
        <a:prstGeom prst="roundRect">
          <a:avLst/>
        </a:prstGeom>
        <a:solidFill>
          <a:schemeClr val="accent2">
            <a:hueOff val="8058709"/>
            <a:satOff val="-243"/>
            <a:lumOff val="235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Any zeros between two significant digits are significant. (i.e. 8009)</a:t>
          </a:r>
          <a:endParaRPr lang="en-US" sz="1900" kern="1200" dirty="0"/>
        </a:p>
      </dsp:txBody>
      <dsp:txXfrm>
        <a:off x="38049" y="1769839"/>
        <a:ext cx="6240168" cy="703341"/>
      </dsp:txXfrm>
    </dsp:sp>
    <dsp:sp modelId="{66A77FF3-8544-4E25-B616-E05DF647213D}">
      <dsp:nvSpPr>
        <dsp:cNvPr id="0" name=""/>
        <dsp:cNvSpPr/>
      </dsp:nvSpPr>
      <dsp:spPr>
        <a:xfrm>
          <a:off x="0" y="2565950"/>
          <a:ext cx="6316266" cy="779439"/>
        </a:xfrm>
        <a:prstGeom prst="roundRect">
          <a:avLst/>
        </a:prstGeom>
        <a:solidFill>
          <a:schemeClr val="accent2">
            <a:hueOff val="12088064"/>
            <a:satOff val="-365"/>
            <a:lumOff val="353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Any tailing zeros after decimal points </a:t>
          </a:r>
          <a:r>
            <a:rPr lang="en-US" sz="1900" b="1" i="0" kern="1200" dirty="0"/>
            <a:t>are significant. </a:t>
          </a:r>
          <a:r>
            <a:rPr lang="en-US" sz="1900" b="0" i="0" kern="1200" dirty="0"/>
            <a:t>(i.e. 0.8000)</a:t>
          </a:r>
          <a:endParaRPr lang="en-US" sz="1900" kern="1200" dirty="0"/>
        </a:p>
      </dsp:txBody>
      <dsp:txXfrm>
        <a:off x="38049" y="2603999"/>
        <a:ext cx="6240168" cy="703341"/>
      </dsp:txXfrm>
    </dsp:sp>
    <dsp:sp modelId="{E8A96D06-BC2C-4D47-9C03-AB8609C96361}">
      <dsp:nvSpPr>
        <dsp:cNvPr id="0" name=""/>
        <dsp:cNvSpPr/>
      </dsp:nvSpPr>
      <dsp:spPr>
        <a:xfrm>
          <a:off x="0" y="3400109"/>
          <a:ext cx="6316266" cy="779439"/>
        </a:xfrm>
        <a:prstGeom prst="roundRect">
          <a:avLst/>
        </a:prstGeom>
        <a:solidFill>
          <a:schemeClr val="accent2">
            <a:hueOff val="16117418"/>
            <a:satOff val="-486"/>
            <a:lumOff val="470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 dirty="0"/>
            <a:t>Any heading zeros AFTER the decimal points </a:t>
          </a:r>
          <a:r>
            <a:rPr lang="en-US" sz="1900" b="1" i="0" kern="1200" dirty="0"/>
            <a:t>are not significant. </a:t>
          </a:r>
          <a:r>
            <a:rPr lang="en-US" sz="1900" b="0" i="0" kern="1200" dirty="0"/>
            <a:t>(i.e. 0.000098)</a:t>
          </a:r>
          <a:endParaRPr lang="en-US" sz="1900" kern="1200" dirty="0"/>
        </a:p>
      </dsp:txBody>
      <dsp:txXfrm>
        <a:off x="38049" y="3438158"/>
        <a:ext cx="6240168" cy="703341"/>
      </dsp:txXfrm>
    </dsp:sp>
    <dsp:sp modelId="{B2010A19-8229-498D-BDCE-AD9CD187C874}">
      <dsp:nvSpPr>
        <dsp:cNvPr id="0" name=""/>
        <dsp:cNvSpPr/>
      </dsp:nvSpPr>
      <dsp:spPr>
        <a:xfrm>
          <a:off x="0" y="4234268"/>
          <a:ext cx="6316266" cy="779439"/>
        </a:xfrm>
        <a:prstGeom prst="roundRect">
          <a:avLst/>
        </a:prstGeom>
        <a:solidFill>
          <a:schemeClr val="accent2">
            <a:hueOff val="20146772"/>
            <a:satOff val="-608"/>
            <a:lumOff val="5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The tailing zeros of an integer are </a:t>
          </a:r>
          <a:r>
            <a:rPr lang="en-US" sz="1900" b="1" i="0" kern="1200"/>
            <a:t>unspecified. </a:t>
          </a:r>
          <a:r>
            <a:rPr lang="en-US" sz="1900" b="0" i="0" kern="1200"/>
            <a:t>(i.e. 1000)</a:t>
          </a:r>
          <a:endParaRPr lang="en-US" sz="1900" kern="1200"/>
        </a:p>
      </dsp:txBody>
      <dsp:txXfrm>
        <a:off x="38049" y="4272317"/>
        <a:ext cx="6240168" cy="70334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EB46B8FB-F6A2-5F47-A6CD-A7E17E69270F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9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Oval 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2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7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8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79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0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1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DAB39E9-6F50-3F4B-9DDB-FC0E0CA9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5150" y="768334"/>
            <a:ext cx="5066001" cy="2866405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B2C33E-E9A6-304D-BBCB-97AD0B213C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5150" y="4283239"/>
            <a:ext cx="5066001" cy="1475177"/>
          </a:xfrm>
        </p:spPr>
        <p:txBody>
          <a:bodyPr anchor="b"/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9C75C4-E533-BE48-B528-D1A278BC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66928" y="457200"/>
            <a:ext cx="3608205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fld id="{A5B0A250-5CC0-1746-B209-08E8B0DAE6AF}" type="datetimeFigureOut">
              <a:rPr lang="en-US" smtClean="0"/>
              <a:pPr algn="l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9BA8A-EF83-434D-A90E-0805D1104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FDDE0-90B9-AD4E-B0EB-E7464FA9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33A3282-0389-C547-8CA6-7F3E7F27B34D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0230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F0CAFDA3-320A-C24D-A7A1-20C1267EC987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2411669-6E2C-2243-99CD-6BC9D724FA1F}"/>
                </a:ext>
              </a:extLst>
            </p:cNvPr>
            <p:cNvSpPr/>
            <p:nvPr/>
          </p:nvSpPr>
          <p:spPr>
            <a:xfrm>
              <a:off x="8928528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C4E0C522-0F40-ED44-A700-F1BCD1CF74F5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B79B4380-CBEC-C341-A10E-5EF9A8597959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04AD70E-5490-4C4E-A05D-D67949C51A74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8A8883-9F24-0047-92B7-45B3D2E7D9C0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AAC3A3BB-FD2C-FB44-9478-FA87EF229D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BF46B3B1-E981-BB40-B916-51A6D3851969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EA7DAE92-7D6B-B042-83BE-047C8EC322A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06AADCE6-4277-EA49-AF23-63B53CA6772A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58CEA343-047B-DF4E-A7A8-881C7740EA3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FCCBAA07-17CE-2740-AA04-AEDA5EAD2796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BF15C430-7951-6040-BD4C-4E996E94480E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0B3467F9-370D-5C4C-9EDE-E0CA0E401568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2A1E4-52BA-534C-AECC-35C3CF44F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5675-65B4-E14F-9785-663A83B7B6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676A1E-2332-684F-BDD2-687C166BD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BB8CB0-B7BE-7D4F-B254-8A2F8AEC2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5A569-A063-8E40-B703-82B11D2A9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7169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31D73A-BA91-794F-8C09-4F4B41A6D08B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835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0578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>
            <a:extLst>
              <a:ext uri="{FF2B5EF4-FFF2-40B4-BE49-F238E27FC236}">
                <a16:creationId xmlns:a16="http://schemas.microsoft.com/office/drawing/2014/main" id="{3ABDDED5-B489-454D-A72D-46C9473AB018}"/>
              </a:ext>
            </a:extLst>
          </p:cNvPr>
          <p:cNvGrpSpPr/>
          <p:nvPr/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E6338A9A-49A1-B04D-B479-43604A5CD6D5}"/>
                </a:ext>
              </a:extLst>
            </p:cNvPr>
            <p:cNvSpPr/>
            <p:nvPr/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Freeform 40">
              <a:extLst>
                <a:ext uri="{FF2B5EF4-FFF2-40B4-BE49-F238E27FC236}">
                  <a16:creationId xmlns:a16="http://schemas.microsoft.com/office/drawing/2014/main" id="{3151B6D8-101B-F34D-992A-1668DB5D0067}"/>
                </a:ext>
              </a:extLst>
            </p:cNvPr>
            <p:cNvSpPr/>
            <p:nvPr/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2" name="Freeform 41">
              <a:extLst>
                <a:ext uri="{FF2B5EF4-FFF2-40B4-BE49-F238E27FC236}">
                  <a16:creationId xmlns:a16="http://schemas.microsoft.com/office/drawing/2014/main" id="{21D4DE71-EB1A-E74C-9364-5FEC5377F4EF}"/>
                </a:ext>
              </a:extLst>
            </p:cNvPr>
            <p:cNvSpPr/>
            <p:nvPr/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D99A5CD-9D3A-DA46-AD96-34B9DB522051}"/>
                </a:ext>
              </a:extLst>
            </p:cNvPr>
            <p:cNvSpPr/>
            <p:nvPr/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E6537DF9-74F2-924C-9B63-22B100C80C92}"/>
                </a:ext>
              </a:extLst>
            </p:cNvPr>
            <p:cNvSpPr/>
            <p:nvPr/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D7655457-8E4D-F34C-A595-66A45E9C3A1F}"/>
                </a:ext>
              </a:extLst>
            </p:cNvPr>
            <p:cNvSpPr/>
            <p:nvPr/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 45">
              <a:extLst>
                <a:ext uri="{FF2B5EF4-FFF2-40B4-BE49-F238E27FC236}">
                  <a16:creationId xmlns:a16="http://schemas.microsoft.com/office/drawing/2014/main" id="{FB0E8D2C-8947-E44C-BC5F-F81B083DAA3E}"/>
                </a:ext>
              </a:extLst>
            </p:cNvPr>
            <p:cNvSpPr/>
            <p:nvPr/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ED57F45D-85B8-AC49-A2BA-E941F1BE7F15}"/>
                </a:ext>
              </a:extLst>
            </p:cNvPr>
            <p:cNvSpPr/>
            <p:nvPr/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DA576359-CAE3-634C-8DF8-A834BCD7D668}"/>
                </a:ext>
              </a:extLst>
            </p:cNvPr>
            <p:cNvSpPr/>
            <p:nvPr/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6343F35-6601-BD4A-B9A5-25361D0453D2}"/>
                </a:ext>
              </a:extLst>
            </p:cNvPr>
            <p:cNvSpPr/>
            <p:nvPr/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5ED1C169-DCD9-9C4B-91B1-519621155A64}"/>
                </a:ext>
              </a:extLst>
            </p:cNvPr>
            <p:cNvSpPr/>
            <p:nvPr/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32328AC7-E0BC-0E46-A25B-11D523EC8100}"/>
                </a:ext>
              </a:extLst>
            </p:cNvPr>
            <p:cNvSpPr/>
            <p:nvPr/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 51">
              <a:extLst>
                <a:ext uri="{FF2B5EF4-FFF2-40B4-BE49-F238E27FC236}">
                  <a16:creationId xmlns:a16="http://schemas.microsoft.com/office/drawing/2014/main" id="{32BBE02A-588F-6C4D-B310-694098C6A340}"/>
                </a:ext>
              </a:extLst>
            </p:cNvPr>
            <p:cNvSpPr/>
            <p:nvPr/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52">
              <a:extLst>
                <a:ext uri="{FF2B5EF4-FFF2-40B4-BE49-F238E27FC236}">
                  <a16:creationId xmlns:a16="http://schemas.microsoft.com/office/drawing/2014/main" id="{6751D5A0-C90A-0A44-8654-CFE1B719B353}"/>
                </a:ext>
              </a:extLst>
            </p:cNvPr>
            <p:cNvSpPr/>
            <p:nvPr/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0F0FA086-0D80-B74A-9B37-5EACDE30D61F}"/>
                </a:ext>
              </a:extLst>
            </p:cNvPr>
            <p:cNvSpPr/>
            <p:nvPr/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7022E302-2A55-8844-A50B-DC16D075E16B}"/>
                </a:ext>
              </a:extLst>
            </p:cNvPr>
            <p:cNvSpPr/>
            <p:nvPr/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B325F5-A048-2843-A40B-3B2B31ECED76}"/>
                </a:ext>
              </a:extLst>
            </p:cNvPr>
            <p:cNvSpPr/>
            <p:nvPr/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Freeform 56">
              <a:extLst>
                <a:ext uri="{FF2B5EF4-FFF2-40B4-BE49-F238E27FC236}">
                  <a16:creationId xmlns:a16="http://schemas.microsoft.com/office/drawing/2014/main" id="{7707B616-7E85-5442-B46B-AF9426A7A0E9}"/>
                </a:ext>
              </a:extLst>
            </p:cNvPr>
            <p:cNvSpPr/>
            <p:nvPr/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8" name="Freeform 57">
              <a:extLst>
                <a:ext uri="{FF2B5EF4-FFF2-40B4-BE49-F238E27FC236}">
                  <a16:creationId xmlns:a16="http://schemas.microsoft.com/office/drawing/2014/main" id="{08914A00-D181-5847-A150-77CE67F94369}"/>
                </a:ext>
              </a:extLst>
            </p:cNvPr>
            <p:cNvSpPr/>
            <p:nvPr/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9" name="Freeform 58">
              <a:extLst>
                <a:ext uri="{FF2B5EF4-FFF2-40B4-BE49-F238E27FC236}">
                  <a16:creationId xmlns:a16="http://schemas.microsoft.com/office/drawing/2014/main" id="{DAF2D976-5F49-2848-B465-C85708A6D706}"/>
                </a:ext>
              </a:extLst>
            </p:cNvPr>
            <p:cNvSpPr/>
            <p:nvPr/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0" name="Freeform 59">
              <a:extLst>
                <a:ext uri="{FF2B5EF4-FFF2-40B4-BE49-F238E27FC236}">
                  <a16:creationId xmlns:a16="http://schemas.microsoft.com/office/drawing/2014/main" id="{5E333474-B850-354C-A2E2-01735C948D47}"/>
                </a:ext>
              </a:extLst>
            </p:cNvPr>
            <p:cNvSpPr/>
            <p:nvPr/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1" name="Freeform 60">
              <a:extLst>
                <a:ext uri="{FF2B5EF4-FFF2-40B4-BE49-F238E27FC236}">
                  <a16:creationId xmlns:a16="http://schemas.microsoft.com/office/drawing/2014/main" id="{BC25646C-71B3-4A44-A4FE-C3CABE5580BB}"/>
                </a:ext>
              </a:extLst>
            </p:cNvPr>
            <p:cNvSpPr/>
            <p:nvPr/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2" name="Freeform 61">
              <a:extLst>
                <a:ext uri="{FF2B5EF4-FFF2-40B4-BE49-F238E27FC236}">
                  <a16:creationId xmlns:a16="http://schemas.microsoft.com/office/drawing/2014/main" id="{B598CFE9-67EE-E342-9EF7-F40A1E0BE59E}"/>
                </a:ext>
              </a:extLst>
            </p:cNvPr>
            <p:cNvSpPr/>
            <p:nvPr/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63" name="Freeform 62">
              <a:extLst>
                <a:ext uri="{FF2B5EF4-FFF2-40B4-BE49-F238E27FC236}">
                  <a16:creationId xmlns:a16="http://schemas.microsoft.com/office/drawing/2014/main" id="{1E29AD13-94FE-1349-A28E-10F6E780F510}"/>
                </a:ext>
              </a:extLst>
            </p:cNvPr>
            <p:cNvSpPr/>
            <p:nvPr/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650648E-B4D5-4145-84E7-46B5793EA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51"/>
            <a:ext cx="5066001" cy="2334768"/>
          </a:xfrm>
        </p:spPr>
        <p:txBody>
          <a:bodyPr anchor="t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3B92A6-7558-3148-B855-5BC58B415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4255453"/>
            <a:ext cx="5066001" cy="1500187"/>
          </a:xfrm>
        </p:spPr>
        <p:txBody>
          <a:bodyPr anchor="b"/>
          <a:lstStyle>
            <a:lvl1pPr marL="0" indent="0">
              <a:buNone/>
              <a:defRPr sz="2400">
                <a:solidFill>
                  <a:schemeClr val="bg1">
                    <a:lumMod val="6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A0B541-D211-974B-97FE-C1F9473AB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27FB0-D95A-D543-8E29-6E5F22B49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9C4404-F49D-9F48-A10B-1F60870B4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17335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6A1FD1-D82F-3141-8687-8D7C0631C21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2491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442ECFEB-12CF-4C4F-BC8A-5816C27CA565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26C9482-2804-144B-88B2-0AF191BD757D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1363F79-96BD-9240-86E2-DF26C9C2437D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153F0BF1-DA57-1D49-82F0-802F4D385A85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8CD42A1B-A03A-C946-8A2A-CE437EA433FD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591FE00-3AAF-9B4B-8107-E94D50828227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49E92E9-89A7-4842-B271-411C7DF75D2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C29C99-0841-9F46-AB1A-E9751DFE448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0AB684-BDA8-014B-8DCC-125F8B8DC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40E05-0F5F-6243-AD57-66BFC33ADB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2851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70B3A4-11FE-D94C-9B93-255E362310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9638" y="2365755"/>
            <a:ext cx="5239512" cy="3395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BEEAF-F881-6E48-84AF-E5CEEF1C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472753-1CC3-9244-9AF0-6927018A6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DD55D0-FCC7-AC42-9810-9B49E3348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736C3-88FB-244C-83B8-B2856998D22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6197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7D16A9C-7411-5242-A59C-816B8907E3BE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A997260B-7D44-7049-B605-7FD6E6CE5612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5D6AF601-77C3-D74A-B1E5-7F33703A6927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4DFCA921-0F9E-2E41-A285-75409E25501A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120B9E03-438B-FC42-9DA1-835D5BC3FE8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D670E1F-61CD-8940-A898-6D5092A78BB9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080C64CF-0C6A-3449-9709-AE038C4A7995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EC46D5B-957F-A24C-8E36-CC71F660EC8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58182F-7B5E-FD42-AFC6-A3848D833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768096"/>
            <a:ext cx="7333488" cy="12710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9E4DE-75C0-C841-A68D-9D7BBAD76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2149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5C87F7-356E-9E43-97A0-D972B22853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2149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AB4C28-30CB-CC4E-A25E-F4FEFA49BC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3066" y="2365756"/>
            <a:ext cx="523951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ED0191-963B-1E4C-BEC5-9B42E3951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3066" y="3189668"/>
            <a:ext cx="5239512" cy="257155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0E0BED-3EB7-BB4A-A556-FA967FB01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A2466A-4D90-174C-B382-AC4674D72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EADE49-8082-214B-9742-5EE8DA2E9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5E39200-18D5-014B-BAB8-FF5D0BA15E0C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117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D7DF52F6-A06E-0343-95B8-DAAC38DB4B8C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7092C52-7052-0749-9DA0-9374DBF495AE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64E1C2F-81E1-C44D-859C-946596C950F2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3626485-4263-0A44-9561-E278A7056C33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7D45AAB5-3CCC-DE4A-A962-3702911B55C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8CAFB16F-8EDE-D44F-A51E-34EDC41E7404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DCD51329-732C-BB4C-98E5-715BAF9F8853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92B5D44-BC55-AF4C-984D-C8231B22F80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A1E9E2-564E-7049-A22F-BB5B876BA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359D05-C08D-7747-B2FC-3F62B335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FF615-BB08-A844-B689-BAA7C5040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3A67D-F96F-4849-8C83-49CC3A653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CFAAB9-2B6B-8D4C-A748-433E2C393EA6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6384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8BCA70-D63D-40F6-B9B3-4E49B96E2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pPr/>
              <a:t>9/11/2024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F12559-BD91-4904-A24A-0CF0A2324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658BB7-74A5-4A6F-A0FF-021E68F02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5885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D0914A35-7AAF-4B42-9C68-47A633EFD9D0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DABCED79-0E70-FB4D-ABF2-D859BF5556E4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8364885D-A3A4-5144-AB4E-7624F27287E6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22073D5-CC72-0549-BD26-F7AF9851BE45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1827A049-C9FD-554E-9B01-F151B0D9E86B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76832559-4D18-8744-AB91-9FCFAB732477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BF97A623-E5DC-1B44-B687-8643B9F0D741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637BBE1-2C82-4E45-B5C5-35E07B05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64973"/>
            <a:ext cx="3609982" cy="1395043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01F2E-A734-364B-8A7D-990D6B8893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4832" y="770890"/>
            <a:ext cx="6112517" cy="480057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7CBAD9-5515-1748-8E77-F48160F4ED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70897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A6C22B-80D4-AA42-9999-401E37B4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055DE4-33E8-7F4B-9334-95EA60845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70FA5-21EE-D742-8F01-C1BAE0FDB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66AA-D7DF-F84D-80D4-E216A641B00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124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210D391A-F01E-4947-8A01-95438AA0B323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D499306-B4E0-064D-8F6C-96E9C4BD04DA}"/>
                </a:ext>
              </a:extLst>
            </p:cNvPr>
            <p:cNvSpPr/>
            <p:nvPr/>
          </p:nvSpPr>
          <p:spPr>
            <a:xfrm>
              <a:off x="10290315" y="806362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AF3D0241-0A21-8047-8CE3-B3FDD5FDF71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3083F97-6891-0447-957C-AB0834B826D2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B2EF7D75-E7C1-5147-A03B-3EC641CF3B08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A6D7CA94-94B4-C140-8C68-01C0ADFA1C7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211CD629-C318-A848-BDDE-BBA9465EBF9D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2A5AC1F8-1370-E946-977E-E4CFC6947BAB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4CEE63B-B967-0A48-9623-220376760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89"/>
            <a:ext cx="3609983" cy="1389127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11F680-28C8-FA44-9CD5-20709DA02E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23838" y="890816"/>
            <a:ext cx="6060136" cy="4870411"/>
          </a:xfrm>
          <a:solidFill>
            <a:schemeClr val="bg2"/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D507CD-197E-BB4C-83A6-DA3FC97A22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65150" y="2160016"/>
            <a:ext cx="3609983" cy="360121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E00AC-DF6C-D548-8A06-D6269BDB0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ED113B-57D4-9A4F-BFE0-2A3963B42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D9954-FA18-8948-AA52-21CED059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E3EB25D-2379-5040-B990-1C99B0B7D931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3377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7ED46EE4-CE67-DD46-A751-9FEA049A22B8}"/>
              </a:ext>
            </a:extLst>
          </p:cNvPr>
          <p:cNvGrpSpPr/>
          <p:nvPr/>
        </p:nvGrpSpPr>
        <p:grpSpPr>
          <a:xfrm>
            <a:off x="8928528" y="0"/>
            <a:ext cx="3263472" cy="6858000"/>
            <a:chOff x="8928528" y="0"/>
            <a:chExt cx="3263472" cy="6858000"/>
          </a:xfrm>
        </p:grpSpPr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955C5B70-D34F-8A49-B220-808CE2BBB7F3}"/>
                </a:ext>
              </a:extLst>
            </p:cNvPr>
            <p:cNvSpPr/>
            <p:nvPr/>
          </p:nvSpPr>
          <p:spPr>
            <a:xfrm>
              <a:off x="8928528" y="491812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BBFE624-6DBD-8541-B43B-180C0AFA21F0}"/>
                </a:ext>
              </a:extLst>
            </p:cNvPr>
            <p:cNvSpPr/>
            <p:nvPr/>
          </p:nvSpPr>
          <p:spPr>
            <a:xfrm>
              <a:off x="8928528" y="0"/>
              <a:ext cx="1130724" cy="565573"/>
            </a:xfrm>
            <a:custGeom>
              <a:avLst/>
              <a:gdLst>
                <a:gd name="connsiteX0" fmla="*/ 22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2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6E01AC23-2120-A542-B140-5A29AA27A2C8}"/>
                </a:ext>
              </a:extLst>
            </p:cNvPr>
            <p:cNvSpPr/>
            <p:nvPr/>
          </p:nvSpPr>
          <p:spPr>
            <a:xfrm>
              <a:off x="10291391" y="6292417"/>
              <a:ext cx="1130724" cy="565583"/>
            </a:xfrm>
            <a:custGeom>
              <a:avLst/>
              <a:gdLst>
                <a:gd name="connsiteX0" fmla="*/ 565362 w 1130724"/>
                <a:gd name="connsiteY0" fmla="*/ 0 h 565583"/>
                <a:gd name="connsiteX1" fmla="*/ 1130724 w 1130724"/>
                <a:gd name="connsiteY1" fmla="*/ 565362 h 565583"/>
                <a:gd name="connsiteX2" fmla="*/ 1130702 w 1130724"/>
                <a:gd name="connsiteY2" fmla="*/ 565583 h 565583"/>
                <a:gd name="connsiteX3" fmla="*/ 22 w 1130724"/>
                <a:gd name="connsiteY3" fmla="*/ 565583 h 565583"/>
                <a:gd name="connsiteX4" fmla="*/ 0 w 1130724"/>
                <a:gd name="connsiteY4" fmla="*/ 565362 h 565583"/>
                <a:gd name="connsiteX5" fmla="*/ 565362 w 1130724"/>
                <a:gd name="connsiteY5" fmla="*/ 0 h 56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83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2" y="565583"/>
                  </a:lnTo>
                  <a:lnTo>
                    <a:pt x="22" y="565583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54689C0-9C35-9B4D-906B-DA287DA55A38}"/>
                </a:ext>
              </a:extLst>
            </p:cNvPr>
            <p:cNvSpPr/>
            <p:nvPr/>
          </p:nvSpPr>
          <p:spPr>
            <a:xfrm>
              <a:off x="10291392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696570F0-11E0-6147-9053-E3A4B5DBA0E4}"/>
                </a:ext>
              </a:extLst>
            </p:cNvPr>
            <p:cNvSpPr/>
            <p:nvPr/>
          </p:nvSpPr>
          <p:spPr>
            <a:xfrm>
              <a:off x="10291392" y="2177876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BDD97F6-A366-B54A-B889-42E97AFEDE37}"/>
                </a:ext>
              </a:extLst>
            </p:cNvPr>
            <p:cNvSpPr/>
            <p:nvPr/>
          </p:nvSpPr>
          <p:spPr>
            <a:xfrm>
              <a:off x="10291392" y="806363"/>
              <a:ext cx="1130724" cy="113072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 28">
              <a:extLst>
                <a:ext uri="{FF2B5EF4-FFF2-40B4-BE49-F238E27FC236}">
                  <a16:creationId xmlns:a16="http://schemas.microsoft.com/office/drawing/2014/main" id="{58E853BC-EE80-374B-B823-8D51A948C4CF}"/>
                </a:ext>
              </a:extLst>
            </p:cNvPr>
            <p:cNvSpPr/>
            <p:nvPr/>
          </p:nvSpPr>
          <p:spPr>
            <a:xfrm>
              <a:off x="10291392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4B5B70B1-649D-9848-B5D4-6DE04D55F5F0}"/>
                </a:ext>
              </a:extLst>
            </p:cNvPr>
            <p:cNvSpPr/>
            <p:nvPr/>
          </p:nvSpPr>
          <p:spPr>
            <a:xfrm>
              <a:off x="11654256" y="6295201"/>
              <a:ext cx="537744" cy="562799"/>
            </a:xfrm>
            <a:custGeom>
              <a:avLst/>
              <a:gdLst>
                <a:gd name="connsiteX0" fmla="*/ 537744 w 537744"/>
                <a:gd name="connsiteY0" fmla="*/ 0 h 562799"/>
                <a:gd name="connsiteX1" fmla="*/ 537744 w 537744"/>
                <a:gd name="connsiteY1" fmla="*/ 562799 h 562799"/>
                <a:gd name="connsiteX2" fmla="*/ 22 w 537744"/>
                <a:gd name="connsiteY2" fmla="*/ 562799 h 562799"/>
                <a:gd name="connsiteX3" fmla="*/ 0 w 537744"/>
                <a:gd name="connsiteY3" fmla="*/ 562578 h 562799"/>
                <a:gd name="connsiteX4" fmla="*/ 451422 w 537744"/>
                <a:gd name="connsiteY4" fmla="*/ 8702 h 5627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99">
                  <a:moveTo>
                    <a:pt x="537744" y="0"/>
                  </a:moveTo>
                  <a:lnTo>
                    <a:pt x="537744" y="562799"/>
                  </a:lnTo>
                  <a:lnTo>
                    <a:pt x="22" y="562799"/>
                  </a:lnTo>
                  <a:lnTo>
                    <a:pt x="0" y="562578"/>
                  </a:ln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46A2092A-2157-0A49-937F-BBAE14687DE7}"/>
                </a:ext>
              </a:extLst>
            </p:cNvPr>
            <p:cNvSpPr/>
            <p:nvPr/>
          </p:nvSpPr>
          <p:spPr>
            <a:xfrm>
              <a:off x="11654256" y="4923687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F092371E-D526-AF43-816F-F7AEBA9FF166}"/>
                </a:ext>
              </a:extLst>
            </p:cNvPr>
            <p:cNvSpPr/>
            <p:nvPr/>
          </p:nvSpPr>
          <p:spPr>
            <a:xfrm>
              <a:off x="11654256" y="3552173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32">
              <a:extLst>
                <a:ext uri="{FF2B5EF4-FFF2-40B4-BE49-F238E27FC236}">
                  <a16:creationId xmlns:a16="http://schemas.microsoft.com/office/drawing/2014/main" id="{06995714-B51E-E84A-9FD5-3AD33004E517}"/>
                </a:ext>
              </a:extLst>
            </p:cNvPr>
            <p:cNvSpPr/>
            <p:nvPr/>
          </p:nvSpPr>
          <p:spPr>
            <a:xfrm>
              <a:off x="11654256" y="2180659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33">
              <a:extLst>
                <a:ext uri="{FF2B5EF4-FFF2-40B4-BE49-F238E27FC236}">
                  <a16:creationId xmlns:a16="http://schemas.microsoft.com/office/drawing/2014/main" id="{0FDB0CC5-76AA-6E44-8376-4EE649C1DE42}"/>
                </a:ext>
              </a:extLst>
            </p:cNvPr>
            <p:cNvSpPr/>
            <p:nvPr/>
          </p:nvSpPr>
          <p:spPr>
            <a:xfrm>
              <a:off x="11654256" y="809146"/>
              <a:ext cx="537744" cy="1125156"/>
            </a:xfrm>
            <a:custGeom>
              <a:avLst/>
              <a:gdLst>
                <a:gd name="connsiteX0" fmla="*/ 537744 w 537744"/>
                <a:gd name="connsiteY0" fmla="*/ 0 h 1125156"/>
                <a:gd name="connsiteX1" fmla="*/ 537744 w 537744"/>
                <a:gd name="connsiteY1" fmla="*/ 1125156 h 1125156"/>
                <a:gd name="connsiteX2" fmla="*/ 451422 w 537744"/>
                <a:gd name="connsiteY2" fmla="*/ 1116454 h 1125156"/>
                <a:gd name="connsiteX3" fmla="*/ 0 w 537744"/>
                <a:gd name="connsiteY3" fmla="*/ 562578 h 1125156"/>
                <a:gd name="connsiteX4" fmla="*/ 451422 w 537744"/>
                <a:gd name="connsiteY4" fmla="*/ 8702 h 1125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1125156">
                  <a:moveTo>
                    <a:pt x="537744" y="0"/>
                  </a:moveTo>
                  <a:lnTo>
                    <a:pt x="537744" y="1125156"/>
                  </a:lnTo>
                  <a:lnTo>
                    <a:pt x="451422" y="1116454"/>
                  </a:lnTo>
                  <a:cubicBezTo>
                    <a:pt x="193796" y="1063736"/>
                    <a:pt x="0" y="835789"/>
                    <a:pt x="0" y="562578"/>
                  </a:cubicBezTo>
                  <a:cubicBezTo>
                    <a:pt x="0" y="289367"/>
                    <a:pt x="193796" y="61420"/>
                    <a:pt x="451422" y="870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34">
              <a:extLst>
                <a:ext uri="{FF2B5EF4-FFF2-40B4-BE49-F238E27FC236}">
                  <a16:creationId xmlns:a16="http://schemas.microsoft.com/office/drawing/2014/main" id="{3D981F0B-8982-1C45-8D7C-30E744003823}"/>
                </a:ext>
              </a:extLst>
            </p:cNvPr>
            <p:cNvSpPr/>
            <p:nvPr/>
          </p:nvSpPr>
          <p:spPr>
            <a:xfrm>
              <a:off x="11654256" y="0"/>
              <a:ext cx="537744" cy="562788"/>
            </a:xfrm>
            <a:custGeom>
              <a:avLst/>
              <a:gdLst>
                <a:gd name="connsiteX0" fmla="*/ 21 w 537744"/>
                <a:gd name="connsiteY0" fmla="*/ 0 h 562788"/>
                <a:gd name="connsiteX1" fmla="*/ 537744 w 537744"/>
                <a:gd name="connsiteY1" fmla="*/ 0 h 562788"/>
                <a:gd name="connsiteX2" fmla="*/ 537744 w 537744"/>
                <a:gd name="connsiteY2" fmla="*/ 562788 h 562788"/>
                <a:gd name="connsiteX3" fmla="*/ 451422 w 537744"/>
                <a:gd name="connsiteY3" fmla="*/ 554086 h 562788"/>
                <a:gd name="connsiteX4" fmla="*/ 0 w 537744"/>
                <a:gd name="connsiteY4" fmla="*/ 211 h 562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7744" h="562788">
                  <a:moveTo>
                    <a:pt x="21" y="0"/>
                  </a:moveTo>
                  <a:lnTo>
                    <a:pt x="537744" y="0"/>
                  </a:lnTo>
                  <a:lnTo>
                    <a:pt x="537744" y="562788"/>
                  </a:lnTo>
                  <a:lnTo>
                    <a:pt x="451422" y="554086"/>
                  </a:lnTo>
                  <a:cubicBezTo>
                    <a:pt x="193796" y="501368"/>
                    <a:pt x="0" y="273421"/>
                    <a:pt x="0" y="2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76EEB7-1E87-0447-8CD6-DD220CF4E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8AE526-3A03-9B41-8C9F-27156E701C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D08D72-182D-C947-B3F7-B74948D08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6E396-D059-AF4D-A1D9-C1347978A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8845B6-87C0-2F4A-8146-00E911CDF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86480" y="6141085"/>
            <a:ext cx="813816" cy="365125"/>
          </a:xfrm>
        </p:spPr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78A912D-4325-C449-BF2E-F331A221C695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7335146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36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3803ECC-8207-244B-8051-94AA5304EDD9}"/>
              </a:ext>
            </a:extLst>
          </p:cNvPr>
          <p:cNvGrpSpPr/>
          <p:nvPr/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7" name="Freeform 16">
              <a:extLst>
                <a:ext uri="{FF2B5EF4-FFF2-40B4-BE49-F238E27FC236}">
                  <a16:creationId xmlns:a16="http://schemas.microsoft.com/office/drawing/2014/main" id="{CF2E8536-821C-3846-A152-2001B7BA4BC9}"/>
                </a:ext>
              </a:extLst>
            </p:cNvPr>
            <p:cNvSpPr/>
            <p:nvPr/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57A02781-FFB4-C04E-97FB-78D26A9E8F1C}"/>
                </a:ext>
              </a:extLst>
            </p:cNvPr>
            <p:cNvSpPr/>
            <p:nvPr/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18">
              <a:extLst>
                <a:ext uri="{FF2B5EF4-FFF2-40B4-BE49-F238E27FC236}">
                  <a16:creationId xmlns:a16="http://schemas.microsoft.com/office/drawing/2014/main" id="{14C29607-37D2-7A4B-98E2-2C851CD6776C}"/>
                </a:ext>
              </a:extLst>
            </p:cNvPr>
            <p:cNvSpPr/>
            <p:nvPr/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19">
              <a:extLst>
                <a:ext uri="{FF2B5EF4-FFF2-40B4-BE49-F238E27FC236}">
                  <a16:creationId xmlns:a16="http://schemas.microsoft.com/office/drawing/2014/main" id="{D12FC7BA-80CC-1C4E-B268-B3EEA08137F1}"/>
                </a:ext>
              </a:extLst>
            </p:cNvPr>
            <p:cNvSpPr/>
            <p:nvPr/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BEBC8FB1-96B9-D84A-BD2A-BC8410EBE012}"/>
                </a:ext>
              </a:extLst>
            </p:cNvPr>
            <p:cNvSpPr/>
            <p:nvPr/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5A8455B4-A778-B44D-A7E8-C45A4846D9F7}"/>
                </a:ext>
              </a:extLst>
            </p:cNvPr>
            <p:cNvSpPr/>
            <p:nvPr/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407CCA-80EF-2B45-8F8C-7D5796A61BC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950095" y="976630"/>
            <a:ext cx="2268507" cy="47845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A221C3-F2D3-FC4F-938B-4C4CAC737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65150" y="976630"/>
            <a:ext cx="8264057" cy="478459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061B46-3E9A-AC48-8C84-5B46EA1EC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0A250-5CC0-1746-B209-08E8B0DAE6AF}" type="datetimeFigureOut">
              <a:rPr lang="en-US" smtClean="0"/>
              <a:t>9/11/2024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F8F49-5859-714C-8EE1-61A74F324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B6F69-3FFA-D94F-BA99-873D36F7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BCAEC-7D34-E549-A96E-FCEDAADBE4B0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31B40EC-87DB-A64F-9D4B-98A86F7CEFFF}"/>
              </a:ext>
            </a:extLst>
          </p:cNvPr>
          <p:cNvCxnSpPr>
            <a:cxnSpLocks/>
          </p:cNvCxnSpPr>
          <p:nvPr/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3297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70D98E2-86CE-4D4F-9F8F-17C83D19A2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70890"/>
            <a:ext cx="7335835" cy="12689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4B4F2-48A4-A140-B59B-7A2ED9FD46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5150" y="2160016"/>
            <a:ext cx="7335835" cy="36012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CF4A7E-D5FF-BF48-8E01-8F46150AB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6928" y="457200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A5B0A250-5CC0-1746-B209-08E8B0DAE6AF}" type="datetimeFigureOut">
              <a:rPr lang="en-US" smtClean="0"/>
              <a:pPr/>
              <a:t>9/11/2024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31757-5039-BF46-B47A-50DA8FFBC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65150" y="6141085"/>
            <a:ext cx="36082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3FD16-4337-B940-905E-D20A26FD48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9678" y="6141085"/>
            <a:ext cx="8138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49ABCAEC-7D34-E549-A96E-FCEDAADBE4B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365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i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900"/>
        </a:spcBef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F2B51C-9578-EB41-A17E-FFF9D491AD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6858000"/>
            <a:chOff x="10290315" y="0"/>
            <a:chExt cx="1901686" cy="685800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14E9CAEA-4CF4-D249-8127-CD2FA20187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3549390"/>
              <a:ext cx="1130724" cy="1130723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Freeform 85">
              <a:extLst>
                <a:ext uri="{FF2B5EF4-FFF2-40B4-BE49-F238E27FC236}">
                  <a16:creationId xmlns:a16="http://schemas.microsoft.com/office/drawing/2014/main" id="{E51EDD93-C3A3-DF47-BCFC-43B049E34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86">
              <a:extLst>
                <a:ext uri="{FF2B5EF4-FFF2-40B4-BE49-F238E27FC236}">
                  <a16:creationId xmlns:a16="http://schemas.microsoft.com/office/drawing/2014/main" id="{D574DB0D-896A-D649-89B1-33753E1D46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6295093"/>
              <a:ext cx="538821" cy="562907"/>
            </a:xfrm>
            <a:custGeom>
              <a:avLst/>
              <a:gdLst>
                <a:gd name="connsiteX0" fmla="*/ 538821 w 538821"/>
                <a:gd name="connsiteY0" fmla="*/ 0 h 562907"/>
                <a:gd name="connsiteX1" fmla="*/ 538821 w 538821"/>
                <a:gd name="connsiteY1" fmla="*/ 562907 h 562907"/>
                <a:gd name="connsiteX2" fmla="*/ 22 w 538821"/>
                <a:gd name="connsiteY2" fmla="*/ 562907 h 562907"/>
                <a:gd name="connsiteX3" fmla="*/ 0 w 538821"/>
                <a:gd name="connsiteY3" fmla="*/ 562686 h 562907"/>
                <a:gd name="connsiteX4" fmla="*/ 451422 w 538821"/>
                <a:gd name="connsiteY4" fmla="*/ 8810 h 5629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907">
                  <a:moveTo>
                    <a:pt x="538821" y="0"/>
                  </a:moveTo>
                  <a:lnTo>
                    <a:pt x="538821" y="562907"/>
                  </a:lnTo>
                  <a:lnTo>
                    <a:pt x="22" y="562907"/>
                  </a:lnTo>
                  <a:lnTo>
                    <a:pt x="0" y="562686"/>
                  </a:ln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87">
              <a:extLst>
                <a:ext uri="{FF2B5EF4-FFF2-40B4-BE49-F238E27FC236}">
                  <a16:creationId xmlns:a16="http://schemas.microsoft.com/office/drawing/2014/main" id="{62256DD9-FEA3-4A40-80D1-B33F0FF158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 88">
              <a:extLst>
                <a:ext uri="{FF2B5EF4-FFF2-40B4-BE49-F238E27FC236}">
                  <a16:creationId xmlns:a16="http://schemas.microsoft.com/office/drawing/2014/main" id="{534E9839-EAD7-3C49-8D10-E4BFE08208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2180552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89">
              <a:extLst>
                <a:ext uri="{FF2B5EF4-FFF2-40B4-BE49-F238E27FC236}">
                  <a16:creationId xmlns:a16="http://schemas.microsoft.com/office/drawing/2014/main" id="{DDFC3FA6-9BB5-A34E-9337-A2E9A1EED9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Freeform 97">
              <a:extLst>
                <a:ext uri="{FF2B5EF4-FFF2-40B4-BE49-F238E27FC236}">
                  <a16:creationId xmlns:a16="http://schemas.microsoft.com/office/drawing/2014/main" id="{45000D9E-4AD7-5A4F-8E99-302F388C83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DFB39FA-4F2E-A084-5466-3A268EA927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39751" y="768334"/>
            <a:ext cx="6479629" cy="2866405"/>
          </a:xfrm>
        </p:spPr>
        <p:txBody>
          <a:bodyPr>
            <a:normAutofit/>
          </a:bodyPr>
          <a:lstStyle/>
          <a:p>
            <a:r>
              <a:rPr lang="en-US" dirty="0"/>
              <a:t>U</a:t>
            </a:r>
            <a:r>
              <a:rPr lang="en-US" altLang="zh-CN" dirty="0"/>
              <a:t>nit 2 Measuring and Glassware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AC2102-C1F6-1931-C2A4-2EC90F3D0F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39751" y="4283239"/>
            <a:ext cx="6479629" cy="1475177"/>
          </a:xfrm>
        </p:spPr>
        <p:txBody>
          <a:bodyPr>
            <a:normAutofit/>
          </a:bodyPr>
          <a:lstStyle/>
          <a:p>
            <a:r>
              <a:rPr lang="en-US" dirty="0"/>
              <a:t>2.1 Measuring and uncertainties </a:t>
            </a:r>
          </a:p>
        </p:txBody>
      </p:sp>
      <p:pic>
        <p:nvPicPr>
          <p:cNvPr id="4" name="Picture 3" descr="High angle view of rulers against a white background">
            <a:extLst>
              <a:ext uri="{FF2B5EF4-FFF2-40B4-BE49-F238E27FC236}">
                <a16:creationId xmlns:a16="http://schemas.microsoft.com/office/drawing/2014/main" id="{F9F3A0B4-3B58-23B3-80F5-1ACA6990C2A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855" r="35524" b="-2"/>
          <a:stretch/>
        </p:blipFill>
        <p:spPr>
          <a:xfrm>
            <a:off x="20" y="1"/>
            <a:ext cx="4173349" cy="6857999"/>
          </a:xfrm>
          <a:prstGeom prst="rect">
            <a:avLst/>
          </a:prstGeom>
        </p:spPr>
      </p:pic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39752" y="6087110"/>
            <a:ext cx="6883742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5188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Graph on document with pen">
            <a:extLst>
              <a:ext uri="{FF2B5EF4-FFF2-40B4-BE49-F238E27FC236}">
                <a16:creationId xmlns:a16="http://schemas.microsoft.com/office/drawing/2014/main" id="{E533FAB5-25D9-BE81-EC43-412F1DC8FC4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10" b="1422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9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628393"/>
            <a:ext cx="6155707" cy="3601213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5AB8C4-B5E0-5313-6C50-7181D3A1E1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035840"/>
            <a:ext cx="5022050" cy="171858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40B367-C938-42E3-8DE3-7143BCDCB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3754429"/>
            <a:ext cx="5022049" cy="10634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dirty="0"/>
              <a:t>W</a:t>
            </a:r>
            <a:r>
              <a:rPr lang="en-US" altLang="zh-CN" sz="2000" dirty="0"/>
              <a:t>hat </a:t>
            </a:r>
            <a:r>
              <a:rPr lang="en-US" sz="2000" dirty="0"/>
              <a:t>is a qualitative analysis and what is a quantitative analysis?</a:t>
            </a: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051BDC88-72D1-DA41-9EE4-5605A8C30E7F}"/>
              </a:ext>
            </a:extLst>
          </p:cNvPr>
          <p:cNvSpPr/>
          <p:nvPr/>
        </p:nvSpPr>
        <p:spPr>
          <a:xfrm>
            <a:off x="1473594" y="5499941"/>
            <a:ext cx="8045099" cy="83099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400" b="1" cap="none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</a:rPr>
              <a:t>How to acquire and express the quantitative analysis results?</a:t>
            </a:r>
          </a:p>
        </p:txBody>
      </p:sp>
    </p:spTree>
    <p:extLst>
      <p:ext uri="{BB962C8B-B14F-4D97-AF65-F5344CB8AC3E}">
        <p14:creationId xmlns:p14="http://schemas.microsoft.com/office/powerpoint/2010/main" val="3423927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549961-D7AA-5915-84E5-D80844063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43" y="770890"/>
            <a:ext cx="6400999" cy="1268984"/>
          </a:xfrm>
        </p:spPr>
        <p:txBody>
          <a:bodyPr>
            <a:normAutofit/>
          </a:bodyPr>
          <a:lstStyle/>
          <a:p>
            <a:r>
              <a:rPr lang="en-US" dirty="0"/>
              <a:t>In this class, we will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A61AD-E237-ADDA-6D76-303734A09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243" y="2160016"/>
            <a:ext cx="6400999" cy="3601212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Understand the different physical quantities and the proper scientific prefix and expression 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US" dirty="0">
                <a:effectLst/>
                <a:latin typeface="Calibri" panose="020F0502020204030204" pitchFamily="34" charset="0"/>
                <a:ea typeface="SimSun" panose="02010600030101010101" pitchFamily="2" charset="-122"/>
              </a:rPr>
              <a:t>Understand the different source of errors (systematic vs. random) and how they affect the results (precision vs. accuracy)</a:t>
            </a:r>
            <a:endParaRPr lang="en-US" dirty="0"/>
          </a:p>
        </p:txBody>
      </p:sp>
      <p:pic>
        <p:nvPicPr>
          <p:cNvPr id="5" name="Picture 4" descr="Question mark on green pastel background">
            <a:extLst>
              <a:ext uri="{FF2B5EF4-FFF2-40B4-BE49-F238E27FC236}">
                <a16:creationId xmlns:a16="http://schemas.microsoft.com/office/drawing/2014/main" id="{DE0A2C31-6D48-8CC7-84FD-C3FC543B7A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4530" r="4537"/>
          <a:stretch/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3135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0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2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xplosion of a cloud of powder of particles of colour white and a black background">
            <a:extLst>
              <a:ext uri="{FF2B5EF4-FFF2-40B4-BE49-F238E27FC236}">
                <a16:creationId xmlns:a16="http://schemas.microsoft.com/office/drawing/2014/main" id="{44AA41DB-6FD2-431F-BFF9-07D55C39F8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000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39" name="Rectangle">
            <a:extLst>
              <a:ext uri="{FF2B5EF4-FFF2-40B4-BE49-F238E27FC236}">
                <a16:creationId xmlns:a16="http://schemas.microsoft.com/office/drawing/2014/main" id="{B4F75AE3-A3AC-DE4C-98FE-EC9DC3BF8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1628393"/>
            <a:ext cx="6155707" cy="3601213"/>
          </a:xfrm>
          <a:prstGeom prst="rect">
            <a:avLst/>
          </a:prstGeom>
          <a:gradFill flip="none" rotWithShape="1">
            <a:gsLst>
              <a:gs pos="31000">
                <a:schemeClr val="bg1">
                  <a:alpha val="80000"/>
                </a:schemeClr>
              </a:gs>
              <a:gs pos="0">
                <a:schemeClr val="bg1"/>
              </a:gs>
              <a:gs pos="100000">
                <a:schemeClr val="bg1">
                  <a:alpha val="34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/>
            <a:endParaRPr sz="2600" cap="all" dirty="0">
              <a:solidFill>
                <a:srgbClr val="FFFFFF"/>
              </a:solidFill>
              <a:sym typeface="Avenir Nex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FE9B12-FC60-D26B-AC94-784877280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035840"/>
            <a:ext cx="5022050" cy="171858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/>
              <a:t>Physical Quantity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39419-23C4-79B5-8FD9-30814D8CD5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0" y="3754429"/>
            <a:ext cx="5022049" cy="1063471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/>
              <a:t>W</a:t>
            </a:r>
            <a:r>
              <a:rPr lang="en-US" altLang="zh-CN" sz="2000"/>
              <a:t>hat physical quantities do you know?</a:t>
            </a:r>
            <a:endParaRPr lang="en-US" sz="200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4406D7A-DB1A-D940-8AD1-93FAF9DD7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1746" y="0"/>
            <a:ext cx="1900254" cy="6858000"/>
            <a:chOff x="10291746" y="0"/>
            <a:chExt cx="1900254" cy="6858000"/>
          </a:xfrm>
        </p:grpSpPr>
        <p:sp>
          <p:nvSpPr>
            <p:cNvPr id="42" name="Freeform 40">
              <a:extLst>
                <a:ext uri="{FF2B5EF4-FFF2-40B4-BE49-F238E27FC236}">
                  <a16:creationId xmlns:a16="http://schemas.microsoft.com/office/drawing/2014/main" id="{D0F85DF7-431B-BE45-B932-0E22FC3F8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5829" y="809310"/>
              <a:ext cx="536171" cy="1124839"/>
            </a:xfrm>
            <a:custGeom>
              <a:avLst/>
              <a:gdLst>
                <a:gd name="connsiteX0" fmla="*/ 536171 w 536171"/>
                <a:gd name="connsiteY0" fmla="*/ 0 h 1124839"/>
                <a:gd name="connsiteX1" fmla="*/ 536171 w 536171"/>
                <a:gd name="connsiteY1" fmla="*/ 1124839 h 1124839"/>
                <a:gd name="connsiteX2" fmla="*/ 451423 w 536171"/>
                <a:gd name="connsiteY2" fmla="*/ 1116295 h 1124839"/>
                <a:gd name="connsiteX3" fmla="*/ 0 w 536171"/>
                <a:gd name="connsiteY3" fmla="*/ 562419 h 1124839"/>
                <a:gd name="connsiteX4" fmla="*/ 451423 w 536171"/>
                <a:gd name="connsiteY4" fmla="*/ 8543 h 1124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6171" h="1124839">
                  <a:moveTo>
                    <a:pt x="536171" y="0"/>
                  </a:moveTo>
                  <a:lnTo>
                    <a:pt x="536171" y="1124839"/>
                  </a:lnTo>
                  <a:lnTo>
                    <a:pt x="451423" y="1116295"/>
                  </a:lnTo>
                  <a:cubicBezTo>
                    <a:pt x="193797" y="1063577"/>
                    <a:pt x="0" y="835630"/>
                    <a:pt x="0" y="562419"/>
                  </a:cubicBezTo>
                  <a:cubicBezTo>
                    <a:pt x="0" y="289208"/>
                    <a:pt x="193797" y="61261"/>
                    <a:pt x="451423" y="85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3" name="Freeform 41">
              <a:extLst>
                <a:ext uri="{FF2B5EF4-FFF2-40B4-BE49-F238E27FC236}">
                  <a16:creationId xmlns:a16="http://schemas.microsoft.com/office/drawing/2014/main" id="{BEA0AA89-2965-2A44-B84E-51C748B2D2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8" y="0"/>
              <a:ext cx="1130725" cy="565362"/>
            </a:xfrm>
            <a:custGeom>
              <a:avLst/>
              <a:gdLst>
                <a:gd name="connsiteX0" fmla="*/ 0 w 1130725"/>
                <a:gd name="connsiteY0" fmla="*/ 0 h 565362"/>
                <a:gd name="connsiteX1" fmla="*/ 25420 w 1130725"/>
                <a:gd name="connsiteY1" fmla="*/ 0 h 565362"/>
                <a:gd name="connsiteX2" fmla="*/ 36369 w 1130725"/>
                <a:gd name="connsiteY2" fmla="*/ 108609 h 565362"/>
                <a:gd name="connsiteX3" fmla="*/ 565363 w 1130725"/>
                <a:gd name="connsiteY3" fmla="*/ 539750 h 565362"/>
                <a:gd name="connsiteX4" fmla="*/ 1094356 w 1130725"/>
                <a:gd name="connsiteY4" fmla="*/ 108609 h 565362"/>
                <a:gd name="connsiteX5" fmla="*/ 1105305 w 1130725"/>
                <a:gd name="connsiteY5" fmla="*/ 0 h 565362"/>
                <a:gd name="connsiteX6" fmla="*/ 1130725 w 1130725"/>
                <a:gd name="connsiteY6" fmla="*/ 0 h 565362"/>
                <a:gd name="connsiteX7" fmla="*/ 565363 w 1130725"/>
                <a:gd name="connsiteY7" fmla="*/ 565362 h 565362"/>
                <a:gd name="connsiteX8" fmla="*/ 0 w 1130725"/>
                <a:gd name="connsiteY8" fmla="*/ 0 h 565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130725" h="565362">
                  <a:moveTo>
                    <a:pt x="0" y="0"/>
                  </a:moveTo>
                  <a:lnTo>
                    <a:pt x="25420" y="0"/>
                  </a:lnTo>
                  <a:lnTo>
                    <a:pt x="36369" y="108609"/>
                  </a:lnTo>
                  <a:cubicBezTo>
                    <a:pt x="86718" y="354660"/>
                    <a:pt x="304425" y="539750"/>
                    <a:pt x="565363" y="539750"/>
                  </a:cubicBezTo>
                  <a:cubicBezTo>
                    <a:pt x="826300" y="539750"/>
                    <a:pt x="1044007" y="354660"/>
                    <a:pt x="1094356" y="108609"/>
                  </a:cubicBezTo>
                  <a:lnTo>
                    <a:pt x="1105305" y="0"/>
                  </a:lnTo>
                  <a:lnTo>
                    <a:pt x="1130725" y="0"/>
                  </a:lnTo>
                  <a:cubicBezTo>
                    <a:pt x="1130725" y="312241"/>
                    <a:pt x="877604" y="565362"/>
                    <a:pt x="565363" y="565362"/>
                  </a:cubicBezTo>
                  <a:cubicBezTo>
                    <a:pt x="253121" y="565362"/>
                    <a:pt x="0" y="31224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4" name="Freeform 42">
              <a:extLst>
                <a:ext uri="{FF2B5EF4-FFF2-40B4-BE49-F238E27FC236}">
                  <a16:creationId xmlns:a16="http://schemas.microsoft.com/office/drawing/2014/main" id="{7EC47259-887A-FD48-989C-42BC5A3C98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0"/>
              <a:ext cx="535422" cy="562344"/>
            </a:xfrm>
            <a:custGeom>
              <a:avLst/>
              <a:gdLst>
                <a:gd name="connsiteX0" fmla="*/ 0 w 535422"/>
                <a:gd name="connsiteY0" fmla="*/ 0 h 562344"/>
                <a:gd name="connsiteX1" fmla="*/ 25421 w 535422"/>
                <a:gd name="connsiteY1" fmla="*/ 0 h 562344"/>
                <a:gd name="connsiteX2" fmla="*/ 36370 w 535422"/>
                <a:gd name="connsiteY2" fmla="*/ 108609 h 562344"/>
                <a:gd name="connsiteX3" fmla="*/ 469781 w 535422"/>
                <a:gd name="connsiteY3" fmla="*/ 531316 h 562344"/>
                <a:gd name="connsiteX4" fmla="*/ 535422 w 535422"/>
                <a:gd name="connsiteY4" fmla="*/ 537108 h 562344"/>
                <a:gd name="connsiteX5" fmla="*/ 535422 w 535422"/>
                <a:gd name="connsiteY5" fmla="*/ 562344 h 562344"/>
                <a:gd name="connsiteX6" fmla="*/ 451424 w 535422"/>
                <a:gd name="connsiteY6" fmla="*/ 553876 h 562344"/>
                <a:gd name="connsiteX7" fmla="*/ 0 w 535422"/>
                <a:gd name="connsiteY7" fmla="*/ 0 h 562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422" h="562344">
                  <a:moveTo>
                    <a:pt x="0" y="0"/>
                  </a:moveTo>
                  <a:lnTo>
                    <a:pt x="25421" y="0"/>
                  </a:lnTo>
                  <a:lnTo>
                    <a:pt x="36370" y="108609"/>
                  </a:lnTo>
                  <a:cubicBezTo>
                    <a:pt x="80425" y="323904"/>
                    <a:pt x="252614" y="492525"/>
                    <a:pt x="469781" y="531316"/>
                  </a:cubicBezTo>
                  <a:lnTo>
                    <a:pt x="535422" y="537108"/>
                  </a:lnTo>
                  <a:lnTo>
                    <a:pt x="535422" y="562344"/>
                  </a:lnTo>
                  <a:lnTo>
                    <a:pt x="451424" y="553876"/>
                  </a:lnTo>
                  <a:cubicBezTo>
                    <a:pt x="193797" y="501158"/>
                    <a:pt x="0" y="273211"/>
                    <a:pt x="0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5" name="Freeform 43">
              <a:extLst>
                <a:ext uri="{FF2B5EF4-FFF2-40B4-BE49-F238E27FC236}">
                  <a16:creationId xmlns:a16="http://schemas.microsoft.com/office/drawing/2014/main" id="{16E261C3-18BE-934F-8A2B-59BE70AE2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2181112"/>
              <a:ext cx="535422" cy="1124687"/>
            </a:xfrm>
            <a:custGeom>
              <a:avLst/>
              <a:gdLst>
                <a:gd name="connsiteX0" fmla="*/ 535422 w 535422"/>
                <a:gd name="connsiteY0" fmla="*/ 0 h 1124687"/>
                <a:gd name="connsiteX1" fmla="*/ 535422 w 535422"/>
                <a:gd name="connsiteY1" fmla="*/ 25186 h 1124687"/>
                <a:gd name="connsiteX2" fmla="*/ 456541 w 535422"/>
                <a:gd name="connsiteY2" fmla="*/ 33138 h 1124687"/>
                <a:gd name="connsiteX3" fmla="*/ 25399 w 535422"/>
                <a:gd name="connsiteY3" fmla="*/ 562130 h 1124687"/>
                <a:gd name="connsiteX4" fmla="*/ 456541 w 535422"/>
                <a:gd name="connsiteY4" fmla="*/ 1091123 h 1124687"/>
                <a:gd name="connsiteX5" fmla="*/ 535422 w 535422"/>
                <a:gd name="connsiteY5" fmla="*/ 1099075 h 1124687"/>
                <a:gd name="connsiteX6" fmla="*/ 535422 w 535422"/>
                <a:gd name="connsiteY6" fmla="*/ 1124687 h 1124687"/>
                <a:gd name="connsiteX7" fmla="*/ 451423 w 535422"/>
                <a:gd name="connsiteY7" fmla="*/ 1116219 h 1124687"/>
                <a:gd name="connsiteX8" fmla="*/ 0 w 535422"/>
                <a:gd name="connsiteY8" fmla="*/ 562343 h 1124687"/>
                <a:gd name="connsiteX9" fmla="*/ 451423 w 535422"/>
                <a:gd name="connsiteY9" fmla="*/ 8468 h 1124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7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7"/>
                    <a:pt x="25399" y="301194"/>
                    <a:pt x="25399" y="562130"/>
                  </a:cubicBezTo>
                  <a:cubicBezTo>
                    <a:pt x="25399" y="823067"/>
                    <a:pt x="210489" y="1040774"/>
                    <a:pt x="456541" y="1091123"/>
                  </a:cubicBezTo>
                  <a:lnTo>
                    <a:pt x="535422" y="1099075"/>
                  </a:lnTo>
                  <a:lnTo>
                    <a:pt x="535422" y="1124687"/>
                  </a:lnTo>
                  <a:lnTo>
                    <a:pt x="451423" y="1116219"/>
                  </a:lnTo>
                  <a:cubicBezTo>
                    <a:pt x="193797" y="1063501"/>
                    <a:pt x="0" y="835554"/>
                    <a:pt x="0" y="562343"/>
                  </a:cubicBezTo>
                  <a:cubicBezTo>
                    <a:pt x="0" y="289132"/>
                    <a:pt x="193797" y="61185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44">
              <a:extLst>
                <a:ext uri="{FF2B5EF4-FFF2-40B4-BE49-F238E27FC236}">
                  <a16:creationId xmlns:a16="http://schemas.microsoft.com/office/drawing/2014/main" id="{35A2267B-0862-A24E-87D2-6CE5187CF9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1746" y="806365"/>
              <a:ext cx="1130726" cy="1130724"/>
            </a:xfrm>
            <a:custGeom>
              <a:avLst/>
              <a:gdLst>
                <a:gd name="connsiteX0" fmla="*/ 565363 w 1130726"/>
                <a:gd name="connsiteY0" fmla="*/ 25186 h 1130724"/>
                <a:gd name="connsiteX1" fmla="*/ 25399 w 1130726"/>
                <a:gd name="connsiteY1" fmla="*/ 565149 h 1130724"/>
                <a:gd name="connsiteX2" fmla="*/ 565363 w 1130726"/>
                <a:gd name="connsiteY2" fmla="*/ 1105112 h 1130724"/>
                <a:gd name="connsiteX3" fmla="*/ 1105327 w 1130726"/>
                <a:gd name="connsiteY3" fmla="*/ 565149 h 1130724"/>
                <a:gd name="connsiteX4" fmla="*/ 565363 w 1130726"/>
                <a:gd name="connsiteY4" fmla="*/ 25186 h 1130724"/>
                <a:gd name="connsiteX5" fmla="*/ 565363 w 1130726"/>
                <a:gd name="connsiteY5" fmla="*/ 0 h 1130724"/>
                <a:gd name="connsiteX6" fmla="*/ 1130726 w 1130726"/>
                <a:gd name="connsiteY6" fmla="*/ 565362 h 1130724"/>
                <a:gd name="connsiteX7" fmla="*/ 565363 w 1130726"/>
                <a:gd name="connsiteY7" fmla="*/ 1130724 h 1130724"/>
                <a:gd name="connsiteX8" fmla="*/ 0 w 1130726"/>
                <a:gd name="connsiteY8" fmla="*/ 565362 h 1130724"/>
                <a:gd name="connsiteX9" fmla="*/ 565363 w 1130726"/>
                <a:gd name="connsiteY9" fmla="*/ 0 h 1130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130726" h="1130724">
                  <a:moveTo>
                    <a:pt x="565363" y="25186"/>
                  </a:moveTo>
                  <a:cubicBezTo>
                    <a:pt x="267149" y="25186"/>
                    <a:pt x="25399" y="266936"/>
                    <a:pt x="25399" y="565149"/>
                  </a:cubicBezTo>
                  <a:cubicBezTo>
                    <a:pt x="25399" y="863362"/>
                    <a:pt x="267149" y="1105112"/>
                    <a:pt x="565363" y="1105112"/>
                  </a:cubicBezTo>
                  <a:cubicBezTo>
                    <a:pt x="863577" y="1105112"/>
                    <a:pt x="1105327" y="863362"/>
                    <a:pt x="1105327" y="565149"/>
                  </a:cubicBezTo>
                  <a:cubicBezTo>
                    <a:pt x="1105327" y="266936"/>
                    <a:pt x="863577" y="25186"/>
                    <a:pt x="565363" y="25186"/>
                  </a:cubicBezTo>
                  <a:close/>
                  <a:moveTo>
                    <a:pt x="565363" y="0"/>
                  </a:moveTo>
                  <a:cubicBezTo>
                    <a:pt x="877604" y="0"/>
                    <a:pt x="1130726" y="253121"/>
                    <a:pt x="1130726" y="565362"/>
                  </a:cubicBezTo>
                  <a:cubicBezTo>
                    <a:pt x="1130726" y="877603"/>
                    <a:pt x="877604" y="1130724"/>
                    <a:pt x="565363" y="1130724"/>
                  </a:cubicBezTo>
                  <a:cubicBezTo>
                    <a:pt x="253122" y="1130724"/>
                    <a:pt x="0" y="877603"/>
                    <a:pt x="0" y="565362"/>
                  </a:cubicBezTo>
                  <a:cubicBezTo>
                    <a:pt x="0" y="253121"/>
                    <a:pt x="253122" y="0"/>
                    <a:pt x="565363" y="0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45">
              <a:extLst>
                <a:ext uri="{FF2B5EF4-FFF2-40B4-BE49-F238E27FC236}">
                  <a16:creationId xmlns:a16="http://schemas.microsoft.com/office/drawing/2014/main" id="{A404A0DE-A076-8C4E-B8D4-EBC9453377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578" y="3552837"/>
              <a:ext cx="535422" cy="1124688"/>
            </a:xfrm>
            <a:custGeom>
              <a:avLst/>
              <a:gdLst>
                <a:gd name="connsiteX0" fmla="*/ 535422 w 535422"/>
                <a:gd name="connsiteY0" fmla="*/ 0 h 1124688"/>
                <a:gd name="connsiteX1" fmla="*/ 535422 w 535422"/>
                <a:gd name="connsiteY1" fmla="*/ 25186 h 1124688"/>
                <a:gd name="connsiteX2" fmla="*/ 456541 w 535422"/>
                <a:gd name="connsiteY2" fmla="*/ 33138 h 1124688"/>
                <a:gd name="connsiteX3" fmla="*/ 25399 w 535422"/>
                <a:gd name="connsiteY3" fmla="*/ 562131 h 1124688"/>
                <a:gd name="connsiteX4" fmla="*/ 456541 w 535422"/>
                <a:gd name="connsiteY4" fmla="*/ 1091124 h 1124688"/>
                <a:gd name="connsiteX5" fmla="*/ 535422 w 535422"/>
                <a:gd name="connsiteY5" fmla="*/ 1099076 h 1124688"/>
                <a:gd name="connsiteX6" fmla="*/ 535422 w 535422"/>
                <a:gd name="connsiteY6" fmla="*/ 1124688 h 1124688"/>
                <a:gd name="connsiteX7" fmla="*/ 451423 w 535422"/>
                <a:gd name="connsiteY7" fmla="*/ 1116220 h 1124688"/>
                <a:gd name="connsiteX8" fmla="*/ 0 w 535422"/>
                <a:gd name="connsiteY8" fmla="*/ 562344 h 1124688"/>
                <a:gd name="connsiteX9" fmla="*/ 451423 w 535422"/>
                <a:gd name="connsiteY9" fmla="*/ 8468 h 1124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35422" h="1124688">
                  <a:moveTo>
                    <a:pt x="535422" y="0"/>
                  </a:moveTo>
                  <a:lnTo>
                    <a:pt x="535422" y="25186"/>
                  </a:lnTo>
                  <a:lnTo>
                    <a:pt x="456541" y="33138"/>
                  </a:lnTo>
                  <a:cubicBezTo>
                    <a:pt x="210489" y="83488"/>
                    <a:pt x="25399" y="301195"/>
                    <a:pt x="25399" y="562131"/>
                  </a:cubicBezTo>
                  <a:cubicBezTo>
                    <a:pt x="25399" y="823068"/>
                    <a:pt x="210489" y="1040775"/>
                    <a:pt x="456541" y="1091124"/>
                  </a:cubicBezTo>
                  <a:lnTo>
                    <a:pt x="535422" y="1099076"/>
                  </a:lnTo>
                  <a:lnTo>
                    <a:pt x="535422" y="1124688"/>
                  </a:lnTo>
                  <a:lnTo>
                    <a:pt x="451423" y="1116220"/>
                  </a:lnTo>
                  <a:cubicBezTo>
                    <a:pt x="193797" y="1063502"/>
                    <a:pt x="0" y="835555"/>
                    <a:pt x="0" y="562344"/>
                  </a:cubicBezTo>
                  <a:cubicBezTo>
                    <a:pt x="0" y="289133"/>
                    <a:pt x="193797" y="61186"/>
                    <a:pt x="451423" y="846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53">
              <a:extLst>
                <a:ext uri="{FF2B5EF4-FFF2-40B4-BE49-F238E27FC236}">
                  <a16:creationId xmlns:a16="http://schemas.microsoft.com/office/drawing/2014/main" id="{9EED6D73-C275-3347-BB66-C839642572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6642" y="6295916"/>
              <a:ext cx="535358" cy="562084"/>
            </a:xfrm>
            <a:custGeom>
              <a:avLst/>
              <a:gdLst>
                <a:gd name="connsiteX0" fmla="*/ 535358 w 535358"/>
                <a:gd name="connsiteY0" fmla="*/ 0 h 562084"/>
                <a:gd name="connsiteX1" fmla="*/ 535358 w 535358"/>
                <a:gd name="connsiteY1" fmla="*/ 25186 h 562084"/>
                <a:gd name="connsiteX2" fmla="*/ 469717 w 535358"/>
                <a:gd name="connsiteY2" fmla="*/ 30978 h 562084"/>
                <a:gd name="connsiteX3" fmla="*/ 36306 w 535358"/>
                <a:gd name="connsiteY3" fmla="*/ 453686 h 562084"/>
                <a:gd name="connsiteX4" fmla="*/ 25378 w 535358"/>
                <a:gd name="connsiteY4" fmla="*/ 562084 h 562084"/>
                <a:gd name="connsiteX5" fmla="*/ 0 w 535358"/>
                <a:gd name="connsiteY5" fmla="*/ 562084 h 562084"/>
                <a:gd name="connsiteX6" fmla="*/ 11423 w 535358"/>
                <a:gd name="connsiteY6" fmla="*/ 448780 h 562084"/>
                <a:gd name="connsiteX7" fmla="*/ 465221 w 535358"/>
                <a:gd name="connsiteY7" fmla="*/ 6189 h 5620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535358" h="562084">
                  <a:moveTo>
                    <a:pt x="535358" y="0"/>
                  </a:moveTo>
                  <a:lnTo>
                    <a:pt x="535358" y="25186"/>
                  </a:lnTo>
                  <a:lnTo>
                    <a:pt x="469717" y="30978"/>
                  </a:lnTo>
                  <a:cubicBezTo>
                    <a:pt x="252550" y="69769"/>
                    <a:pt x="80361" y="238391"/>
                    <a:pt x="36306" y="453686"/>
                  </a:cubicBezTo>
                  <a:lnTo>
                    <a:pt x="25378" y="562084"/>
                  </a:lnTo>
                  <a:lnTo>
                    <a:pt x="0" y="562084"/>
                  </a:lnTo>
                  <a:lnTo>
                    <a:pt x="11423" y="448780"/>
                  </a:lnTo>
                  <a:cubicBezTo>
                    <a:pt x="57551" y="223357"/>
                    <a:pt x="237840" y="46805"/>
                    <a:pt x="465221" y="6189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711556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260AA-DD9B-6F63-8D10-B509056ED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Physical Quantity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2053BB-C265-DA18-C037-0AE0A4F263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seven fundamental physical quantities</a:t>
            </a:r>
          </a:p>
        </p:txBody>
      </p:sp>
      <p:pic>
        <p:nvPicPr>
          <p:cNvPr id="1026" name="Picture 2" descr="1 Basic physical quantities and physical unit of SI | Download Table">
            <a:extLst>
              <a:ext uri="{FF2B5EF4-FFF2-40B4-BE49-F238E27FC236}">
                <a16:creationId xmlns:a16="http://schemas.microsoft.com/office/drawing/2014/main" id="{8950072C-50E8-BE44-D761-396AD9906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6939" y="2742108"/>
            <a:ext cx="6581948" cy="3139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3F3E8532-16E5-3522-FCD7-4AC4AE3BD2E8}"/>
              </a:ext>
            </a:extLst>
          </p:cNvPr>
          <p:cNvSpPr/>
          <p:nvPr/>
        </p:nvSpPr>
        <p:spPr>
          <a:xfrm>
            <a:off x="5525193" y="3429000"/>
            <a:ext cx="1208116" cy="455815"/>
          </a:xfrm>
          <a:prstGeom prst="ellipse">
            <a:avLst/>
          </a:prstGeom>
          <a:noFill/>
          <a:ln w="3810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29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2058" name="Oval 2057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9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0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1" name="Oval 2060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2" name="Oval 2061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Oval 2062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6" name="Oval 2065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7" name="Oval 2066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8" name="Oval 2067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9" name="Oval 2068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0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1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2" name="Oval 2071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3" name="Oval 2072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4" name="Oval 2073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5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6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7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8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79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0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1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083" name="Straight Connector 2082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85" name="Rectangle 2084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FE3DCF-A3AE-C187-6685-5D0E5C396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/>
              <a:t>Scientific Prefix</a:t>
            </a:r>
          </a:p>
        </p:txBody>
      </p:sp>
      <p:grpSp>
        <p:nvGrpSpPr>
          <p:cNvPr id="2087" name="Group 2086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088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89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90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91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2093" name="Straight Connector 2092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 descr="image">
            <a:extLst>
              <a:ext uri="{FF2B5EF4-FFF2-40B4-BE49-F238E27FC236}">
                <a16:creationId xmlns:a16="http://schemas.microsoft.com/office/drawing/2014/main" id="{27BCA396-BE5F-6FEE-586D-41B48BBE3EF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64837" y="710711"/>
            <a:ext cx="6272272" cy="5427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85567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E35F5-924E-A331-FFCC-91C43001F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A50E3-899F-A9F8-6C7A-57D47BE5E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Work individually, and compare the answers with your mate</a:t>
            </a:r>
          </a:p>
          <a:p>
            <a:pPr marL="457200" indent="-457200">
              <a:buAutoNum type="arabicPeriod"/>
            </a:pPr>
            <a:r>
              <a:rPr lang="en-US" dirty="0"/>
              <a:t>Calculate the volume of a cube with side length=15 nm and convert the unit into cm</a:t>
            </a:r>
            <a:r>
              <a:rPr lang="en-US" baseline="30000" dirty="0"/>
              <a:t>3</a:t>
            </a:r>
            <a:r>
              <a:rPr lang="en-US" dirty="0"/>
              <a:t>.</a:t>
            </a:r>
          </a:p>
          <a:p>
            <a:pPr marL="457200" indent="-457200">
              <a:buAutoNum type="arabicPeriod"/>
            </a:pPr>
            <a:r>
              <a:rPr lang="en-US" dirty="0"/>
              <a:t>Determine the density of a cube with side length=3 cm, mass=9 g, in the unit of kg/m</a:t>
            </a:r>
            <a:r>
              <a:rPr lang="en-US" baseline="30000" dirty="0"/>
              <a:t>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641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17D2A-B39C-7C76-3E65-BD84FF9FC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certain is my measurement?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EC527-9DFA-772D-2DA1-D7DE1DE81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Let’s think about this scenario-</a:t>
            </a:r>
          </a:p>
          <a:p>
            <a:pPr marL="0" indent="0">
              <a:buNone/>
            </a:pPr>
            <a:r>
              <a:rPr lang="en-US" dirty="0"/>
              <a:t>	“the side length of a cube is 3 cm, 3.0 cm, 	3.00 cm, and 3.000 cm. ”</a:t>
            </a:r>
          </a:p>
          <a:p>
            <a:r>
              <a:rPr lang="en-US" dirty="0"/>
              <a:t>Do they tell you the equal amount of information?</a:t>
            </a:r>
          </a:p>
          <a:p>
            <a:r>
              <a:rPr lang="en-US" dirty="0"/>
              <a:t>There are differences in the precision(</a:t>
            </a:r>
            <a:r>
              <a:rPr lang="zh-CN" altLang="en-US" dirty="0"/>
              <a:t>精度）</a:t>
            </a:r>
            <a:r>
              <a:rPr lang="en-US" altLang="zh-CN" dirty="0"/>
              <a:t>of each measurement.</a:t>
            </a:r>
          </a:p>
          <a:p>
            <a:r>
              <a:rPr lang="en-US" dirty="0"/>
              <a:t>And this difference is reflected in their different </a:t>
            </a:r>
            <a:r>
              <a:rPr lang="en-US" b="1" dirty="0"/>
              <a:t>significant figures.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783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FB6641-3852-CB04-7549-64097A6A7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2485898"/>
            <a:ext cx="3608387" cy="3395472"/>
          </a:xfrm>
        </p:spPr>
        <p:txBody>
          <a:bodyPr anchor="b">
            <a:normAutofit/>
          </a:bodyPr>
          <a:lstStyle/>
          <a:p>
            <a:r>
              <a:rPr lang="en-US" dirty="0"/>
              <a:t>Significant figures (sig. fig.)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ADD15B-C747-D340-BF8A-A1DD2A6A9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53">
              <a:extLst>
                <a:ext uri="{FF2B5EF4-FFF2-40B4-BE49-F238E27FC236}">
                  <a16:creationId xmlns:a16="http://schemas.microsoft.com/office/drawing/2014/main" id="{0B0B662E-0152-FD4E-B468-3F3593C15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55">
              <a:extLst>
                <a:ext uri="{FF2B5EF4-FFF2-40B4-BE49-F238E27FC236}">
                  <a16:creationId xmlns:a16="http://schemas.microsoft.com/office/drawing/2014/main" id="{81BFFC99-6B9D-F240-BD39-160F4C5735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57">
              <a:extLst>
                <a:ext uri="{FF2B5EF4-FFF2-40B4-BE49-F238E27FC236}">
                  <a16:creationId xmlns:a16="http://schemas.microsoft.com/office/drawing/2014/main" id="{4DC6AEB9-EEFF-D243-AEE2-42D0F9E53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8">
              <a:extLst>
                <a:ext uri="{FF2B5EF4-FFF2-40B4-BE49-F238E27FC236}">
                  <a16:creationId xmlns:a16="http://schemas.microsoft.com/office/drawing/2014/main" id="{D89DA958-651D-0049-A549-A9D22E494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FE039F1-6D47-C642-B506-452A83B0A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530EF2-4787-DA25-A9A0-2067D09541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1261145"/>
              </p:ext>
            </p:extLst>
          </p:nvPr>
        </p:nvGraphicFramePr>
        <p:xfrm>
          <a:off x="5224243" y="685667"/>
          <a:ext cx="6316267" cy="50771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8359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BD8A2-116A-1F46-CBC1-DAB628E16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85C88-EC7B-1648-86F0-22D87DE50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Identify the sig. figs. o</a:t>
            </a:r>
            <a:r>
              <a:rPr lang="en-US" altLang="zh-CN" dirty="0"/>
              <a:t>f each data</a:t>
            </a:r>
          </a:p>
          <a:p>
            <a:pPr marL="457200" indent="-457200">
              <a:buAutoNum type="arabicPeriod"/>
            </a:pPr>
            <a:r>
              <a:rPr lang="en-US" dirty="0"/>
              <a:t>2.0098</a:t>
            </a:r>
          </a:p>
          <a:p>
            <a:pPr marL="457200" indent="-457200">
              <a:buAutoNum type="arabicPeriod"/>
            </a:pPr>
            <a:r>
              <a:rPr lang="en-US" dirty="0"/>
              <a:t>1.000</a:t>
            </a:r>
          </a:p>
          <a:p>
            <a:pPr marL="457200" indent="-457200">
              <a:buAutoNum type="arabicPeriod"/>
            </a:pPr>
            <a:r>
              <a:rPr lang="en-US" dirty="0"/>
              <a:t>0.00045000</a:t>
            </a:r>
          </a:p>
          <a:p>
            <a:pPr marL="457200" indent="-457200">
              <a:buAutoNum type="arabicPeriod"/>
            </a:pPr>
            <a:r>
              <a:rPr lang="en-US" dirty="0"/>
              <a:t>1.000</a:t>
            </a:r>
            <a:r>
              <a:rPr lang="en-US" altLang="zh-CN" dirty="0"/>
              <a:t>x10</a:t>
            </a:r>
            <a:r>
              <a:rPr lang="en-US" altLang="zh-CN" baseline="30000" dirty="0"/>
              <a:t>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536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1B169B-779F-9FB4-B534-C37BA07A8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altLang="zh-CN" dirty="0"/>
              <a:t>recision and accuracy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CDA977-AE41-4900-07E6-FE13145C9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Just now we mentioned the term precision.</a:t>
            </a:r>
          </a:p>
          <a:p>
            <a:r>
              <a:rPr lang="en-US" dirty="0"/>
              <a:t>Precision is frequently associated with the term accuracy</a:t>
            </a:r>
          </a:p>
          <a:p>
            <a:r>
              <a:rPr lang="en-US" b="1" i="1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precision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is how close the measurements are to each other</a:t>
            </a:r>
          </a:p>
          <a:p>
            <a:r>
              <a:rPr lang="en-US" b="1" i="1" dirty="0">
                <a:effectLst/>
                <a:latin typeface="Arial" panose="020B0604020202020204" pitchFamily="34" charset="0"/>
              </a:rPr>
              <a:t>Accuracy</a:t>
            </a:r>
            <a:r>
              <a:rPr lang="en-US" b="0" i="0" dirty="0">
                <a:effectLst/>
                <a:latin typeface="Arial" panose="020B0604020202020204" pitchFamily="34" charset="0"/>
              </a:rPr>
              <a:t> is how close a given set of 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measurements</a:t>
            </a:r>
            <a:r>
              <a:rPr lang="en-US" b="0" i="0" dirty="0">
                <a:effectLst/>
                <a:latin typeface="Arial" panose="020B0604020202020204" pitchFamily="34" charset="0"/>
              </a:rPr>
              <a:t> (</a:t>
            </a:r>
            <a:r>
              <a:rPr lang="en-US" b="0" i="0" u="none" strike="noStrike" dirty="0">
                <a:effectLst/>
                <a:latin typeface="Arial" panose="020B0604020202020204" pitchFamily="34" charset="0"/>
              </a:rPr>
              <a:t>observations</a:t>
            </a:r>
            <a:r>
              <a:rPr lang="en-US" b="0" i="0" dirty="0">
                <a:effectLst/>
                <a:latin typeface="Arial" panose="020B0604020202020204" pitchFamily="34" charset="0"/>
              </a:rPr>
              <a:t> or readings) are to their </a:t>
            </a:r>
            <a:r>
              <a:rPr lang="en-US" b="0" i="1" u="none" strike="noStrike" dirty="0">
                <a:effectLst/>
                <a:latin typeface="Arial" panose="020B0604020202020204" pitchFamily="34" charset="0"/>
              </a:rPr>
              <a:t>true value.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50597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7" name="Group 3078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3118" name="Oval 3079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19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0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1" name="Oval 3082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2" name="Oval 3083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3" name="Oval 3084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4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5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26" name="Oval 3087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7" name="Oval 3088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8" name="Oval 3089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29" name="Oval 3090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0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1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2" name="Oval 3093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3" name="Oval 3094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4" name="Oval 3095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35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6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7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8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39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0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1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3142" name="Straight Connector 3104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143" name="Rectangle 3106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B8F83A-C78B-8183-543B-90D6FDA59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4" y="765768"/>
            <a:ext cx="6402597" cy="10632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400"/>
              <a:t>Precision vs accuracy</a:t>
            </a:r>
          </a:p>
        </p:txBody>
      </p:sp>
      <p:grpSp>
        <p:nvGrpSpPr>
          <p:cNvPr id="3144" name="Group 3108">
            <a:extLst>
              <a:ext uri="{FF2B5EF4-FFF2-40B4-BE49-F238E27FC236}">
                <a16:creationId xmlns:a16="http://schemas.microsoft.com/office/drawing/2014/main" id="{BCFFF971-DAC9-F44B-9F22-4B030B6B61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3145" name="Freeform 39">
              <a:extLst>
                <a:ext uri="{FF2B5EF4-FFF2-40B4-BE49-F238E27FC236}">
                  <a16:creationId xmlns:a16="http://schemas.microsoft.com/office/drawing/2014/main" id="{2E3E7145-2B02-8142-A82F-FFCA717D61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6" name="Freeform 41">
              <a:extLst>
                <a:ext uri="{FF2B5EF4-FFF2-40B4-BE49-F238E27FC236}">
                  <a16:creationId xmlns:a16="http://schemas.microsoft.com/office/drawing/2014/main" id="{33EA453D-E925-4C4C-A1E9-D54E82602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7" name="Freeform 43">
              <a:extLst>
                <a:ext uri="{FF2B5EF4-FFF2-40B4-BE49-F238E27FC236}">
                  <a16:creationId xmlns:a16="http://schemas.microsoft.com/office/drawing/2014/main" id="{CBA4AF6C-8831-A34A-91A3-CC6ED3566B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148" name="Freeform 44">
              <a:extLst>
                <a:ext uri="{FF2B5EF4-FFF2-40B4-BE49-F238E27FC236}">
                  <a16:creationId xmlns:a16="http://schemas.microsoft.com/office/drawing/2014/main" id="{8B12A352-6C2B-B94E-82E0-45D881BB7C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3074" name="Picture 2" descr="Quick Guide to the Precision and Accuracy of results from qPCR CopyCount -  DNA Software">
            <a:extLst>
              <a:ext uri="{FF2B5EF4-FFF2-40B4-BE49-F238E27FC236}">
                <a16:creationId xmlns:a16="http://schemas.microsoft.com/office/drawing/2014/main" id="{955A4F7E-0270-E52A-3139-42E3B2022AF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4"/>
          <a:stretch/>
        </p:blipFill>
        <p:spPr bwMode="auto">
          <a:xfrm>
            <a:off x="651489" y="2169236"/>
            <a:ext cx="10885620" cy="3712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49" name="Straight Connector 3114">
            <a:extLst>
              <a:ext uri="{FF2B5EF4-FFF2-40B4-BE49-F238E27FC236}">
                <a16:creationId xmlns:a16="http://schemas.microsoft.com/office/drawing/2014/main" id="{51D4F49C-5EE1-6C4F-858E-AE02CC2CD5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11058344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1544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57043A-328F-C901-B148-F4509BF36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r>
              <a:rPr lang="en-US" dirty="0"/>
              <a:t>Practice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AE3B52-CB77-F8DD-E788-8D6B289C8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000" dirty="0"/>
              <a:t>Use your own words to describe a scenario that a serial of measurements are</a:t>
            </a:r>
          </a:p>
          <a:p>
            <a:pPr marL="457200" indent="-457200">
              <a:lnSpc>
                <a:spcPct val="90000"/>
              </a:lnSpc>
              <a:buAutoNum type="alphaLcPeriod"/>
            </a:pPr>
            <a:r>
              <a:rPr lang="en-US" sz="2000" dirty="0"/>
              <a:t>Accurate but not precise</a:t>
            </a:r>
          </a:p>
          <a:p>
            <a:pPr marL="457200" indent="-457200">
              <a:lnSpc>
                <a:spcPct val="90000"/>
              </a:lnSpc>
              <a:buAutoNum type="alphaLcPeriod"/>
            </a:pPr>
            <a:r>
              <a:rPr lang="en-US" sz="2000" dirty="0"/>
              <a:t>Precise but not accurate</a:t>
            </a:r>
          </a:p>
          <a:p>
            <a:pPr marL="0" indent="0">
              <a:lnSpc>
                <a:spcPct val="90000"/>
              </a:lnSpc>
              <a:buNone/>
            </a:pP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E.g. Mr. Chen put a 25 </a:t>
            </a:r>
            <a:r>
              <a:rPr lang="en-US" sz="2000" dirty="0" err="1"/>
              <a:t>lbs</a:t>
            </a:r>
            <a:r>
              <a:rPr lang="en-US" sz="2000" dirty="0"/>
              <a:t> barbell weight on a body weight scale for five times, and the scale reads 24.8 </a:t>
            </a:r>
            <a:r>
              <a:rPr lang="en-US" sz="2000" dirty="0" err="1"/>
              <a:t>lbs</a:t>
            </a:r>
            <a:r>
              <a:rPr lang="en-US" sz="2000" dirty="0"/>
              <a:t>, 24.9 </a:t>
            </a:r>
            <a:r>
              <a:rPr lang="en-US" sz="2000" dirty="0" err="1"/>
              <a:t>lbs</a:t>
            </a:r>
            <a:r>
              <a:rPr lang="en-US" sz="2000" dirty="0"/>
              <a:t>, 25.3 </a:t>
            </a:r>
            <a:r>
              <a:rPr lang="en-US" sz="2000" dirty="0" err="1"/>
              <a:t>lbs</a:t>
            </a:r>
            <a:r>
              <a:rPr lang="en-US" sz="2000" dirty="0"/>
              <a:t>, 25.0 </a:t>
            </a:r>
            <a:r>
              <a:rPr lang="en-US" sz="2000" dirty="0" err="1"/>
              <a:t>lbs</a:t>
            </a:r>
            <a:r>
              <a:rPr lang="en-US" sz="2000" dirty="0"/>
              <a:t>, 24.7 </a:t>
            </a:r>
            <a:r>
              <a:rPr lang="en-US" sz="2000" dirty="0" err="1"/>
              <a:t>lbs</a:t>
            </a:r>
            <a:endParaRPr lang="en-US" sz="2000" dirty="0"/>
          </a:p>
        </p:txBody>
      </p:sp>
      <p:pic>
        <p:nvPicPr>
          <p:cNvPr id="5" name="Picture 4" descr="Different sizes of barbells">
            <a:extLst>
              <a:ext uri="{FF2B5EF4-FFF2-40B4-BE49-F238E27FC236}">
                <a16:creationId xmlns:a16="http://schemas.microsoft.com/office/drawing/2014/main" id="{8AD65A12-9D03-A006-E18F-3E004F6EA1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914" r="8662" b="-2"/>
          <a:stretch/>
        </p:blipFill>
        <p:spPr>
          <a:xfrm>
            <a:off x="20" y="1"/>
            <a:ext cx="6927143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2849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12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6A06A2F-538C-F66D-CCA5-1F9314EE7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Errors and uncertainties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F9AE2B-0B6C-7AE2-5315-08A3DC41A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700" dirty="0"/>
              <a:t>In the previous descriptions, we can observe that there are </a:t>
            </a:r>
            <a:r>
              <a:rPr lang="en-US" sz="1700" b="1" dirty="0"/>
              <a:t>variations</a:t>
            </a:r>
            <a:r>
              <a:rPr lang="en-US" sz="1700" dirty="0"/>
              <a:t> of measurements.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We call these variations the </a:t>
            </a:r>
            <a:r>
              <a:rPr lang="en-US" sz="1700" b="1" dirty="0"/>
              <a:t>uncertainty</a:t>
            </a:r>
            <a:r>
              <a:rPr lang="en-US" sz="1700" dirty="0"/>
              <a:t> of our measurements.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When we are </a:t>
            </a:r>
            <a:r>
              <a:rPr lang="en-US" sz="1700" b="1" dirty="0"/>
              <a:t>objectively </a:t>
            </a:r>
            <a:r>
              <a:rPr lang="en-US" sz="1700" dirty="0"/>
              <a:t>analyzing these uncertainties, we used the term </a:t>
            </a:r>
            <a:r>
              <a:rPr lang="en-US" sz="1700" b="1" dirty="0"/>
              <a:t>errors </a:t>
            </a:r>
            <a:r>
              <a:rPr lang="en-US" sz="1700" dirty="0"/>
              <a:t>to describe these variations.</a:t>
            </a:r>
          </a:p>
          <a:p>
            <a:pPr>
              <a:lnSpc>
                <a:spcPct val="90000"/>
              </a:lnSpc>
            </a:pPr>
            <a:r>
              <a:rPr lang="en-US" sz="1700" dirty="0"/>
              <a:t>There are two types of errors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/>
              <a:t>	Random Error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700" dirty="0"/>
              <a:t>	Systematic Error</a:t>
            </a:r>
          </a:p>
        </p:txBody>
      </p:sp>
      <p:pic>
        <p:nvPicPr>
          <p:cNvPr id="5" name="Picture 4" descr="Magnifying glass and question mark">
            <a:extLst>
              <a:ext uri="{FF2B5EF4-FFF2-40B4-BE49-F238E27FC236}">
                <a16:creationId xmlns:a16="http://schemas.microsoft.com/office/drawing/2014/main" id="{CBCEEA40-E78C-BE53-FEC3-F9905A52C9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033" r="17150"/>
          <a:stretch/>
        </p:blipFill>
        <p:spPr>
          <a:xfrm>
            <a:off x="20" y="1"/>
            <a:ext cx="6927143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971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55997-490F-7C6B-CA42-AA4D85425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Systematic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AE283-A033-0D5D-534C-FC394EA9B0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Systematic errors in experimental observations usually come from the measuring instruments. They may occur because: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there is something wrong with the instrument or its data handling system, or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because the instrument is wrongly used by the experimenter.</a:t>
            </a:r>
          </a:p>
          <a:p>
            <a:pPr marL="0" indent="0">
              <a:buNone/>
            </a:pPr>
            <a:r>
              <a:rPr lang="en-US" dirty="0"/>
              <a:t>i.e. The balance reads 2.89 g when nothing is placed on it.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065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55E2E1-07FF-2753-6E00-DFFC4C53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Random error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14FBEA-4FDB-6AC2-7E78-9036BC718C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Random errors in experimental measurements are caused by unknown and unpredictable changes in the experiment. These changes may occur in the measuring instruments or in the environmental conditions.</a:t>
            </a:r>
          </a:p>
          <a:p>
            <a:r>
              <a:rPr lang="en-US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For example, I am shooting at a target 100 m away and suddenly a side wind blows in.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25827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3" name="Rectangle 4102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806B38-B606-402A-C47D-7D8ABFA385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1" y="770890"/>
            <a:ext cx="4133559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Systematic or random?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43068C3-AA9C-266B-1A5F-81E3BA7D3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151" y="2160016"/>
            <a:ext cx="4133559" cy="3601212"/>
          </a:xfrm>
        </p:spPr>
        <p:txBody>
          <a:bodyPr>
            <a:normAutofit/>
          </a:bodyPr>
          <a:lstStyle/>
          <a:p>
            <a:r>
              <a:rPr lang="en-US" dirty="0"/>
              <a:t>Can you give me some examples of systematic and random errors?</a:t>
            </a:r>
          </a:p>
        </p:txBody>
      </p:sp>
      <p:pic>
        <p:nvPicPr>
          <p:cNvPr id="4098" name="Picture 2" descr="Difference Between Random &amp; Systematic Error (with ...">
            <a:extLst>
              <a:ext uri="{FF2B5EF4-FFF2-40B4-BE49-F238E27FC236}">
                <a16:creationId xmlns:a16="http://schemas.microsoft.com/office/drawing/2014/main" id="{AA344E4C-3174-FBDA-941D-D5D45650E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106596" y="780126"/>
            <a:ext cx="6430513" cy="5289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114" name="Group 4104">
            <a:extLst>
              <a:ext uri="{FF2B5EF4-FFF2-40B4-BE49-F238E27FC236}">
                <a16:creationId xmlns:a16="http://schemas.microsoft.com/office/drawing/2014/main" id="{1B5E71B3-7269-894E-A00B-31D341365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115" name="Freeform 85">
              <a:extLst>
                <a:ext uri="{FF2B5EF4-FFF2-40B4-BE49-F238E27FC236}">
                  <a16:creationId xmlns:a16="http://schemas.microsoft.com/office/drawing/2014/main" id="{FFFA3A20-1539-CC4A-9BE1-7415FE5A98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16" name="Freeform 87">
              <a:extLst>
                <a:ext uri="{FF2B5EF4-FFF2-40B4-BE49-F238E27FC236}">
                  <a16:creationId xmlns:a16="http://schemas.microsoft.com/office/drawing/2014/main" id="{44EBCCFB-8EAB-2442-8E02-293F08D50B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17" name="Freeform 89">
              <a:extLst>
                <a:ext uri="{FF2B5EF4-FFF2-40B4-BE49-F238E27FC236}">
                  <a16:creationId xmlns:a16="http://schemas.microsoft.com/office/drawing/2014/main" id="{AFD14830-CC36-D64E-8173-398042563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118" name="Freeform 97">
              <a:extLst>
                <a:ext uri="{FF2B5EF4-FFF2-40B4-BE49-F238E27FC236}">
                  <a16:creationId xmlns:a16="http://schemas.microsoft.com/office/drawing/2014/main" id="{FAA40AB8-EB6E-A44D-B3CA-7D25B64F5A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119" name="Straight Connector 4110">
            <a:extLst>
              <a:ext uri="{FF2B5EF4-FFF2-40B4-BE49-F238E27FC236}">
                <a16:creationId xmlns:a16="http://schemas.microsoft.com/office/drawing/2014/main" id="{A0A01F17-907D-3541-BBAF-A33828880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49476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54" name="Rectangle 5153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56" name="Group 5155">
            <a:extLst>
              <a:ext uri="{FF2B5EF4-FFF2-40B4-BE49-F238E27FC236}">
                <a16:creationId xmlns:a16="http://schemas.microsoft.com/office/drawing/2014/main" id="{7A00BDF4-7643-A942-A588-F24E4E09A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5157" name="Freeform 32">
              <a:extLst>
                <a:ext uri="{FF2B5EF4-FFF2-40B4-BE49-F238E27FC236}">
                  <a16:creationId xmlns:a16="http://schemas.microsoft.com/office/drawing/2014/main" id="{90B25A21-16B9-8D47-928B-2367A0B8C0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58" name="Freeform 34">
              <a:extLst>
                <a:ext uri="{FF2B5EF4-FFF2-40B4-BE49-F238E27FC236}">
                  <a16:creationId xmlns:a16="http://schemas.microsoft.com/office/drawing/2014/main" id="{E5E64190-3AC0-0A48-9917-5FAE935A8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59" name="Freeform 47">
              <a:extLst>
                <a:ext uri="{FF2B5EF4-FFF2-40B4-BE49-F238E27FC236}">
                  <a16:creationId xmlns:a16="http://schemas.microsoft.com/office/drawing/2014/main" id="{AE71CDB8-B430-F14E-99C8-E6AAB8E21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60" name="Freeform 48">
              <a:extLst>
                <a:ext uri="{FF2B5EF4-FFF2-40B4-BE49-F238E27FC236}">
                  <a16:creationId xmlns:a16="http://schemas.microsoft.com/office/drawing/2014/main" id="{DCA37B0A-FCCC-7642-B70D-56AD50049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24EB000-61A0-D192-3B68-2797E5E09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4243" y="770890"/>
            <a:ext cx="6400999" cy="1268984"/>
          </a:xfrm>
        </p:spPr>
        <p:txBody>
          <a:bodyPr>
            <a:normAutofit/>
          </a:bodyPr>
          <a:lstStyle/>
          <a:p>
            <a:r>
              <a:rPr lang="en-US"/>
              <a:t>Uncertainty in readings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38D27-2118-B170-559D-8B2AE172B2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4243" y="2160016"/>
            <a:ext cx="6400999" cy="3601212"/>
          </a:xfrm>
        </p:spPr>
        <p:txBody>
          <a:bodyPr>
            <a:normAutofit/>
          </a:bodyPr>
          <a:lstStyle/>
          <a:p>
            <a:r>
              <a:rPr lang="en-US" dirty="0"/>
              <a:t>Type 1 of reading-analogue reading (needle-type reading)</a:t>
            </a:r>
          </a:p>
          <a:p>
            <a:r>
              <a:rPr lang="en-US" dirty="0"/>
              <a:t>Uncertainty=1/2 of minimal division</a:t>
            </a:r>
          </a:p>
        </p:txBody>
      </p:sp>
      <p:pic>
        <p:nvPicPr>
          <p:cNvPr id="5150" name="Picture 5149" descr="Fire engine parked inside a fire station">
            <a:extLst>
              <a:ext uri="{FF2B5EF4-FFF2-40B4-BE49-F238E27FC236}">
                <a16:creationId xmlns:a16="http://schemas.microsoft.com/office/drawing/2014/main" id="{EB304416-5DFB-0C0B-6DD2-0DD340292E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0256" r="24412" b="-2"/>
          <a:stretch/>
        </p:blipFill>
        <p:spPr>
          <a:xfrm>
            <a:off x="20" y="1"/>
            <a:ext cx="4657325" cy="6857999"/>
          </a:xfrm>
          <a:prstGeom prst="rect">
            <a:avLst/>
          </a:prstGeom>
        </p:spPr>
      </p:pic>
      <p:cxnSp>
        <p:nvCxnSpPr>
          <p:cNvPr id="5162" name="Straight Connector 5161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24243" y="6087110"/>
            <a:ext cx="6400999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 descr="Liquid in graduated cylinder close up Stock Photo - Alamy">
            <a:extLst>
              <a:ext uri="{FF2B5EF4-FFF2-40B4-BE49-F238E27FC236}">
                <a16:creationId xmlns:a16="http://schemas.microsoft.com/office/drawing/2014/main" id="{FE0217E8-2E45-CE5A-EEB5-E9463B901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86" y="0"/>
            <a:ext cx="4596192" cy="7378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1633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C7F2E4D6-EF46-1C43-8F3E-3620C3C83F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70EBDB1D-17AA-8140-B216-35CBA8C9E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2058" name="Freeform 34">
              <a:extLst>
                <a:ext uri="{FF2B5EF4-FFF2-40B4-BE49-F238E27FC236}">
                  <a16:creationId xmlns:a16="http://schemas.microsoft.com/office/drawing/2014/main" id="{98E3FFBE-BCB2-4744-8CA3-BC11F11AD4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59" name="Freeform 36">
              <a:extLst>
                <a:ext uri="{FF2B5EF4-FFF2-40B4-BE49-F238E27FC236}">
                  <a16:creationId xmlns:a16="http://schemas.microsoft.com/office/drawing/2014/main" id="{BBD5B432-1551-644A-B937-54EFF42011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0" name="Freeform 38">
              <a:extLst>
                <a:ext uri="{FF2B5EF4-FFF2-40B4-BE49-F238E27FC236}">
                  <a16:creationId xmlns:a16="http://schemas.microsoft.com/office/drawing/2014/main" id="{BDCFB512-5A0E-0143-B5B7-6A965E100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61" name="Freeform 50">
              <a:extLst>
                <a:ext uri="{FF2B5EF4-FFF2-40B4-BE49-F238E27FC236}">
                  <a16:creationId xmlns:a16="http://schemas.microsoft.com/office/drawing/2014/main" id="{EEDAA716-EDDF-5941-A55E-C12C893A39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54BD4C6-B708-F51E-04E5-0C21CC3EC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3280" y="770890"/>
            <a:ext cx="4133560" cy="126898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Uncertainty in reading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75D20-C4F1-553D-5BA9-BAFDB96853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93280" y="2160016"/>
            <a:ext cx="4133560" cy="3601212"/>
          </a:xfrm>
        </p:spPr>
        <p:txBody>
          <a:bodyPr>
            <a:normAutofit/>
          </a:bodyPr>
          <a:lstStyle/>
          <a:p>
            <a:r>
              <a:rPr lang="en-US" dirty="0"/>
              <a:t>Type 2 reading-digital reading</a:t>
            </a:r>
          </a:p>
          <a:p>
            <a:pPr marL="0" indent="0">
              <a:buNone/>
            </a:pPr>
            <a:r>
              <a:rPr lang="en-US" b="1" dirty="0"/>
              <a:t>Uncertainty=</a:t>
            </a:r>
            <a:r>
              <a:rPr lang="en-US" altLang="zh-CN" b="1" dirty="0"/>
              <a:t> minimal division</a:t>
            </a:r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 descr="Electronic Analytical Balance Price, Digital Analytical Balance ...">
            <a:extLst>
              <a:ext uri="{FF2B5EF4-FFF2-40B4-BE49-F238E27FC236}">
                <a16:creationId xmlns:a16="http://schemas.microsoft.com/office/drawing/2014/main" id="{87B90F42-05C6-156C-1D43-26AA591E9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3" r="6034"/>
          <a:stretch/>
        </p:blipFill>
        <p:spPr bwMode="auto">
          <a:xfrm>
            <a:off x="20" y="1"/>
            <a:ext cx="6927143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BF3CF3DF-4809-5B42-9F22-9813913792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493279" y="6087110"/>
            <a:ext cx="4133560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401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9B480-4F67-EC47-DDF6-AE8BE33F5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to express the uncertainty in measuring?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5ED5E-7A4E-2BC7-51CA-819F16B9E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By using the balance showed in the above slide, you weigh out 2.08 g of NaCl. How do you record your measurement with uncertainty?</a:t>
            </a:r>
          </a:p>
        </p:txBody>
      </p:sp>
    </p:spTree>
    <p:extLst>
      <p:ext uri="{BB962C8B-B14F-4D97-AF65-F5344CB8AC3E}">
        <p14:creationId xmlns:p14="http://schemas.microsoft.com/office/powerpoint/2010/main" val="37206996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EB46B8FB-F6A2-5F47-A6CD-A7E17E6927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01388" y="0"/>
            <a:ext cx="5990612" cy="6858001"/>
            <a:chOff x="6201388" y="0"/>
            <a:chExt cx="5990612" cy="6858001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419BDE93-3EC2-4E4D-BC0B-417378F49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8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 46">
              <a:extLst>
                <a:ext uri="{FF2B5EF4-FFF2-40B4-BE49-F238E27FC236}">
                  <a16:creationId xmlns:a16="http://schemas.microsoft.com/office/drawing/2014/main" id="{FE21F82F-1EE5-8240-97F8-387DF0253F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1389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2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4" y="565575"/>
                    <a:pt x="565362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 48">
              <a:extLst>
                <a:ext uri="{FF2B5EF4-FFF2-40B4-BE49-F238E27FC236}">
                  <a16:creationId xmlns:a16="http://schemas.microsoft.com/office/drawing/2014/main" id="{AE1903E3-6B5F-6B4C-9A1F-62628A050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5" y="6292426"/>
              <a:ext cx="1130723" cy="565575"/>
            </a:xfrm>
            <a:custGeom>
              <a:avLst/>
              <a:gdLst>
                <a:gd name="connsiteX0" fmla="*/ 565362 w 1130723"/>
                <a:gd name="connsiteY0" fmla="*/ 0 h 565575"/>
                <a:gd name="connsiteX1" fmla="*/ 1130723 w 1130723"/>
                <a:gd name="connsiteY1" fmla="*/ 565362 h 565575"/>
                <a:gd name="connsiteX2" fmla="*/ 1130702 w 1130723"/>
                <a:gd name="connsiteY2" fmla="*/ 565575 h 565575"/>
                <a:gd name="connsiteX3" fmla="*/ 21 w 1130723"/>
                <a:gd name="connsiteY3" fmla="*/ 565575 h 565575"/>
                <a:gd name="connsiteX4" fmla="*/ 0 w 1130723"/>
                <a:gd name="connsiteY4" fmla="*/ 565362 h 565575"/>
                <a:gd name="connsiteX5" fmla="*/ 565362 w 1130723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3" h="565575">
                  <a:moveTo>
                    <a:pt x="565362" y="0"/>
                  </a:moveTo>
                  <a:cubicBezTo>
                    <a:pt x="877602" y="0"/>
                    <a:pt x="1130723" y="253121"/>
                    <a:pt x="1130723" y="565362"/>
                  </a:cubicBezTo>
                  <a:lnTo>
                    <a:pt x="1130702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0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F7C55863-3B37-0743-B001-1A970033F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932B4C24-3A58-924C-B79A-D961EF7C2C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217788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1EF52E0-D2CF-544F-93A6-4D7B45A048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3" y="80636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 63">
              <a:extLst>
                <a:ext uri="{FF2B5EF4-FFF2-40B4-BE49-F238E27FC236}">
                  <a16:creationId xmlns:a16="http://schemas.microsoft.com/office/drawing/2014/main" id="{6966CFE5-1C8C-2E4F-9B2D-A8438F5A5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564254" y="1"/>
              <a:ext cx="1130725" cy="565575"/>
            </a:xfrm>
            <a:custGeom>
              <a:avLst/>
              <a:gdLst>
                <a:gd name="connsiteX0" fmla="*/ 21 w 1130725"/>
                <a:gd name="connsiteY0" fmla="*/ 0 h 565575"/>
                <a:gd name="connsiteX1" fmla="*/ 1130704 w 1130725"/>
                <a:gd name="connsiteY1" fmla="*/ 0 h 565575"/>
                <a:gd name="connsiteX2" fmla="*/ 1130725 w 1130725"/>
                <a:gd name="connsiteY2" fmla="*/ 213 h 565575"/>
                <a:gd name="connsiteX3" fmla="*/ 565363 w 1130725"/>
                <a:gd name="connsiteY3" fmla="*/ 565575 h 565575"/>
                <a:gd name="connsiteX4" fmla="*/ 0 w 1130725"/>
                <a:gd name="connsiteY4" fmla="*/ 213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5" h="565575">
                  <a:moveTo>
                    <a:pt x="21" y="0"/>
                  </a:moveTo>
                  <a:lnTo>
                    <a:pt x="1130704" y="0"/>
                  </a:lnTo>
                  <a:lnTo>
                    <a:pt x="1130725" y="213"/>
                  </a:lnTo>
                  <a:cubicBezTo>
                    <a:pt x="1130725" y="312454"/>
                    <a:pt x="877603" y="565575"/>
                    <a:pt x="565363" y="565575"/>
                  </a:cubicBezTo>
                  <a:cubicBezTo>
                    <a:pt x="253121" y="565575"/>
                    <a:pt x="0" y="312454"/>
                    <a:pt x="0" y="21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 64">
              <a:extLst>
                <a:ext uri="{FF2B5EF4-FFF2-40B4-BE49-F238E27FC236}">
                  <a16:creationId xmlns:a16="http://schemas.microsoft.com/office/drawing/2014/main" id="{9FD29EF3-A5B2-554A-A307-6BE1BCE8A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2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2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AC1ECAD8-0CF2-934D-AA1E-C108208CD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4920911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B14DED1-3A58-8C4D-902E-2A9F34043F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3549396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5D65157-5719-0341-A807-A8956595FB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217788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A7F23F74-B777-2A4C-8EF9-E798880D5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8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 70">
              <a:extLst>
                <a:ext uri="{FF2B5EF4-FFF2-40B4-BE49-F238E27FC236}">
                  <a16:creationId xmlns:a16="http://schemas.microsoft.com/office/drawing/2014/main" id="{E3B9A050-0AE1-1D4B-A2AC-6EEF64B106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27117" y="0"/>
              <a:ext cx="1130726" cy="565576"/>
            </a:xfrm>
            <a:custGeom>
              <a:avLst/>
              <a:gdLst>
                <a:gd name="connsiteX0" fmla="*/ 22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2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8" name="Freeform 71">
              <a:extLst>
                <a:ext uri="{FF2B5EF4-FFF2-40B4-BE49-F238E27FC236}">
                  <a16:creationId xmlns:a16="http://schemas.microsoft.com/office/drawing/2014/main" id="{C424FE38-F803-8D47-BF56-1B18EC2B1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6292426"/>
              <a:ext cx="1130724" cy="565575"/>
            </a:xfrm>
            <a:custGeom>
              <a:avLst/>
              <a:gdLst>
                <a:gd name="connsiteX0" fmla="*/ 565362 w 1130724"/>
                <a:gd name="connsiteY0" fmla="*/ 0 h 565575"/>
                <a:gd name="connsiteX1" fmla="*/ 1130724 w 1130724"/>
                <a:gd name="connsiteY1" fmla="*/ 565362 h 565575"/>
                <a:gd name="connsiteX2" fmla="*/ 1130703 w 1130724"/>
                <a:gd name="connsiteY2" fmla="*/ 565575 h 565575"/>
                <a:gd name="connsiteX3" fmla="*/ 21 w 1130724"/>
                <a:gd name="connsiteY3" fmla="*/ 565575 h 565575"/>
                <a:gd name="connsiteX4" fmla="*/ 0 w 1130724"/>
                <a:gd name="connsiteY4" fmla="*/ 565362 h 565575"/>
                <a:gd name="connsiteX5" fmla="*/ 565362 w 1130724"/>
                <a:gd name="connsiteY5" fmla="*/ 0 h 565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30724" h="565575">
                  <a:moveTo>
                    <a:pt x="565362" y="0"/>
                  </a:moveTo>
                  <a:cubicBezTo>
                    <a:pt x="877603" y="0"/>
                    <a:pt x="1130724" y="253121"/>
                    <a:pt x="1130724" y="565362"/>
                  </a:cubicBezTo>
                  <a:lnTo>
                    <a:pt x="1130703" y="565575"/>
                  </a:lnTo>
                  <a:lnTo>
                    <a:pt x="21" y="565575"/>
                  </a:lnTo>
                  <a:lnTo>
                    <a:pt x="0" y="565362"/>
                  </a:lnTo>
                  <a:cubicBezTo>
                    <a:pt x="0" y="253121"/>
                    <a:pt x="253121" y="0"/>
                    <a:pt x="565362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E37187F2-9212-0641-97D0-1ACD50B748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4920911"/>
              <a:ext cx="1130725" cy="113072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C760C651-2AC4-564E-BEAA-AB7FAFE7F7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354939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58B0A1B8-5BA3-3548-9511-B4904D0526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4" y="806366"/>
              <a:ext cx="1130725" cy="1130724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Freeform 75">
              <a:extLst>
                <a:ext uri="{FF2B5EF4-FFF2-40B4-BE49-F238E27FC236}">
                  <a16:creationId xmlns:a16="http://schemas.microsoft.com/office/drawing/2014/main" id="{424CD779-EE9A-214D-9488-767327E373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89983" y="0"/>
              <a:ext cx="1130726" cy="565576"/>
            </a:xfrm>
            <a:custGeom>
              <a:avLst/>
              <a:gdLst>
                <a:gd name="connsiteX0" fmla="*/ 21 w 1130726"/>
                <a:gd name="connsiteY0" fmla="*/ 0 h 565576"/>
                <a:gd name="connsiteX1" fmla="*/ 1130704 w 1130726"/>
                <a:gd name="connsiteY1" fmla="*/ 0 h 565576"/>
                <a:gd name="connsiteX2" fmla="*/ 1130726 w 1130726"/>
                <a:gd name="connsiteY2" fmla="*/ 214 h 565576"/>
                <a:gd name="connsiteX3" fmla="*/ 565363 w 1130726"/>
                <a:gd name="connsiteY3" fmla="*/ 565576 h 565576"/>
                <a:gd name="connsiteX4" fmla="*/ 0 w 1130726"/>
                <a:gd name="connsiteY4" fmla="*/ 214 h 565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6" h="565576">
                  <a:moveTo>
                    <a:pt x="21" y="0"/>
                  </a:moveTo>
                  <a:lnTo>
                    <a:pt x="1130704" y="0"/>
                  </a:lnTo>
                  <a:lnTo>
                    <a:pt x="1130726" y="214"/>
                  </a:lnTo>
                  <a:cubicBezTo>
                    <a:pt x="1130726" y="312455"/>
                    <a:pt x="877604" y="565576"/>
                    <a:pt x="565363" y="565576"/>
                  </a:cubicBezTo>
                  <a:cubicBezTo>
                    <a:pt x="253122" y="565576"/>
                    <a:pt x="0" y="31245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3" name="Freeform 76">
              <a:extLst>
                <a:ext uri="{FF2B5EF4-FFF2-40B4-BE49-F238E27FC236}">
                  <a16:creationId xmlns:a16="http://schemas.microsoft.com/office/drawing/2014/main" id="{630D08C6-9EFB-8540-875F-2A55DED2AA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4" y="6295069"/>
              <a:ext cx="539146" cy="562931"/>
            </a:xfrm>
            <a:custGeom>
              <a:avLst/>
              <a:gdLst>
                <a:gd name="connsiteX0" fmla="*/ 539146 w 539146"/>
                <a:gd name="connsiteY0" fmla="*/ 0 h 562931"/>
                <a:gd name="connsiteX1" fmla="*/ 539146 w 539146"/>
                <a:gd name="connsiteY1" fmla="*/ 562931 h 562931"/>
                <a:gd name="connsiteX2" fmla="*/ 21 w 539146"/>
                <a:gd name="connsiteY2" fmla="*/ 562931 h 562931"/>
                <a:gd name="connsiteX3" fmla="*/ 0 w 539146"/>
                <a:gd name="connsiteY3" fmla="*/ 562719 h 562931"/>
                <a:gd name="connsiteX4" fmla="*/ 451422 w 539146"/>
                <a:gd name="connsiteY4" fmla="*/ 8843 h 5629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6" h="562931">
                  <a:moveTo>
                    <a:pt x="539146" y="0"/>
                  </a:moveTo>
                  <a:lnTo>
                    <a:pt x="539146" y="562931"/>
                  </a:lnTo>
                  <a:lnTo>
                    <a:pt x="21" y="562931"/>
                  </a:lnTo>
                  <a:lnTo>
                    <a:pt x="0" y="562719"/>
                  </a:lnTo>
                  <a:cubicBezTo>
                    <a:pt x="0" y="289508"/>
                    <a:pt x="193796" y="61561"/>
                    <a:pt x="451422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4" name="Freeform 77">
              <a:extLst>
                <a:ext uri="{FF2B5EF4-FFF2-40B4-BE49-F238E27FC236}">
                  <a16:creationId xmlns:a16="http://schemas.microsoft.com/office/drawing/2014/main" id="{D7E8DA86-1294-4641-9C52-6E15315064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4923555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5" name="Freeform 78">
              <a:extLst>
                <a:ext uri="{FF2B5EF4-FFF2-40B4-BE49-F238E27FC236}">
                  <a16:creationId xmlns:a16="http://schemas.microsoft.com/office/drawing/2014/main" id="{011063C9-2A43-3348-A018-F27FACAA77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3552039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6" name="Freeform 79">
              <a:extLst>
                <a:ext uri="{FF2B5EF4-FFF2-40B4-BE49-F238E27FC236}">
                  <a16:creationId xmlns:a16="http://schemas.microsoft.com/office/drawing/2014/main" id="{EE85C7DE-D965-244F-BD95-3A05FF4AAC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2180524"/>
              <a:ext cx="539147" cy="1125438"/>
            </a:xfrm>
            <a:custGeom>
              <a:avLst/>
              <a:gdLst>
                <a:gd name="connsiteX0" fmla="*/ 539147 w 539147"/>
                <a:gd name="connsiteY0" fmla="*/ 0 h 1125438"/>
                <a:gd name="connsiteX1" fmla="*/ 539147 w 539147"/>
                <a:gd name="connsiteY1" fmla="*/ 1125438 h 1125438"/>
                <a:gd name="connsiteX2" fmla="*/ 451423 w 539147"/>
                <a:gd name="connsiteY2" fmla="*/ 1116595 h 1125438"/>
                <a:gd name="connsiteX3" fmla="*/ 0 w 539147"/>
                <a:gd name="connsiteY3" fmla="*/ 562719 h 1125438"/>
                <a:gd name="connsiteX4" fmla="*/ 451423 w 539147"/>
                <a:gd name="connsiteY4" fmla="*/ 8843 h 1125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8">
                  <a:moveTo>
                    <a:pt x="539147" y="0"/>
                  </a:moveTo>
                  <a:lnTo>
                    <a:pt x="539147" y="1125438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9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7" name="Freeform 80">
              <a:extLst>
                <a:ext uri="{FF2B5EF4-FFF2-40B4-BE49-F238E27FC236}">
                  <a16:creationId xmlns:a16="http://schemas.microsoft.com/office/drawing/2014/main" id="{315A1389-149A-3342-A863-637D42FDB2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809010"/>
              <a:ext cx="539147" cy="1125439"/>
            </a:xfrm>
            <a:custGeom>
              <a:avLst/>
              <a:gdLst>
                <a:gd name="connsiteX0" fmla="*/ 539147 w 539147"/>
                <a:gd name="connsiteY0" fmla="*/ 0 h 1125439"/>
                <a:gd name="connsiteX1" fmla="*/ 539147 w 539147"/>
                <a:gd name="connsiteY1" fmla="*/ 1125439 h 1125439"/>
                <a:gd name="connsiteX2" fmla="*/ 451423 w 539147"/>
                <a:gd name="connsiteY2" fmla="*/ 1116595 h 1125439"/>
                <a:gd name="connsiteX3" fmla="*/ 0 w 539147"/>
                <a:gd name="connsiteY3" fmla="*/ 562719 h 1125439"/>
                <a:gd name="connsiteX4" fmla="*/ 451423 w 539147"/>
                <a:gd name="connsiteY4" fmla="*/ 8843 h 1125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1125439">
                  <a:moveTo>
                    <a:pt x="539147" y="0"/>
                  </a:moveTo>
                  <a:lnTo>
                    <a:pt x="539147" y="1125439"/>
                  </a:lnTo>
                  <a:lnTo>
                    <a:pt x="451423" y="1116595"/>
                  </a:lnTo>
                  <a:cubicBezTo>
                    <a:pt x="193797" y="1063877"/>
                    <a:pt x="0" y="835930"/>
                    <a:pt x="0" y="562719"/>
                  </a:cubicBezTo>
                  <a:cubicBezTo>
                    <a:pt x="0" y="289508"/>
                    <a:pt x="193797" y="61561"/>
                    <a:pt x="451423" y="8843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Freeform 81">
              <a:extLst>
                <a:ext uri="{FF2B5EF4-FFF2-40B4-BE49-F238E27FC236}">
                  <a16:creationId xmlns:a16="http://schemas.microsoft.com/office/drawing/2014/main" id="{B149CC6F-B6C6-BE46-B451-1BF7D47A89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2853" y="1"/>
              <a:ext cx="539147" cy="562933"/>
            </a:xfrm>
            <a:custGeom>
              <a:avLst/>
              <a:gdLst>
                <a:gd name="connsiteX0" fmla="*/ 22 w 539147"/>
                <a:gd name="connsiteY0" fmla="*/ 0 h 562933"/>
                <a:gd name="connsiteX1" fmla="*/ 539147 w 539147"/>
                <a:gd name="connsiteY1" fmla="*/ 0 h 562933"/>
                <a:gd name="connsiteX2" fmla="*/ 539147 w 539147"/>
                <a:gd name="connsiteY2" fmla="*/ 562933 h 562933"/>
                <a:gd name="connsiteX3" fmla="*/ 451423 w 539147"/>
                <a:gd name="connsiteY3" fmla="*/ 554090 h 562933"/>
                <a:gd name="connsiteX4" fmla="*/ 0 w 539147"/>
                <a:gd name="connsiteY4" fmla="*/ 214 h 5629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9147" h="562933">
                  <a:moveTo>
                    <a:pt x="22" y="0"/>
                  </a:moveTo>
                  <a:lnTo>
                    <a:pt x="539147" y="0"/>
                  </a:lnTo>
                  <a:lnTo>
                    <a:pt x="539147" y="562933"/>
                  </a:lnTo>
                  <a:lnTo>
                    <a:pt x="451423" y="554090"/>
                  </a:lnTo>
                  <a:cubicBezTo>
                    <a:pt x="193797" y="501372"/>
                    <a:pt x="0" y="273425"/>
                    <a:pt x="0" y="214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33A3282-0389-C547-8CA6-7F3E7F27B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5066001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4EFE82FE-7465-AE46-88DF-34D347E83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BE4901-85ED-3B23-46B6-1E7D639E8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5150" y="768334"/>
            <a:ext cx="4134537" cy="2866405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200"/>
              <a:t>How are errors associate with precision and accuracy?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665B630C-8A26-BF40-AD00-AAAB3F8DF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290315" y="0"/>
            <a:ext cx="1901686" cy="4677439"/>
            <a:chOff x="10290315" y="0"/>
            <a:chExt cx="1901686" cy="4677439"/>
          </a:xfrm>
        </p:grpSpPr>
        <p:sp>
          <p:nvSpPr>
            <p:cNvPr id="45" name="Freeform 85">
              <a:extLst>
                <a:ext uri="{FF2B5EF4-FFF2-40B4-BE49-F238E27FC236}">
                  <a16:creationId xmlns:a16="http://schemas.microsoft.com/office/drawing/2014/main" id="{47332152-49D9-5F42-9522-9424EDC70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90315" y="0"/>
              <a:ext cx="1130724" cy="565573"/>
            </a:xfrm>
            <a:custGeom>
              <a:avLst/>
              <a:gdLst>
                <a:gd name="connsiteX0" fmla="*/ 21 w 1130724"/>
                <a:gd name="connsiteY0" fmla="*/ 0 h 565573"/>
                <a:gd name="connsiteX1" fmla="*/ 1130703 w 1130724"/>
                <a:gd name="connsiteY1" fmla="*/ 0 h 565573"/>
                <a:gd name="connsiteX2" fmla="*/ 1130724 w 1130724"/>
                <a:gd name="connsiteY2" fmla="*/ 211 h 565573"/>
                <a:gd name="connsiteX3" fmla="*/ 565362 w 1130724"/>
                <a:gd name="connsiteY3" fmla="*/ 565573 h 565573"/>
                <a:gd name="connsiteX4" fmla="*/ 0 w 1130724"/>
                <a:gd name="connsiteY4" fmla="*/ 211 h 565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30724" h="565573">
                  <a:moveTo>
                    <a:pt x="21" y="0"/>
                  </a:moveTo>
                  <a:lnTo>
                    <a:pt x="1130703" y="0"/>
                  </a:lnTo>
                  <a:lnTo>
                    <a:pt x="1130724" y="211"/>
                  </a:lnTo>
                  <a:cubicBezTo>
                    <a:pt x="1130724" y="312452"/>
                    <a:pt x="877603" y="565573"/>
                    <a:pt x="565362" y="565573"/>
                  </a:cubicBezTo>
                  <a:cubicBezTo>
                    <a:pt x="253121" y="565573"/>
                    <a:pt x="0" y="31245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6" name="Freeform 87">
              <a:extLst>
                <a:ext uri="{FF2B5EF4-FFF2-40B4-BE49-F238E27FC236}">
                  <a16:creationId xmlns:a16="http://schemas.microsoft.com/office/drawing/2014/main" id="{60C97C94-6942-C048-8F6F-55E05CBA1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3552066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7" name="Freeform 89">
              <a:extLst>
                <a:ext uri="{FF2B5EF4-FFF2-40B4-BE49-F238E27FC236}">
                  <a16:creationId xmlns:a16="http://schemas.microsoft.com/office/drawing/2014/main" id="{BD92967A-BFB2-E441-AC07-5997DDDD57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809039"/>
              <a:ext cx="538821" cy="1125373"/>
            </a:xfrm>
            <a:custGeom>
              <a:avLst/>
              <a:gdLst>
                <a:gd name="connsiteX0" fmla="*/ 538821 w 538821"/>
                <a:gd name="connsiteY0" fmla="*/ 0 h 1125373"/>
                <a:gd name="connsiteX1" fmla="*/ 538821 w 538821"/>
                <a:gd name="connsiteY1" fmla="*/ 1125373 h 1125373"/>
                <a:gd name="connsiteX2" fmla="*/ 451422 w 538821"/>
                <a:gd name="connsiteY2" fmla="*/ 1116562 h 1125373"/>
                <a:gd name="connsiteX3" fmla="*/ 0 w 538821"/>
                <a:gd name="connsiteY3" fmla="*/ 562686 h 1125373"/>
                <a:gd name="connsiteX4" fmla="*/ 451422 w 538821"/>
                <a:gd name="connsiteY4" fmla="*/ 8810 h 1125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1125373">
                  <a:moveTo>
                    <a:pt x="538821" y="0"/>
                  </a:moveTo>
                  <a:lnTo>
                    <a:pt x="538821" y="1125373"/>
                  </a:lnTo>
                  <a:lnTo>
                    <a:pt x="451422" y="1116562"/>
                  </a:lnTo>
                  <a:cubicBezTo>
                    <a:pt x="193796" y="1063844"/>
                    <a:pt x="0" y="835897"/>
                    <a:pt x="0" y="562686"/>
                  </a:cubicBezTo>
                  <a:cubicBezTo>
                    <a:pt x="0" y="289475"/>
                    <a:pt x="193796" y="61528"/>
                    <a:pt x="451422" y="881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8" name="Freeform 100">
              <a:extLst>
                <a:ext uri="{FF2B5EF4-FFF2-40B4-BE49-F238E27FC236}">
                  <a16:creationId xmlns:a16="http://schemas.microsoft.com/office/drawing/2014/main" id="{DC25488D-5181-EC40-A6AC-862FC3787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653180" y="0"/>
              <a:ext cx="538821" cy="562898"/>
            </a:xfrm>
            <a:custGeom>
              <a:avLst/>
              <a:gdLst>
                <a:gd name="connsiteX0" fmla="*/ 21 w 538821"/>
                <a:gd name="connsiteY0" fmla="*/ 0 h 562898"/>
                <a:gd name="connsiteX1" fmla="*/ 538821 w 538821"/>
                <a:gd name="connsiteY1" fmla="*/ 0 h 562898"/>
                <a:gd name="connsiteX2" fmla="*/ 538821 w 538821"/>
                <a:gd name="connsiteY2" fmla="*/ 562898 h 562898"/>
                <a:gd name="connsiteX3" fmla="*/ 451422 w 538821"/>
                <a:gd name="connsiteY3" fmla="*/ 554087 h 562898"/>
                <a:gd name="connsiteX4" fmla="*/ 0 w 538821"/>
                <a:gd name="connsiteY4" fmla="*/ 211 h 5628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38821" h="562898">
                  <a:moveTo>
                    <a:pt x="21" y="0"/>
                  </a:moveTo>
                  <a:lnTo>
                    <a:pt x="538821" y="0"/>
                  </a:lnTo>
                  <a:lnTo>
                    <a:pt x="538821" y="562898"/>
                  </a:lnTo>
                  <a:lnTo>
                    <a:pt x="451422" y="554087"/>
                  </a:lnTo>
                  <a:cubicBezTo>
                    <a:pt x="193796" y="501369"/>
                    <a:pt x="0" y="273422"/>
                    <a:pt x="0" y="21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EA70831-9A8D-3B4D-8EA5-EE32F93E94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150" y="6087110"/>
            <a:ext cx="4134537" cy="0"/>
          </a:xfrm>
          <a:prstGeom prst="line">
            <a:avLst/>
          </a:prstGeom>
          <a:ln w="12700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A diagram of a random error&#10;&#10;Description automatically generated">
            <a:extLst>
              <a:ext uri="{FF2B5EF4-FFF2-40B4-BE49-F238E27FC236}">
                <a16:creationId xmlns:a16="http://schemas.microsoft.com/office/drawing/2014/main" id="{291C5570-41CE-B138-1F3E-D241FC9D17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4837" y="1574354"/>
            <a:ext cx="6272272" cy="3700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821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PunchcardVTI">
  <a:themeElements>
    <a:clrScheme name="AnalogousFromLightSeedLeftStep">
      <a:dk1>
        <a:srgbClr val="000000"/>
      </a:dk1>
      <a:lt1>
        <a:srgbClr val="FFFFFF"/>
      </a:lt1>
      <a:dk2>
        <a:srgbClr val="412D24"/>
      </a:dk2>
      <a:lt2>
        <a:srgbClr val="E2E4E8"/>
      </a:lt2>
      <a:accent1>
        <a:srgbClr val="ABA081"/>
      </a:accent1>
      <a:accent2>
        <a:srgbClr val="BA927F"/>
      </a:accent2>
      <a:accent3>
        <a:srgbClr val="C49397"/>
      </a:accent3>
      <a:accent4>
        <a:srgbClr val="BA7F9D"/>
      </a:accent4>
      <a:accent5>
        <a:srgbClr val="C38FBF"/>
      </a:accent5>
      <a:accent6>
        <a:srgbClr val="A67FBA"/>
      </a:accent6>
      <a:hlink>
        <a:srgbClr val="697BAE"/>
      </a:hlink>
      <a:folHlink>
        <a:srgbClr val="7F7F7F"/>
      </a:folHlink>
    </a:clrScheme>
    <a:fontScheme name="Punchcard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unchcardVTI" id="{C7262591-AF98-8F48-B56D-6342D2439B1A}" vid="{261D9F73-974A-B14E-9EAF-4871CCA60BB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2720</TotalTime>
  <Words>717</Words>
  <Application>Microsoft Office PowerPoint</Application>
  <PresentationFormat>Widescreen</PresentationFormat>
  <Paragraphs>74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Avenir Next</vt:lpstr>
      <vt:lpstr>Microsoft YaHei</vt:lpstr>
      <vt:lpstr>Arial</vt:lpstr>
      <vt:lpstr>Calibri</vt:lpstr>
      <vt:lpstr>Neue Haas Grotesk Text Pro</vt:lpstr>
      <vt:lpstr>PunchcardVTI</vt:lpstr>
      <vt:lpstr>Unit 2 Measuring and Glassware</vt:lpstr>
      <vt:lpstr>Recap</vt:lpstr>
      <vt:lpstr>In this class, we will</vt:lpstr>
      <vt:lpstr>Physical Quantity</vt:lpstr>
      <vt:lpstr>Physical Quantity</vt:lpstr>
      <vt:lpstr>Scientific Prefix</vt:lpstr>
      <vt:lpstr>Practice</vt:lpstr>
      <vt:lpstr>How certain is my measurement?</vt:lpstr>
      <vt:lpstr>Significant figures (sig. fig.)</vt:lpstr>
      <vt:lpstr>Practice</vt:lpstr>
      <vt:lpstr>Precision and accuracy</vt:lpstr>
      <vt:lpstr>Precision vs accuracy</vt:lpstr>
      <vt:lpstr>Practice</vt:lpstr>
      <vt:lpstr>Errors and uncertainties</vt:lpstr>
      <vt:lpstr>Systematic error</vt:lpstr>
      <vt:lpstr>Random error</vt:lpstr>
      <vt:lpstr>Systematic or random?</vt:lpstr>
      <vt:lpstr>Uncertainty in readings</vt:lpstr>
      <vt:lpstr>Uncertainty in reading</vt:lpstr>
      <vt:lpstr>How to express the uncertainty in measuring?</vt:lpstr>
      <vt:lpstr>How are errors associate with precision and accuracy?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2 Measuring and Glassware</dc:title>
  <dc:creator>Mr. Chen</dc:creator>
  <cp:lastModifiedBy>Mr. Chen</cp:lastModifiedBy>
  <cp:revision>3</cp:revision>
  <dcterms:created xsi:type="dcterms:W3CDTF">2023-09-13T03:01:49Z</dcterms:created>
  <dcterms:modified xsi:type="dcterms:W3CDTF">2024-09-13T00:50:10Z</dcterms:modified>
</cp:coreProperties>
</file>