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59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8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9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5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66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5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4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39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2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3/20/25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2765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70105F5E-5B61-4F51-927C-5B28DB7DD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3" descr="Adjustable measurement tool">
            <a:extLst>
              <a:ext uri="{FF2B5EF4-FFF2-40B4-BE49-F238E27FC236}">
                <a16:creationId xmlns:a16="http://schemas.microsoft.com/office/drawing/2014/main" id="{B79A60D5-BC22-4055-4510-1A1A20594C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68" r="6528" b="-1"/>
          <a:stretch/>
        </p:blipFill>
        <p:spPr>
          <a:xfrm>
            <a:off x="5318308" y="10"/>
            <a:ext cx="6873692" cy="685799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74D4FF-FACD-87A0-E8F2-A9919214E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891" y="1061686"/>
            <a:ext cx="7214624" cy="310175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dirty="0"/>
              <a:t>9.3 C</a:t>
            </a:r>
            <a:r>
              <a:rPr lang="en-US" altLang="zh-CN" sz="5100" dirty="0"/>
              <a:t>alorimetry-An Experimental Approach to Enthalpy Change</a:t>
            </a:r>
            <a:endParaRPr lang="en-US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D6FF0-8E8F-FCF1-4619-19FA7576F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883144"/>
            <a:ext cx="4175308" cy="941926"/>
          </a:xfrm>
        </p:spPr>
        <p:txBody>
          <a:bodyPr anchor="b">
            <a:normAutofit/>
          </a:bodyPr>
          <a:lstStyle/>
          <a:p>
            <a:r>
              <a:rPr lang="en-US" dirty="0"/>
              <a:t>Mar.</a:t>
            </a:r>
            <a:r>
              <a:rPr lang="en-US" altLang="zh-CN" dirty="0"/>
              <a:t>20</a:t>
            </a:r>
            <a:r>
              <a:rPr lang="en-US" baseline="30000" dirty="0"/>
              <a:t>th</a:t>
            </a:r>
            <a:r>
              <a:rPr lang="en-US" dirty="0"/>
              <a:t> 202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85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18EC-CF13-3031-C6B7-F49468472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D8DE-9395-EF7E-A450-68E5AAD0B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enthalpy change of a chemical reaction?</a:t>
            </a:r>
          </a:p>
          <a:p>
            <a:r>
              <a:rPr lang="en-US" dirty="0"/>
              <a:t>What approach did we learn to calculate the enthalpy change?</a:t>
            </a:r>
          </a:p>
          <a:p>
            <a:r>
              <a:rPr lang="en-US" dirty="0"/>
              <a:t>As a lab science, experiment is the fundamental approach to quantitatively determine the properties of chemical reactions.</a:t>
            </a:r>
          </a:p>
        </p:txBody>
      </p:sp>
    </p:spTree>
    <p:extLst>
      <p:ext uri="{BB962C8B-B14F-4D97-AF65-F5344CB8AC3E}">
        <p14:creationId xmlns:p14="http://schemas.microsoft.com/office/powerpoint/2010/main" val="161412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15D4-7DA8-16FF-AA71-46632DFB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class, we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35E13-CE96-8DFC-5750-A7733F1B5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calorimeter approaches to calculate the heat change of a chemical reaction</a:t>
            </a:r>
          </a:p>
          <a:p>
            <a:r>
              <a:rPr lang="en-US" dirty="0"/>
              <a:t>How to chemical and physical formula to determine the enthalpy change of a reaction</a:t>
            </a:r>
          </a:p>
          <a:p>
            <a:r>
              <a:rPr lang="en-US" dirty="0"/>
              <a:t>What is the source of errors in calorimetry method</a:t>
            </a:r>
          </a:p>
        </p:txBody>
      </p:sp>
    </p:spTree>
    <p:extLst>
      <p:ext uri="{BB962C8B-B14F-4D97-AF65-F5344CB8AC3E}">
        <p14:creationId xmlns:p14="http://schemas.microsoft.com/office/powerpoint/2010/main" val="290741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A64A4-79EF-E6E1-9991-A301D412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5"/>
            <a:ext cx="5999018" cy="1360898"/>
          </a:xfrm>
        </p:spPr>
        <p:txBody>
          <a:bodyPr>
            <a:normAutofit/>
          </a:bodyPr>
          <a:lstStyle/>
          <a:p>
            <a:r>
              <a:rPr lang="en-US" dirty="0"/>
              <a:t>Calorimetry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59FC4-0E89-0CE8-09F0-7E77E2667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4953000" cy="3567118"/>
          </a:xfrm>
        </p:spPr>
        <p:txBody>
          <a:bodyPr anchor="t">
            <a:normAutofit/>
          </a:bodyPr>
          <a:lstStyle/>
          <a:p>
            <a:r>
              <a:rPr lang="en-US" b="1" i="0" dirty="0">
                <a:effectLst/>
                <a:latin typeface="ProximaNova"/>
              </a:rPr>
              <a:t>Calorimetry</a:t>
            </a:r>
            <a:r>
              <a:rPr lang="en-US" b="0" i="0" dirty="0">
                <a:effectLst/>
                <a:latin typeface="ProximaNova"/>
              </a:rPr>
              <a:t> is the </a:t>
            </a:r>
            <a:r>
              <a:rPr lang="en-US" b="0" i="0" u="none" strike="noStrike" dirty="0">
                <a:effectLst/>
                <a:latin typeface="ProximaNova"/>
              </a:rPr>
              <a:t>measurement</a:t>
            </a:r>
            <a:r>
              <a:rPr lang="en-US" b="0" i="0" dirty="0">
                <a:effectLst/>
                <a:latin typeface="ProximaNova"/>
              </a:rPr>
              <a:t> of the transfer of heat into or out of a system during a </a:t>
            </a:r>
            <a:r>
              <a:rPr lang="en-US" b="0" i="0" u="none" strike="noStrike" dirty="0">
                <a:effectLst/>
                <a:latin typeface="ProximaNova"/>
              </a:rPr>
              <a:t>chemical reaction</a:t>
            </a:r>
            <a:r>
              <a:rPr lang="en-US" b="0" i="0" dirty="0">
                <a:effectLst/>
                <a:latin typeface="ProximaNova"/>
              </a:rPr>
              <a:t> or physical process. </a:t>
            </a:r>
          </a:p>
          <a:p>
            <a:r>
              <a:rPr lang="en-US" b="0" i="0" dirty="0">
                <a:effectLst/>
                <a:latin typeface="ProximaNova"/>
              </a:rPr>
              <a:t>A </a:t>
            </a:r>
            <a:r>
              <a:rPr lang="en-US" b="1" i="0" dirty="0">
                <a:effectLst/>
                <a:latin typeface="ProximaNova"/>
              </a:rPr>
              <a:t>calorimeter</a:t>
            </a:r>
            <a:r>
              <a:rPr lang="en-US" b="0" i="0" dirty="0">
                <a:effectLst/>
                <a:latin typeface="ProximaNova"/>
              </a:rPr>
              <a:t> is an insulated container that is used to measure heat changes.</a:t>
            </a:r>
            <a:endParaRPr lang="en-US" dirty="0"/>
          </a:p>
        </p:txBody>
      </p:sp>
      <p:pic>
        <p:nvPicPr>
          <p:cNvPr id="1026" name="Picture 2" descr="The amount of calories contained in food can be measured using a bomb calorimeter">
            <a:extLst>
              <a:ext uri="{FF2B5EF4-FFF2-40B4-BE49-F238E27FC236}">
                <a16:creationId xmlns:a16="http://schemas.microsoft.com/office/drawing/2014/main" id="{738266B3-BC8D-AC62-D672-88982A467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57310" y="1660259"/>
            <a:ext cx="3327437" cy="386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53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6561-F148-B2C0-2111-7595190A6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made in calorimetry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EC70-4F93-653A-7891-7A9B5C7E0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entire calorimeter is an isolated system, while the bomb chamber is a closed system.</a:t>
            </a:r>
          </a:p>
          <a:p>
            <a:r>
              <a:rPr lang="en-US" dirty="0"/>
              <a:t>The reaction is complete</a:t>
            </a:r>
          </a:p>
          <a:p>
            <a:r>
              <a:rPr lang="en-US" dirty="0"/>
              <a:t>The stirrer, thermometer, bomb chamber do not absorb or retain any heat.</a:t>
            </a:r>
          </a:p>
          <a:p>
            <a:r>
              <a:rPr lang="en-US" dirty="0"/>
              <a:t>The electrical spark does not provide any heat.</a:t>
            </a:r>
          </a:p>
        </p:txBody>
      </p:sp>
    </p:spTree>
    <p:extLst>
      <p:ext uri="{BB962C8B-B14F-4D97-AF65-F5344CB8AC3E}">
        <p14:creationId xmlns:p14="http://schemas.microsoft.com/office/powerpoint/2010/main" val="102870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C046-13C1-97A9-70A3-AA8C6926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theories behind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D8887-1B77-38BC-A645-B4FE94E07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ProximaNova"/>
              </a:rPr>
              <a:t>The temperature change of the water is measured in the experiment and the </a:t>
            </a:r>
            <a:r>
              <a:rPr lang="en-US" b="0" i="0" u="none" strike="noStrike" dirty="0">
                <a:effectLst/>
                <a:latin typeface="ProximaNova"/>
              </a:rPr>
              <a:t>specific heat</a:t>
            </a:r>
            <a:r>
              <a:rPr lang="en-US" b="0" i="0" dirty="0">
                <a:effectLst/>
                <a:latin typeface="ProximaNova"/>
              </a:rPr>
              <a:t> of water can be used to calculate the heat absorbed by the surroundings </a:t>
            </a:r>
            <a:r>
              <a:rPr lang="en-US" b="0" i="0" dirty="0">
                <a:effectLst/>
                <a:latin typeface="inherit"/>
              </a:rPr>
              <a:t>(</a:t>
            </a:r>
            <a:r>
              <a:rPr lang="en-US" b="0" i="0" dirty="0" err="1">
                <a:effectLst/>
                <a:latin typeface="inherit"/>
              </a:rPr>
              <a:t>q</a:t>
            </a:r>
            <a:r>
              <a:rPr lang="en-US" b="0" i="0" baseline="-25000" dirty="0" err="1">
                <a:effectLst/>
                <a:latin typeface="inherit"/>
              </a:rPr>
              <a:t>surr</a:t>
            </a:r>
            <a:r>
              <a:rPr lang="en-US" b="0" i="0" dirty="0">
                <a:effectLst/>
                <a:latin typeface="inherit"/>
              </a:rPr>
              <a:t>)</a:t>
            </a:r>
            <a:r>
              <a:rPr lang="en-US" b="0" i="0" dirty="0">
                <a:effectLst/>
                <a:latin typeface="ProximaNova"/>
              </a:rPr>
              <a:t>.</a:t>
            </a:r>
          </a:p>
          <a:p>
            <a:endParaRPr lang="en-US" b="0" i="0" dirty="0">
              <a:effectLst/>
              <a:latin typeface="ProximaNova"/>
            </a:endParaRPr>
          </a:p>
          <a:p>
            <a:r>
              <a:rPr lang="en-US" dirty="0">
                <a:latin typeface="ProximaNova"/>
              </a:rPr>
              <a:t>The heat absorbed by the surrounding equals to the heat released by reaction with opposite sign</a:t>
            </a:r>
          </a:p>
          <a:p>
            <a:pPr marL="0" indent="0">
              <a:buNone/>
            </a:pPr>
            <a:endParaRPr lang="en-US" dirty="0">
              <a:latin typeface="ProximaNov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F691F-A80B-9C5F-F648-AE40D752E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25" y="3114675"/>
            <a:ext cx="3105150" cy="62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AB1985-9358-51B2-1351-DD72297D5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725" y="4497035"/>
            <a:ext cx="4618550" cy="59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7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750A-B6C2-F211-86B8-E702A913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question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7F26F6-5840-E68A-489A-DB89B45D8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calorimeter with 200 g of water, 0.16 g of methane (CH</a:t>
            </a:r>
            <a:r>
              <a:rPr lang="en-US" baseline="-25000" dirty="0"/>
              <a:t>4</a:t>
            </a:r>
            <a:r>
              <a:rPr lang="en-US" dirty="0"/>
              <a:t>) in injected with abundant oxygen. The initial temperature is 20.0 </a:t>
            </a:r>
            <a:r>
              <a:rPr lang="en-US" baseline="30000" dirty="0" err="1"/>
              <a:t>o</a:t>
            </a:r>
            <a:r>
              <a:rPr lang="en-US" dirty="0" err="1"/>
              <a:t>C.</a:t>
            </a:r>
            <a:r>
              <a:rPr lang="en-US" dirty="0"/>
              <a:t>  After ignition, the temperature raised to 29.4 </a:t>
            </a:r>
            <a:r>
              <a:rPr lang="en-US" baseline="30000" dirty="0" err="1"/>
              <a:t>o</a:t>
            </a:r>
            <a:r>
              <a:rPr lang="en-US" dirty="0" err="1"/>
              <a:t>C.</a:t>
            </a:r>
            <a:r>
              <a:rPr lang="en-US" dirty="0"/>
              <a:t> Determine the heat released by this reaction, and the standard enthalpy change of the methane combustion. (C</a:t>
            </a:r>
            <a:r>
              <a:rPr lang="en-US" baseline="-25000" dirty="0"/>
              <a:t>p</a:t>
            </a:r>
            <a:r>
              <a:rPr lang="en-US" dirty="0"/>
              <a:t>=4.18 J/g K)</a:t>
            </a:r>
          </a:p>
        </p:txBody>
      </p:sp>
    </p:spTree>
    <p:extLst>
      <p:ext uri="{BB962C8B-B14F-4D97-AF65-F5344CB8AC3E}">
        <p14:creationId xmlns:p14="http://schemas.microsoft.com/office/powerpoint/2010/main" val="417110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E2D2-0605-B8E4-3FB0-34C5953E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8D37-E1FB-6E0D-423A-D64005216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Compared to the enthalpy change we calculated by using the bond energy (808 kJ/mol), what causes the differences?</a:t>
            </a:r>
          </a:p>
        </p:txBody>
      </p:sp>
    </p:spTree>
    <p:extLst>
      <p:ext uri="{BB962C8B-B14F-4D97-AF65-F5344CB8AC3E}">
        <p14:creationId xmlns:p14="http://schemas.microsoft.com/office/powerpoint/2010/main" val="1142157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Freeform: Shape 3089">
            <a:extLst>
              <a:ext uri="{FF2B5EF4-FFF2-40B4-BE49-F238E27FC236}">
                <a16:creationId xmlns:a16="http://schemas.microsoft.com/office/drawing/2014/main" id="{1BBD5D8D-131E-46C9-8ED3-18B799429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1942" y="0"/>
            <a:ext cx="9100058" cy="6858000"/>
          </a:xfrm>
          <a:custGeom>
            <a:avLst/>
            <a:gdLst>
              <a:gd name="connsiteX0" fmla="*/ 6010592 w 9100058"/>
              <a:gd name="connsiteY0" fmla="*/ 0 h 6858000"/>
              <a:gd name="connsiteX1" fmla="*/ 9100058 w 9100058"/>
              <a:gd name="connsiteY1" fmla="*/ 0 h 6858000"/>
              <a:gd name="connsiteX2" fmla="*/ 9100058 w 9100058"/>
              <a:gd name="connsiteY2" fmla="*/ 6858000 h 6858000"/>
              <a:gd name="connsiteX3" fmla="*/ 0 w 9100058"/>
              <a:gd name="connsiteY3" fmla="*/ 6858000 h 6858000"/>
              <a:gd name="connsiteX4" fmla="*/ 6010589 w 9100058"/>
              <a:gd name="connsiteY4" fmla="*/ 4 h 6858000"/>
              <a:gd name="connsiteX5" fmla="*/ 6010590 w 9100058"/>
              <a:gd name="connsiteY5" fmla="*/ 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00058" h="6858000">
                <a:moveTo>
                  <a:pt x="6010592" y="0"/>
                </a:moveTo>
                <a:lnTo>
                  <a:pt x="9100058" y="0"/>
                </a:lnTo>
                <a:lnTo>
                  <a:pt x="9100058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DBA50-1B0E-818E-0B56-BD5894BC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157" y="4369526"/>
            <a:ext cx="5946841" cy="1502228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Sample question 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A398F-4DFC-5F94-7B19-DDBEF972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025435"/>
            <a:ext cx="3886199" cy="3801291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0" i="0" dirty="0">
                <a:effectLst/>
                <a:latin typeface="ProximaNova"/>
              </a:rPr>
              <a:t>In an experiment, 25.0 mL of 1.00 M HCl at 25.0°C is added to 25.0 mL of 1.00 M NaOH at 25.0°C in a foam cup calorimeter. A reaction occurs and the temperature rises to 32.0°C. Calculate the standard enthalpy change </a:t>
            </a:r>
            <a:r>
              <a:rPr lang="en-US" b="0" i="0" dirty="0">
                <a:effectLst/>
                <a:latin typeface="inherit"/>
              </a:rPr>
              <a:t>(</a:t>
            </a:r>
            <a:r>
              <a:rPr lang="en-US" b="0" i="0" dirty="0" err="1">
                <a:effectLst/>
                <a:latin typeface="inherit"/>
              </a:rPr>
              <a:t>ΔH</a:t>
            </a:r>
            <a:r>
              <a:rPr lang="en-US" b="0" i="0" baseline="30000" dirty="0" err="1">
                <a:effectLst/>
                <a:latin typeface="inherit"/>
              </a:rPr>
              <a:t>o</a:t>
            </a:r>
            <a:r>
              <a:rPr lang="en-US" b="0" i="0" dirty="0">
                <a:effectLst/>
                <a:latin typeface="inherit"/>
              </a:rPr>
              <a:t>)</a:t>
            </a:r>
            <a:r>
              <a:rPr lang="en-US" b="0" i="0" dirty="0">
                <a:effectLst/>
                <a:latin typeface="ProximaNova"/>
              </a:rPr>
              <a:t> in kJ for this reaction. Assume the densities of the solutions are 1.00 g/mL and that their specific heat is the same as that of water.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  <p:pic>
        <p:nvPicPr>
          <p:cNvPr id="3074" name="Picture 2" descr="A simple constant-pressure calorimeter can be produced using styrofoam cups">
            <a:extLst>
              <a:ext uri="{FF2B5EF4-FFF2-40B4-BE49-F238E27FC236}">
                <a16:creationId xmlns:a16="http://schemas.microsoft.com/office/drawing/2014/main" id="{E21130EB-C827-DD5D-1624-05CE3CBB7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01053" y="1116874"/>
            <a:ext cx="2198117" cy="308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92" name="Straight Connector 3091">
            <a:extLst>
              <a:ext uri="{FF2B5EF4-FFF2-40B4-BE49-F238E27FC236}">
                <a16:creationId xmlns:a16="http://schemas.microsoft.com/office/drawing/2014/main" id="{F478F504-9E26-4692-A3E2-5363222B8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732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354C-C340-F751-0E90-13F6ED56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D2096-6842-174F-E01A-8725DFF0C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could be the source of error here</a:t>
            </a:r>
            <a:r>
              <a:rPr lang="zh-CN" altLang="en-US" dirty="0"/>
              <a:t>？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minimize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errors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operation?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2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ECD2-197B-9DA2-421D-59E59110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EFDCE-2241-0075-A678-CC26C1A9F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physical equations that we use to calculate the heat in the calorimeter?</a:t>
            </a:r>
          </a:p>
          <a:p>
            <a:r>
              <a:rPr lang="en-US" dirty="0"/>
              <a:t>What’s the relationship between the heat of reaction vs. the standard enthalpy change of </a:t>
            </a:r>
            <a:r>
              <a:rPr lang="en-US"/>
              <a:t>a reaction?</a:t>
            </a:r>
          </a:p>
        </p:txBody>
      </p:sp>
    </p:spTree>
    <p:extLst>
      <p:ext uri="{BB962C8B-B14F-4D97-AF65-F5344CB8AC3E}">
        <p14:creationId xmlns:p14="http://schemas.microsoft.com/office/powerpoint/2010/main" val="1329492422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LightSeed_2SEEDS">
      <a:dk1>
        <a:srgbClr val="000000"/>
      </a:dk1>
      <a:lt1>
        <a:srgbClr val="FFFFFF"/>
      </a:lt1>
      <a:dk2>
        <a:srgbClr val="3C3522"/>
      </a:dk2>
      <a:lt2>
        <a:srgbClr val="E8E7E2"/>
      </a:lt2>
      <a:accent1>
        <a:srgbClr val="7077C9"/>
      </a:accent1>
      <a:accent2>
        <a:srgbClr val="81A8CF"/>
      </a:accent2>
      <a:accent3>
        <a:srgbClr val="A28AD3"/>
      </a:accent3>
      <a:accent4>
        <a:srgbClr val="C99B70"/>
      </a:accent4>
      <a:accent5>
        <a:srgbClr val="ABA570"/>
      </a:accent5>
      <a:accent6>
        <a:srgbClr val="95AE60"/>
      </a:accent6>
      <a:hlink>
        <a:srgbClr val="898453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465</Words>
  <Application>Microsoft Macintosh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inherit</vt:lpstr>
      <vt:lpstr>ProximaNova</vt:lpstr>
      <vt:lpstr>Arial</vt:lpstr>
      <vt:lpstr>Walbaum Display</vt:lpstr>
      <vt:lpstr>RegattaVTI</vt:lpstr>
      <vt:lpstr>9.3 Calorimetry-An Experimental Approach to Enthalpy Change</vt:lpstr>
      <vt:lpstr>Warm-up</vt:lpstr>
      <vt:lpstr>In this class, we will learn</vt:lpstr>
      <vt:lpstr>Calorimetry</vt:lpstr>
      <vt:lpstr>Assumptions made in calorimetry</vt:lpstr>
      <vt:lpstr>Physical theories behind </vt:lpstr>
      <vt:lpstr>Sample question 1</vt:lpstr>
      <vt:lpstr>Discussion</vt:lpstr>
      <vt:lpstr>Sample question 2</vt:lpstr>
      <vt:lpstr>Discussion</vt:lpstr>
      <vt:lpstr>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9.3 Calorimetry-An Experimental Approach to Enthalpy Change</dc:title>
  <dc:creator>Chen, Xinyu</dc:creator>
  <cp:lastModifiedBy>Chen, Xinyu</cp:lastModifiedBy>
  <cp:revision>2</cp:revision>
  <dcterms:created xsi:type="dcterms:W3CDTF">2023-03-06T00:26:02Z</dcterms:created>
  <dcterms:modified xsi:type="dcterms:W3CDTF">2025-03-20T00:09:13Z</dcterms:modified>
</cp:coreProperties>
</file>