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27"/>
  </p:notesMasterIdLst>
  <p:sldIdLst>
    <p:sldId id="256" r:id="rId2"/>
    <p:sldId id="257" r:id="rId3"/>
    <p:sldId id="259" r:id="rId4"/>
    <p:sldId id="262" r:id="rId5"/>
    <p:sldId id="263" r:id="rId6"/>
    <p:sldId id="264" r:id="rId7"/>
    <p:sldId id="260" r:id="rId8"/>
    <p:sldId id="261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498" autoAdjust="0"/>
    <p:restoredTop sz="95310" autoAdjust="0"/>
  </p:normalViewPr>
  <p:slideViewPr>
    <p:cSldViewPr snapToGrid="0">
      <p:cViewPr varScale="1">
        <p:scale>
          <a:sx n="118" d="100"/>
          <a:sy n="118" d="100"/>
        </p:scale>
        <p:origin x="2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54F2C4-C147-4997-B198-1CC1CAC5CA4A}" type="doc">
      <dgm:prSet loTypeId="urn:microsoft.com/office/officeart/2005/8/layout/chevron1" loCatId="process" qsTypeId="urn:microsoft.com/office/officeart/2005/8/quickstyle/simple1" qsCatId="simple" csTypeId="urn:microsoft.com/office/officeart/2005/8/colors/colorful2" csCatId="colorful" phldr="1"/>
      <dgm:spPr/>
    </dgm:pt>
    <dgm:pt modelId="{ADF8E5A3-FBAC-44A7-9059-F8B59BEA7BCD}">
      <dgm:prSet phldrT="[Text]"/>
      <dgm:spPr/>
      <dgm:t>
        <a:bodyPr/>
        <a:lstStyle/>
        <a:p>
          <a:r>
            <a:rPr lang="en-US" dirty="0"/>
            <a:t>Position of side chain</a:t>
          </a:r>
        </a:p>
      </dgm:t>
    </dgm:pt>
    <dgm:pt modelId="{E6DD47E7-58F4-4130-92AD-CB7F3DEE19C5}" type="parTrans" cxnId="{0BB5C60B-870A-43BB-8F48-302D5EB2221E}">
      <dgm:prSet/>
      <dgm:spPr/>
      <dgm:t>
        <a:bodyPr/>
        <a:lstStyle/>
        <a:p>
          <a:endParaRPr lang="en-US"/>
        </a:p>
      </dgm:t>
    </dgm:pt>
    <dgm:pt modelId="{39E004D4-61EB-47B8-AB38-D74D39C27726}" type="sibTrans" cxnId="{0BB5C60B-870A-43BB-8F48-302D5EB2221E}">
      <dgm:prSet/>
      <dgm:spPr/>
      <dgm:t>
        <a:bodyPr/>
        <a:lstStyle/>
        <a:p>
          <a:endParaRPr lang="en-US"/>
        </a:p>
      </dgm:t>
    </dgm:pt>
    <dgm:pt modelId="{F2517EF0-B420-476C-B614-C01172559A4F}">
      <dgm:prSet phldrT="[Text]"/>
      <dgm:spPr/>
      <dgm:t>
        <a:bodyPr/>
        <a:lstStyle/>
        <a:p>
          <a:r>
            <a:rPr lang="en-US" dirty="0"/>
            <a:t>Type of side chain</a:t>
          </a:r>
        </a:p>
      </dgm:t>
    </dgm:pt>
    <dgm:pt modelId="{965103C3-BED5-4AAB-AAF5-09D96BD2A546}" type="parTrans" cxnId="{AFAD3A5D-3377-4CB0-9C11-99624B232633}">
      <dgm:prSet/>
      <dgm:spPr/>
      <dgm:t>
        <a:bodyPr/>
        <a:lstStyle/>
        <a:p>
          <a:endParaRPr lang="en-US"/>
        </a:p>
      </dgm:t>
    </dgm:pt>
    <dgm:pt modelId="{3C066AB0-CCB5-4566-9D81-7C7A4ACDA205}" type="sibTrans" cxnId="{AFAD3A5D-3377-4CB0-9C11-99624B232633}">
      <dgm:prSet/>
      <dgm:spPr/>
      <dgm:t>
        <a:bodyPr/>
        <a:lstStyle/>
        <a:p>
          <a:endParaRPr lang="en-US"/>
        </a:p>
      </dgm:t>
    </dgm:pt>
    <dgm:pt modelId="{D7E97348-1C76-4294-833E-442C5925D2C9}">
      <dgm:prSet phldrT="[Text]"/>
      <dgm:spPr/>
      <dgm:t>
        <a:bodyPr/>
        <a:lstStyle/>
        <a:p>
          <a:r>
            <a:rPr lang="en-US" dirty="0"/>
            <a:t>Main carbon chain</a:t>
          </a:r>
        </a:p>
      </dgm:t>
    </dgm:pt>
    <dgm:pt modelId="{7B444880-006F-4D35-B8A3-FDB647D38654}" type="parTrans" cxnId="{63796651-E1A1-4E9F-AC46-CF2ED085741B}">
      <dgm:prSet/>
      <dgm:spPr/>
      <dgm:t>
        <a:bodyPr/>
        <a:lstStyle/>
        <a:p>
          <a:endParaRPr lang="en-US"/>
        </a:p>
      </dgm:t>
    </dgm:pt>
    <dgm:pt modelId="{FE1D3067-9940-4F60-A16A-14D33FDB935D}" type="sibTrans" cxnId="{63796651-E1A1-4E9F-AC46-CF2ED085741B}">
      <dgm:prSet/>
      <dgm:spPr/>
      <dgm:t>
        <a:bodyPr/>
        <a:lstStyle/>
        <a:p>
          <a:endParaRPr lang="en-US"/>
        </a:p>
      </dgm:t>
    </dgm:pt>
    <dgm:pt modelId="{AD1626B2-13F2-435C-8F3A-3C8C0D1275E8}">
      <dgm:prSet phldrT="[Text]"/>
      <dgm:spPr/>
      <dgm:t>
        <a:bodyPr/>
        <a:lstStyle/>
        <a:p>
          <a:r>
            <a:rPr lang="en-US" dirty="0"/>
            <a:t>Suffix</a:t>
          </a:r>
        </a:p>
      </dgm:t>
    </dgm:pt>
    <dgm:pt modelId="{1A49E815-E773-429D-9E16-A955C7DE1ABF}" type="parTrans" cxnId="{0DEEFCDD-354B-4272-B568-521BCBF5EC72}">
      <dgm:prSet/>
      <dgm:spPr/>
      <dgm:t>
        <a:bodyPr/>
        <a:lstStyle/>
        <a:p>
          <a:endParaRPr lang="en-US"/>
        </a:p>
      </dgm:t>
    </dgm:pt>
    <dgm:pt modelId="{0D0818F5-1BB5-4545-847A-3386B8962CBD}" type="sibTrans" cxnId="{0DEEFCDD-354B-4272-B568-521BCBF5EC72}">
      <dgm:prSet/>
      <dgm:spPr/>
      <dgm:t>
        <a:bodyPr/>
        <a:lstStyle/>
        <a:p>
          <a:endParaRPr lang="en-US"/>
        </a:p>
      </dgm:t>
    </dgm:pt>
    <dgm:pt modelId="{2F0CA809-2138-4E2F-85E9-AECD13702EBC}" type="pres">
      <dgm:prSet presAssocID="{8454F2C4-C147-4997-B198-1CC1CAC5CA4A}" presName="Name0" presStyleCnt="0">
        <dgm:presLayoutVars>
          <dgm:dir/>
          <dgm:animLvl val="lvl"/>
          <dgm:resizeHandles val="exact"/>
        </dgm:presLayoutVars>
      </dgm:prSet>
      <dgm:spPr/>
    </dgm:pt>
    <dgm:pt modelId="{75FE57F1-82A1-4D39-BA0A-48479E4FF077}" type="pres">
      <dgm:prSet presAssocID="{ADF8E5A3-FBAC-44A7-9059-F8B59BEA7BCD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AAEB5C05-EB32-41B1-9978-C7E62B4542F5}" type="pres">
      <dgm:prSet presAssocID="{39E004D4-61EB-47B8-AB38-D74D39C27726}" presName="parTxOnlySpace" presStyleCnt="0"/>
      <dgm:spPr/>
    </dgm:pt>
    <dgm:pt modelId="{2193C0EC-8DF2-40B6-A2C8-82C7EC81991D}" type="pres">
      <dgm:prSet presAssocID="{F2517EF0-B420-476C-B614-C01172559A4F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EB055B30-4529-4021-B07B-6534359B279E}" type="pres">
      <dgm:prSet presAssocID="{3C066AB0-CCB5-4566-9D81-7C7A4ACDA205}" presName="parTxOnlySpace" presStyleCnt="0"/>
      <dgm:spPr/>
    </dgm:pt>
    <dgm:pt modelId="{C3DCF91B-6608-4AAC-8ADD-BAD0D3DEE338}" type="pres">
      <dgm:prSet presAssocID="{D7E97348-1C76-4294-833E-442C5925D2C9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CF61B997-ED42-4B22-896D-A1844495FD61}" type="pres">
      <dgm:prSet presAssocID="{FE1D3067-9940-4F60-A16A-14D33FDB935D}" presName="parTxOnlySpace" presStyleCnt="0"/>
      <dgm:spPr/>
    </dgm:pt>
    <dgm:pt modelId="{46C5AF71-3E7A-466F-8223-FA3FF763EC8C}" type="pres">
      <dgm:prSet presAssocID="{AD1626B2-13F2-435C-8F3A-3C8C0D1275E8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0BB5C60B-870A-43BB-8F48-302D5EB2221E}" srcId="{8454F2C4-C147-4997-B198-1CC1CAC5CA4A}" destId="{ADF8E5A3-FBAC-44A7-9059-F8B59BEA7BCD}" srcOrd="0" destOrd="0" parTransId="{E6DD47E7-58F4-4130-92AD-CB7F3DEE19C5}" sibTransId="{39E004D4-61EB-47B8-AB38-D74D39C27726}"/>
    <dgm:cxn modelId="{2407E54E-0B08-4D7F-A7DC-B1BF4A688D5C}" type="presOf" srcId="{AD1626B2-13F2-435C-8F3A-3C8C0D1275E8}" destId="{46C5AF71-3E7A-466F-8223-FA3FF763EC8C}" srcOrd="0" destOrd="0" presId="urn:microsoft.com/office/officeart/2005/8/layout/chevron1"/>
    <dgm:cxn modelId="{63796651-E1A1-4E9F-AC46-CF2ED085741B}" srcId="{8454F2C4-C147-4997-B198-1CC1CAC5CA4A}" destId="{D7E97348-1C76-4294-833E-442C5925D2C9}" srcOrd="2" destOrd="0" parTransId="{7B444880-006F-4D35-B8A3-FDB647D38654}" sibTransId="{FE1D3067-9940-4F60-A16A-14D33FDB935D}"/>
    <dgm:cxn modelId="{0E087959-8151-4E32-9D3B-35DEDFACBCC6}" type="presOf" srcId="{D7E97348-1C76-4294-833E-442C5925D2C9}" destId="{C3DCF91B-6608-4AAC-8ADD-BAD0D3DEE338}" srcOrd="0" destOrd="0" presId="urn:microsoft.com/office/officeart/2005/8/layout/chevron1"/>
    <dgm:cxn modelId="{AFAD3A5D-3377-4CB0-9C11-99624B232633}" srcId="{8454F2C4-C147-4997-B198-1CC1CAC5CA4A}" destId="{F2517EF0-B420-476C-B614-C01172559A4F}" srcOrd="1" destOrd="0" parTransId="{965103C3-BED5-4AAB-AAF5-09D96BD2A546}" sibTransId="{3C066AB0-CCB5-4566-9D81-7C7A4ACDA205}"/>
    <dgm:cxn modelId="{247A006D-7DE6-434B-A736-E53792624F7F}" type="presOf" srcId="{F2517EF0-B420-476C-B614-C01172559A4F}" destId="{2193C0EC-8DF2-40B6-A2C8-82C7EC81991D}" srcOrd="0" destOrd="0" presId="urn:microsoft.com/office/officeart/2005/8/layout/chevron1"/>
    <dgm:cxn modelId="{37C2858D-C140-4830-940E-8DDC80F2A3D6}" type="presOf" srcId="{8454F2C4-C147-4997-B198-1CC1CAC5CA4A}" destId="{2F0CA809-2138-4E2F-85E9-AECD13702EBC}" srcOrd="0" destOrd="0" presId="urn:microsoft.com/office/officeart/2005/8/layout/chevron1"/>
    <dgm:cxn modelId="{DC9EE0C7-E884-4BD0-8901-5280E13FFB3B}" type="presOf" srcId="{ADF8E5A3-FBAC-44A7-9059-F8B59BEA7BCD}" destId="{75FE57F1-82A1-4D39-BA0A-48479E4FF077}" srcOrd="0" destOrd="0" presId="urn:microsoft.com/office/officeart/2005/8/layout/chevron1"/>
    <dgm:cxn modelId="{0DEEFCDD-354B-4272-B568-521BCBF5EC72}" srcId="{8454F2C4-C147-4997-B198-1CC1CAC5CA4A}" destId="{AD1626B2-13F2-435C-8F3A-3C8C0D1275E8}" srcOrd="3" destOrd="0" parTransId="{1A49E815-E773-429D-9E16-A955C7DE1ABF}" sibTransId="{0D0818F5-1BB5-4545-847A-3386B8962CBD}"/>
    <dgm:cxn modelId="{58C1314B-5493-4240-A3CD-8164A64E33F6}" type="presParOf" srcId="{2F0CA809-2138-4E2F-85E9-AECD13702EBC}" destId="{75FE57F1-82A1-4D39-BA0A-48479E4FF077}" srcOrd="0" destOrd="0" presId="urn:microsoft.com/office/officeart/2005/8/layout/chevron1"/>
    <dgm:cxn modelId="{02E5D84B-8695-4B64-8B12-64FF6752DA4D}" type="presParOf" srcId="{2F0CA809-2138-4E2F-85E9-AECD13702EBC}" destId="{AAEB5C05-EB32-41B1-9978-C7E62B4542F5}" srcOrd="1" destOrd="0" presId="urn:microsoft.com/office/officeart/2005/8/layout/chevron1"/>
    <dgm:cxn modelId="{C17BBCC4-8B2C-43C0-B05C-8DA8F5E6E5D7}" type="presParOf" srcId="{2F0CA809-2138-4E2F-85E9-AECD13702EBC}" destId="{2193C0EC-8DF2-40B6-A2C8-82C7EC81991D}" srcOrd="2" destOrd="0" presId="urn:microsoft.com/office/officeart/2005/8/layout/chevron1"/>
    <dgm:cxn modelId="{6DF39223-3BB1-47B3-9C10-95FB1298D1AF}" type="presParOf" srcId="{2F0CA809-2138-4E2F-85E9-AECD13702EBC}" destId="{EB055B30-4529-4021-B07B-6534359B279E}" srcOrd="3" destOrd="0" presId="urn:microsoft.com/office/officeart/2005/8/layout/chevron1"/>
    <dgm:cxn modelId="{3C320E27-6B10-4531-904D-51C884B942DB}" type="presParOf" srcId="{2F0CA809-2138-4E2F-85E9-AECD13702EBC}" destId="{C3DCF91B-6608-4AAC-8ADD-BAD0D3DEE338}" srcOrd="4" destOrd="0" presId="urn:microsoft.com/office/officeart/2005/8/layout/chevron1"/>
    <dgm:cxn modelId="{AC71256D-F08D-4770-A39C-5963E2BA8D57}" type="presParOf" srcId="{2F0CA809-2138-4E2F-85E9-AECD13702EBC}" destId="{CF61B997-ED42-4B22-896D-A1844495FD61}" srcOrd="5" destOrd="0" presId="urn:microsoft.com/office/officeart/2005/8/layout/chevron1"/>
    <dgm:cxn modelId="{1B59AE93-C5CC-48F3-ADE9-8995A403E266}" type="presParOf" srcId="{2F0CA809-2138-4E2F-85E9-AECD13702EBC}" destId="{46C5AF71-3E7A-466F-8223-FA3FF763EC8C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FE57F1-82A1-4D39-BA0A-48479E4FF077}">
      <dsp:nvSpPr>
        <dsp:cNvPr id="0" name=""/>
        <dsp:cNvSpPr/>
      </dsp:nvSpPr>
      <dsp:spPr>
        <a:xfrm>
          <a:off x="2583" y="1277943"/>
          <a:ext cx="1503881" cy="601552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Position of side chain</a:t>
          </a:r>
        </a:p>
      </dsp:txBody>
      <dsp:txXfrm>
        <a:off x="303359" y="1277943"/>
        <a:ext cx="902329" cy="601552"/>
      </dsp:txXfrm>
    </dsp:sp>
    <dsp:sp modelId="{2193C0EC-8DF2-40B6-A2C8-82C7EC81991D}">
      <dsp:nvSpPr>
        <dsp:cNvPr id="0" name=""/>
        <dsp:cNvSpPr/>
      </dsp:nvSpPr>
      <dsp:spPr>
        <a:xfrm>
          <a:off x="1356076" y="1277943"/>
          <a:ext cx="1503881" cy="601552"/>
        </a:xfrm>
        <a:prstGeom prst="chevron">
          <a:avLst/>
        </a:prstGeom>
        <a:solidFill>
          <a:schemeClr val="accent2">
            <a:hueOff val="13013"/>
            <a:satOff val="-8959"/>
            <a:lumOff val="-228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Type of side chain</a:t>
          </a:r>
        </a:p>
      </dsp:txBody>
      <dsp:txXfrm>
        <a:off x="1656852" y="1277943"/>
        <a:ext cx="902329" cy="601552"/>
      </dsp:txXfrm>
    </dsp:sp>
    <dsp:sp modelId="{C3DCF91B-6608-4AAC-8ADD-BAD0D3DEE338}">
      <dsp:nvSpPr>
        <dsp:cNvPr id="0" name=""/>
        <dsp:cNvSpPr/>
      </dsp:nvSpPr>
      <dsp:spPr>
        <a:xfrm>
          <a:off x="2709569" y="1277943"/>
          <a:ext cx="1503881" cy="601552"/>
        </a:xfrm>
        <a:prstGeom prst="chevron">
          <a:avLst/>
        </a:prstGeom>
        <a:solidFill>
          <a:schemeClr val="accent2">
            <a:hueOff val="26025"/>
            <a:satOff val="-17917"/>
            <a:lumOff val="-457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Main carbon chain</a:t>
          </a:r>
        </a:p>
      </dsp:txBody>
      <dsp:txXfrm>
        <a:off x="3010345" y="1277943"/>
        <a:ext cx="902329" cy="601552"/>
      </dsp:txXfrm>
    </dsp:sp>
    <dsp:sp modelId="{46C5AF71-3E7A-466F-8223-FA3FF763EC8C}">
      <dsp:nvSpPr>
        <dsp:cNvPr id="0" name=""/>
        <dsp:cNvSpPr/>
      </dsp:nvSpPr>
      <dsp:spPr>
        <a:xfrm>
          <a:off x="4063063" y="1277943"/>
          <a:ext cx="1503881" cy="601552"/>
        </a:xfrm>
        <a:prstGeom prst="chevron">
          <a:avLst/>
        </a:prstGeom>
        <a:solidFill>
          <a:schemeClr val="accent2">
            <a:hueOff val="39038"/>
            <a:satOff val="-26876"/>
            <a:lumOff val="-686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Suffix</a:t>
          </a:r>
        </a:p>
      </dsp:txBody>
      <dsp:txXfrm>
        <a:off x="4363839" y="1277943"/>
        <a:ext cx="902329" cy="6015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FB3D3F-D5BC-4C26-9334-78DF941DEDBE}" type="datetimeFigureOut">
              <a:rPr lang="en-US" smtClean="0"/>
              <a:t>5/19/26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177663-7EA9-4CE0-BD96-74433BBC1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934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41623-A064-4BED-B073-BA4D61433402}" type="datetime1">
              <a:rPr lang="en-US" smtClean="0"/>
              <a:t>5/19/26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2511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3E5F3-28EE-488F-BD53-B744C06C3DEC}" type="datetime1">
              <a:rPr lang="en-US" smtClean="0"/>
              <a:t>5/19/26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1448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EB70D-CD01-44DA-83B3-8FEB3383D307}" type="datetime1">
              <a:rPr lang="en-US" smtClean="0"/>
              <a:t>5/19/26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401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58CFD-9357-46BE-A189-D637A67C8730}" type="datetime1">
              <a:rPr lang="en-US" smtClean="0"/>
              <a:t>5/19/26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5060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742EE-B331-4632-BD10-A82FED6B6FC0}" type="datetime1">
              <a:rPr lang="en-US" smtClean="0"/>
              <a:t>5/19/26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847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BA835-D13F-49F4-8F11-5D576AC65FAD}" type="datetime1">
              <a:rPr lang="en-US" smtClean="0"/>
              <a:t>5/19/26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4880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1799-ACB5-4CB2-86A2-5C574F1C8706}" type="datetime1">
              <a:rPr lang="en-US" smtClean="0"/>
              <a:t>5/19/26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1229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D5DD0D6-7A82-473E-879B-C6ECD6CCCFEC}" type="datetime1">
              <a:rPr lang="en-US" smtClean="0"/>
              <a:t>5/19/26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5915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05E03-BC17-41A7-854C-DFAB672737DC}" type="datetime1">
              <a:rPr lang="en-US" smtClean="0"/>
              <a:t>5/19/26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6820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6ED0C-1DA7-41F0-94CF-6218B1FEDFF1}" type="datetime1">
              <a:rPr lang="en-US" smtClean="0"/>
              <a:t>5/19/26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9459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F02AB-6034-4B88-BC5A-7C17CB0EF809}" type="datetime1">
              <a:rPr lang="en-US" smtClean="0"/>
              <a:t>5/19/26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9296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4408324-A84C-4A45-93B6-78D079CCE772}" type="datetime1">
              <a:rPr lang="en-US" smtClean="0"/>
              <a:t>5/19/26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3258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2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6.bin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emf"/><Relationship Id="rId4" Type="http://schemas.openxmlformats.org/officeDocument/2006/relationships/oleObject" Target="../embeddings/oleObject8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e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hemical formulae are written on paper">
            <a:extLst>
              <a:ext uri="{FF2B5EF4-FFF2-40B4-BE49-F238E27FC236}">
                <a16:creationId xmlns:a16="http://schemas.microsoft.com/office/drawing/2014/main" id="{4D16D7C9-7FD0-C9D6-3F46-2974720374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5"/>
          <a:stretch/>
        </p:blipFill>
        <p:spPr>
          <a:xfrm>
            <a:off x="1524" y="10"/>
            <a:ext cx="1218895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172360-ACCD-BF24-93F1-776C99DAD3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1749" y="4048350"/>
            <a:ext cx="4181444" cy="2371950"/>
          </a:xfrm>
        </p:spPr>
        <p:txBody>
          <a:bodyPr anchor="b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US" sz="4100" dirty="0">
                <a:solidFill>
                  <a:srgbClr val="0070C0"/>
                </a:solidFill>
              </a:rPr>
              <a:t>14.</a:t>
            </a:r>
            <a:r>
              <a:rPr lang="en-US" altLang="zh-CN" sz="4100" dirty="0">
                <a:solidFill>
                  <a:srgbClr val="0070C0"/>
                </a:solidFill>
              </a:rPr>
              <a:t>4</a:t>
            </a:r>
            <a:r>
              <a:rPr lang="en-US" sz="4100" dirty="0">
                <a:solidFill>
                  <a:srgbClr val="0070C0"/>
                </a:solidFill>
              </a:rPr>
              <a:t> Naming of organic compounds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0E7DE4-9382-CBB4-8543-10D267B656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0240" y="4048350"/>
            <a:ext cx="3283888" cy="816301"/>
          </a:xfrm>
        </p:spPr>
        <p:txBody>
          <a:bodyPr anchor="t">
            <a:normAutofit/>
          </a:bodyPr>
          <a:lstStyle/>
          <a:p>
            <a:pPr algn="ctr"/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9944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nodePh="1">
                                  <p:stCondLst>
                                    <p:cond delay="150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7EF2B-1C79-1457-1219-CEEABC97E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this class, we will learn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6DAAA-41BA-43FD-4AA3-636989A9F6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 to name organic compounds such as alkane, alkene, alcohol, ketone, aldehyde, carboxylic acid, and ester up to 6 carbons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formulate</a:t>
            </a:r>
            <a:r>
              <a:rPr lang="zh-CN" altLang="en-US" dirty="0"/>
              <a:t> </a:t>
            </a:r>
            <a:r>
              <a:rPr lang="en-US" altLang="zh-CN" dirty="0"/>
              <a:t>(</a:t>
            </a:r>
            <a:r>
              <a:rPr lang="zh-CN" altLang="en-US" dirty="0"/>
              <a:t>记口诀）</a:t>
            </a:r>
            <a:r>
              <a:rPr lang="en-US" altLang="zh-CN" dirty="0"/>
              <a:t>the ways of naming an organic compounds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3759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414CE-0079-751C-C777-17F2CA499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Naming organic compounds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32821E-13B3-E35F-EDBA-0749789757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Naming organic compounds properly can effectively communicate with others.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name of the compounds and structures should be matched exclusively.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There are different naming conventions (RCS, IUPAC, old “common” names) present, and chemists of different regions and languages can usually understand each other,</a:t>
            </a:r>
            <a:r>
              <a:rPr lang="zh-CN" altLang="en-US" dirty="0"/>
              <a:t> </a:t>
            </a:r>
            <a:r>
              <a:rPr lang="en-US" altLang="zh-CN" dirty="0"/>
              <a:t>i.e.</a:t>
            </a:r>
            <a:r>
              <a:rPr lang="zh-CN" altLang="en-US" dirty="0"/>
              <a:t> </a:t>
            </a:r>
            <a:r>
              <a:rPr lang="en-US" altLang="zh-CN" dirty="0"/>
              <a:t>glacier</a:t>
            </a:r>
            <a:r>
              <a:rPr lang="zh-CN" altLang="en-US" dirty="0"/>
              <a:t> </a:t>
            </a:r>
            <a:r>
              <a:rPr lang="en-US" altLang="zh-CN" dirty="0"/>
              <a:t>acid</a:t>
            </a:r>
            <a:r>
              <a:rPr lang="zh-CN" altLang="en-US" dirty="0"/>
              <a:t> </a:t>
            </a:r>
            <a:r>
              <a:rPr lang="en-US" altLang="zh-CN" dirty="0"/>
              <a:t>vs</a:t>
            </a:r>
            <a:r>
              <a:rPr lang="zh-CN" altLang="en-US" dirty="0"/>
              <a:t> </a:t>
            </a:r>
            <a:r>
              <a:rPr lang="en-US" altLang="zh-CN" dirty="0"/>
              <a:t>acetic</a:t>
            </a:r>
            <a:r>
              <a:rPr lang="zh-CN" altLang="en-US" dirty="0"/>
              <a:t> </a:t>
            </a:r>
            <a:r>
              <a:rPr lang="en-US" altLang="zh-CN" dirty="0"/>
              <a:t>acid</a:t>
            </a:r>
            <a:r>
              <a:rPr lang="zh-CN" altLang="en-US" dirty="0"/>
              <a:t> </a:t>
            </a:r>
            <a:r>
              <a:rPr lang="en-US" altLang="zh-CN" dirty="0"/>
              <a:t>vs</a:t>
            </a:r>
            <a:r>
              <a:rPr lang="zh-CN" altLang="en-US" dirty="0"/>
              <a:t> </a:t>
            </a:r>
            <a:r>
              <a:rPr lang="en-US" altLang="zh-CN" dirty="0"/>
              <a:t>ethanoic</a:t>
            </a:r>
            <a:r>
              <a:rPr lang="zh-CN" altLang="en-US" dirty="0"/>
              <a:t> </a:t>
            </a:r>
            <a:r>
              <a:rPr lang="en-US" altLang="zh-CN" dirty="0"/>
              <a:t>acid.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2CBF8715-4A15-A06D-F3C5-4526764EAA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582884"/>
              </p:ext>
            </p:extLst>
          </p:nvPr>
        </p:nvGraphicFramePr>
        <p:xfrm>
          <a:off x="5057371" y="3697229"/>
          <a:ext cx="1649152" cy="134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888559" imgH="725574" progId="ChemDraw.Document.6.0">
                  <p:embed/>
                </p:oleObj>
              </mc:Choice>
              <mc:Fallback>
                <p:oleObj name="CS ChemDraw Drawing" r:id="rId2" imgW="888559" imgH="725574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057371" y="3697229"/>
                        <a:ext cx="1649152" cy="1345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28027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E6029-B811-F501-39B2-E2612C18B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 of carbons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49879C4-3ECE-42FD-AB2E-1E034F7B1E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4342103"/>
              </p:ext>
            </p:extLst>
          </p:nvPr>
        </p:nvGraphicFramePr>
        <p:xfrm>
          <a:off x="1096963" y="1846263"/>
          <a:ext cx="100584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609126014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32355287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713924817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622071239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324326574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5166415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No. of carbons</a:t>
                      </a:r>
                    </a:p>
                  </a:txBody>
                  <a:tcPr marL="104881" marR="10488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Prefix</a:t>
                      </a:r>
                    </a:p>
                  </a:txBody>
                  <a:tcPr marL="104881" marR="10488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Adj.</a:t>
                      </a:r>
                    </a:p>
                  </a:txBody>
                  <a:tcPr marL="104881" marR="10488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No. of carbons</a:t>
                      </a:r>
                    </a:p>
                  </a:txBody>
                  <a:tcPr marL="104881" marR="10488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Prefix</a:t>
                      </a:r>
                    </a:p>
                  </a:txBody>
                  <a:tcPr marL="104881" marR="10488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Adj.</a:t>
                      </a:r>
                    </a:p>
                  </a:txBody>
                  <a:tcPr marL="104881" marR="104881"/>
                </a:tc>
                <a:extLst>
                  <a:ext uri="{0D108BD9-81ED-4DB2-BD59-A6C34878D82A}">
                    <a16:rowId xmlns:a16="http://schemas.microsoft.com/office/drawing/2014/main" val="3632311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104881" marR="10488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Meth-</a:t>
                      </a:r>
                    </a:p>
                  </a:txBody>
                  <a:tcPr marL="104881" marR="10488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methyl</a:t>
                      </a:r>
                    </a:p>
                  </a:txBody>
                  <a:tcPr marL="104881" marR="10488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marL="104881" marR="10488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Hex-</a:t>
                      </a:r>
                    </a:p>
                  </a:txBody>
                  <a:tcPr marL="104881" marR="10488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hexyl</a:t>
                      </a:r>
                    </a:p>
                  </a:txBody>
                  <a:tcPr marL="104881" marR="104881"/>
                </a:tc>
                <a:extLst>
                  <a:ext uri="{0D108BD9-81ED-4DB2-BD59-A6C34878D82A}">
                    <a16:rowId xmlns:a16="http://schemas.microsoft.com/office/drawing/2014/main" val="649040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marL="104881" marR="10488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Eth-</a:t>
                      </a:r>
                    </a:p>
                  </a:txBody>
                  <a:tcPr marL="104881" marR="10488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ethyl</a:t>
                      </a:r>
                    </a:p>
                  </a:txBody>
                  <a:tcPr marL="104881" marR="10488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marL="104881" marR="10488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Hept-</a:t>
                      </a:r>
                    </a:p>
                  </a:txBody>
                  <a:tcPr marL="104881" marR="10488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heptyl</a:t>
                      </a:r>
                    </a:p>
                  </a:txBody>
                  <a:tcPr marL="104881" marR="104881"/>
                </a:tc>
                <a:extLst>
                  <a:ext uri="{0D108BD9-81ED-4DB2-BD59-A6C34878D82A}">
                    <a16:rowId xmlns:a16="http://schemas.microsoft.com/office/drawing/2014/main" val="1731286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marL="104881" marR="10488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Prop-</a:t>
                      </a:r>
                    </a:p>
                  </a:txBody>
                  <a:tcPr marL="104881" marR="10488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propyl</a:t>
                      </a:r>
                    </a:p>
                  </a:txBody>
                  <a:tcPr marL="104881" marR="10488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marL="104881" marR="10488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Oct-</a:t>
                      </a:r>
                    </a:p>
                  </a:txBody>
                  <a:tcPr marL="104881" marR="10488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octyl</a:t>
                      </a:r>
                    </a:p>
                  </a:txBody>
                  <a:tcPr marL="104881" marR="104881"/>
                </a:tc>
                <a:extLst>
                  <a:ext uri="{0D108BD9-81ED-4DB2-BD59-A6C34878D82A}">
                    <a16:rowId xmlns:a16="http://schemas.microsoft.com/office/drawing/2014/main" val="3825625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marL="104881" marR="10488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But-</a:t>
                      </a:r>
                    </a:p>
                  </a:txBody>
                  <a:tcPr marL="104881" marR="10488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butyl</a:t>
                      </a:r>
                    </a:p>
                  </a:txBody>
                  <a:tcPr marL="104881" marR="10488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 marL="104881" marR="10488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Non-</a:t>
                      </a:r>
                    </a:p>
                  </a:txBody>
                  <a:tcPr marL="104881" marR="10488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nonyl</a:t>
                      </a:r>
                    </a:p>
                  </a:txBody>
                  <a:tcPr marL="104881" marR="104881"/>
                </a:tc>
                <a:extLst>
                  <a:ext uri="{0D108BD9-81ED-4DB2-BD59-A6C34878D82A}">
                    <a16:rowId xmlns:a16="http://schemas.microsoft.com/office/drawing/2014/main" val="3155885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marL="104881" marR="10488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Pent-</a:t>
                      </a:r>
                    </a:p>
                  </a:txBody>
                  <a:tcPr marL="104881" marR="10488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pentyl</a:t>
                      </a:r>
                    </a:p>
                  </a:txBody>
                  <a:tcPr marL="104881" marR="10488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marL="104881" marR="10488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Dec-</a:t>
                      </a:r>
                    </a:p>
                  </a:txBody>
                  <a:tcPr marL="104881" marR="10488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decyl</a:t>
                      </a:r>
                    </a:p>
                  </a:txBody>
                  <a:tcPr marL="104881" marR="104881"/>
                </a:tc>
                <a:extLst>
                  <a:ext uri="{0D108BD9-81ED-4DB2-BD59-A6C34878D82A}">
                    <a16:rowId xmlns:a16="http://schemas.microsoft.com/office/drawing/2014/main" val="2347454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42499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C30AC-5DCA-206B-29C8-5A7792DD6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numerical prefix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B841A3F1-AF4D-A098-970B-5A7CDC6518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2768231"/>
              </p:ext>
            </p:extLst>
          </p:nvPr>
        </p:nvGraphicFramePr>
        <p:xfrm>
          <a:off x="1096963" y="1846263"/>
          <a:ext cx="10058396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599">
                  <a:extLst>
                    <a:ext uri="{9D8B030D-6E8A-4147-A177-3AD203B41FA5}">
                      <a16:colId xmlns:a16="http://schemas.microsoft.com/office/drawing/2014/main" val="18579228"/>
                    </a:ext>
                  </a:extLst>
                </a:gridCol>
                <a:gridCol w="2514599">
                  <a:extLst>
                    <a:ext uri="{9D8B030D-6E8A-4147-A177-3AD203B41FA5}">
                      <a16:colId xmlns:a16="http://schemas.microsoft.com/office/drawing/2014/main" val="961762452"/>
                    </a:ext>
                  </a:extLst>
                </a:gridCol>
                <a:gridCol w="2514599">
                  <a:extLst>
                    <a:ext uri="{9D8B030D-6E8A-4147-A177-3AD203B41FA5}">
                      <a16:colId xmlns:a16="http://schemas.microsoft.com/office/drawing/2014/main" val="3146498484"/>
                    </a:ext>
                  </a:extLst>
                </a:gridCol>
                <a:gridCol w="2514599">
                  <a:extLst>
                    <a:ext uri="{9D8B030D-6E8A-4147-A177-3AD203B41FA5}">
                      <a16:colId xmlns:a16="http://schemas.microsoft.com/office/drawing/2014/main" val="25157196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No.</a:t>
                      </a:r>
                    </a:p>
                  </a:txBody>
                  <a:tcPr marL="104881" marR="10488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Prefix</a:t>
                      </a:r>
                    </a:p>
                  </a:txBody>
                  <a:tcPr marL="104881" marR="10488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No.</a:t>
                      </a:r>
                    </a:p>
                  </a:txBody>
                  <a:tcPr marL="104881" marR="10488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Prefix</a:t>
                      </a:r>
                    </a:p>
                  </a:txBody>
                  <a:tcPr marL="104881" marR="104881"/>
                </a:tc>
                <a:extLst>
                  <a:ext uri="{0D108BD9-81ED-4DB2-BD59-A6C34878D82A}">
                    <a16:rowId xmlns:a16="http://schemas.microsoft.com/office/drawing/2014/main" val="2860597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104881" marR="10488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Mono-</a:t>
                      </a:r>
                    </a:p>
                  </a:txBody>
                  <a:tcPr marL="104881" marR="10488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marL="104881" marR="10488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Hexa-</a:t>
                      </a:r>
                    </a:p>
                  </a:txBody>
                  <a:tcPr marL="104881" marR="104881"/>
                </a:tc>
                <a:extLst>
                  <a:ext uri="{0D108BD9-81ED-4DB2-BD59-A6C34878D82A}">
                    <a16:rowId xmlns:a16="http://schemas.microsoft.com/office/drawing/2014/main" val="25360508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marL="104881" marR="10488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Di-</a:t>
                      </a:r>
                    </a:p>
                  </a:txBody>
                  <a:tcPr marL="104881" marR="10488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marL="104881" marR="10488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Hepta-</a:t>
                      </a:r>
                    </a:p>
                  </a:txBody>
                  <a:tcPr marL="104881" marR="104881"/>
                </a:tc>
                <a:extLst>
                  <a:ext uri="{0D108BD9-81ED-4DB2-BD59-A6C34878D82A}">
                    <a16:rowId xmlns:a16="http://schemas.microsoft.com/office/drawing/2014/main" val="2433042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marL="104881" marR="10488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Tri-</a:t>
                      </a:r>
                    </a:p>
                  </a:txBody>
                  <a:tcPr marL="104881" marR="10488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marL="104881" marR="10488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Octa-</a:t>
                      </a:r>
                    </a:p>
                  </a:txBody>
                  <a:tcPr marL="104881" marR="104881"/>
                </a:tc>
                <a:extLst>
                  <a:ext uri="{0D108BD9-81ED-4DB2-BD59-A6C34878D82A}">
                    <a16:rowId xmlns:a16="http://schemas.microsoft.com/office/drawing/2014/main" val="29020936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marL="104881" marR="10488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Tetra-</a:t>
                      </a:r>
                    </a:p>
                  </a:txBody>
                  <a:tcPr marL="104881" marR="10488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 marL="104881" marR="10488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Nona-</a:t>
                      </a:r>
                    </a:p>
                  </a:txBody>
                  <a:tcPr marL="104881" marR="104881"/>
                </a:tc>
                <a:extLst>
                  <a:ext uri="{0D108BD9-81ED-4DB2-BD59-A6C34878D82A}">
                    <a16:rowId xmlns:a16="http://schemas.microsoft.com/office/drawing/2014/main" val="852133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marL="104881" marR="10488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Penta-</a:t>
                      </a:r>
                    </a:p>
                  </a:txBody>
                  <a:tcPr marL="104881" marR="10488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marL="104881" marR="10488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Deca-</a:t>
                      </a:r>
                    </a:p>
                  </a:txBody>
                  <a:tcPr marL="104881" marR="104881"/>
                </a:tc>
                <a:extLst>
                  <a:ext uri="{0D108BD9-81ED-4DB2-BD59-A6C34878D82A}">
                    <a16:rowId xmlns:a16="http://schemas.microsoft.com/office/drawing/2014/main" val="13744332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5697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683DB-DF08-DE57-B28F-FB5C4B8DB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your memory!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AC318-54C7-6D4E-962B-EFB5A772DA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dirty="0"/>
              <a:t>4-carbon is called _____</a:t>
            </a:r>
          </a:p>
          <a:p>
            <a:pPr algn="ctr"/>
            <a:r>
              <a:rPr lang="en-US" dirty="0"/>
              <a:t>The prefix for 6 is _____</a:t>
            </a:r>
          </a:p>
          <a:p>
            <a:pPr algn="ctr"/>
            <a:r>
              <a:rPr lang="en-US" dirty="0"/>
              <a:t>3-carbon is called _____</a:t>
            </a:r>
          </a:p>
          <a:p>
            <a:pPr algn="ctr"/>
            <a:r>
              <a:rPr lang="en-US" dirty="0"/>
              <a:t>5-carbon is called _____</a:t>
            </a:r>
          </a:p>
        </p:txBody>
      </p:sp>
    </p:spTree>
    <p:extLst>
      <p:ext uri="{BB962C8B-B14F-4D97-AF65-F5344CB8AC3E}">
        <p14:creationId xmlns:p14="http://schemas.microsoft.com/office/powerpoint/2010/main" val="3469001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C16B1-5B1B-AABF-E3E8-6F358A519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Formula in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3EEDE1-9667-43E0-4EB9-35EC485600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Many times, you can use a verbal formula to facilitate your learning of something that requires systematic memorization.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doesn’t matter the language or formality you use, as long as it can facilitate with your learning.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 will share mine with you, but you are expected to formulate your own by the end of the class.</a:t>
            </a:r>
          </a:p>
        </p:txBody>
      </p:sp>
    </p:spTree>
    <p:extLst>
      <p:ext uri="{BB962C8B-B14F-4D97-AF65-F5344CB8AC3E}">
        <p14:creationId xmlns:p14="http://schemas.microsoft.com/office/powerpoint/2010/main" val="3398887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295C8-069D-04FD-C289-7318E7058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Organic naming formula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F1A4D-9622-A3B0-AE67-E1F58BD398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sz="2800" dirty="0"/>
              <a:t>碳链找最长</a:t>
            </a:r>
            <a:endParaRPr lang="en-US" altLang="zh-CN" sz="2800" dirty="0"/>
          </a:p>
          <a:p>
            <a:pPr algn="ctr"/>
            <a:r>
              <a:rPr lang="zh-CN" altLang="en-US" sz="2800" dirty="0"/>
              <a:t>老大靠前排</a:t>
            </a:r>
            <a:endParaRPr lang="en-US" altLang="zh-CN" sz="2800" dirty="0"/>
          </a:p>
          <a:p>
            <a:pPr algn="ctr"/>
            <a:r>
              <a:rPr lang="zh-CN" altLang="en-US" sz="2800" dirty="0"/>
              <a:t>数序要一致</a:t>
            </a:r>
            <a:endParaRPr lang="en-US" altLang="zh-CN" sz="2800" dirty="0"/>
          </a:p>
          <a:p>
            <a:pPr algn="ctr"/>
            <a:r>
              <a:rPr lang="zh-CN" altLang="en-US" sz="2800" dirty="0"/>
              <a:t>先后</a:t>
            </a:r>
            <a:r>
              <a:rPr lang="en-US" altLang="zh-CN" sz="2800" dirty="0"/>
              <a:t>ABC</a:t>
            </a:r>
          </a:p>
          <a:p>
            <a:pPr algn="ctr"/>
            <a:r>
              <a:rPr lang="zh-CN" altLang="en-US" sz="2800" dirty="0"/>
              <a:t>序数和最小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26544028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9CE4B-5751-3329-61B0-813E622AE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Alkane naming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9900D-1683-7113-3D35-2F434CB5C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Alkane is a compound with carbon and hydrogen only, and all C-C bond is single bond.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Alkane </a:t>
            </a:r>
            <a:r>
              <a:rPr lang="en-US" b="1" dirty="0"/>
              <a:t>usually </a:t>
            </a:r>
            <a:r>
              <a:rPr lang="en-US" dirty="0"/>
              <a:t>has a molecular formula of C</a:t>
            </a:r>
            <a:r>
              <a:rPr lang="en-US" baseline="-25000" dirty="0"/>
              <a:t>n</a:t>
            </a:r>
            <a:r>
              <a:rPr lang="en-US" dirty="0"/>
              <a:t>H</a:t>
            </a:r>
            <a:r>
              <a:rPr lang="en-US" baseline="-25000" dirty="0"/>
              <a:t>2n+2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Alkane is named as carbon-number </a:t>
            </a:r>
            <a:r>
              <a:rPr lang="en-US" dirty="0" err="1"/>
              <a:t>prefix+</a:t>
            </a:r>
            <a:r>
              <a:rPr lang="en-US" b="1" dirty="0" err="1"/>
              <a:t>ane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Methane, Ethane, etc.</a:t>
            </a:r>
          </a:p>
        </p:txBody>
      </p:sp>
    </p:spTree>
    <p:extLst>
      <p:ext uri="{BB962C8B-B14F-4D97-AF65-F5344CB8AC3E}">
        <p14:creationId xmlns:p14="http://schemas.microsoft.com/office/powerpoint/2010/main" val="28340008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CA283-D6ED-7856-4EC4-937D2892B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Practice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CB35EA4-8221-D143-DA45-CA29DEC866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77294" y="4649153"/>
            <a:ext cx="2381250" cy="94297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4882B6-B90D-9F8C-7C87-D9A0B0BEC4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3083" y="3736838"/>
            <a:ext cx="2314575" cy="9715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BEB4AFF-3FFC-591D-A0BF-14972E4994DD}"/>
              </a:ext>
            </a:extLst>
          </p:cNvPr>
          <p:cNvSpPr txBox="1"/>
          <p:nvPr/>
        </p:nvSpPr>
        <p:spPr>
          <a:xfrm>
            <a:off x="1920240" y="2421775"/>
            <a:ext cx="36104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Name the following alkane.</a:t>
            </a:r>
            <a:endParaRPr lang="en-US" dirty="0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D3FC8CA7-DD8E-3AFD-3D6A-C47CED39B0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9157906"/>
              </p:ext>
            </p:extLst>
          </p:nvPr>
        </p:nvGraphicFramePr>
        <p:xfrm>
          <a:off x="4886469" y="2987365"/>
          <a:ext cx="1484416" cy="69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1087521" imgH="507651" progId="ChemDraw.Document.6.0">
                  <p:embed/>
                </p:oleObj>
              </mc:Choice>
              <mc:Fallback>
                <p:oleObj name="CS ChemDraw Drawing" r:id="rId4" imgW="1087521" imgH="507651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886469" y="2987365"/>
                        <a:ext cx="1484416" cy="693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357455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976F7-4B02-04F5-F088-8403A3156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let’s look at the side chain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BAD743A-3E44-F6D3-3A73-DA87BAE8A5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7739" y="2467236"/>
            <a:ext cx="2686050" cy="131445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1AF107-6E76-AC94-45F5-97498C08B088}"/>
              </a:ext>
            </a:extLst>
          </p:cNvPr>
          <p:cNvSpPr txBox="1"/>
          <p:nvPr/>
        </p:nvSpPr>
        <p:spPr>
          <a:xfrm>
            <a:off x="3840480" y="2704407"/>
            <a:ext cx="446116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Find the longest carbon chain (</a:t>
            </a:r>
            <a:r>
              <a:rPr lang="zh-CN" altLang="en-US" dirty="0"/>
              <a:t>碳链找最长）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en-US" dirty="0"/>
              <a:t>L</a:t>
            </a:r>
            <a:r>
              <a:rPr lang="en-US" altLang="zh-CN" dirty="0"/>
              <a:t>abel the longest carbon chain in an order that the branch attaches to a lower-numbered carbon (</a:t>
            </a:r>
            <a:r>
              <a:rPr lang="zh-CN" altLang="en-US" dirty="0"/>
              <a:t>序数和最小）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en-US" dirty="0"/>
              <a:t>D</a:t>
            </a:r>
            <a:r>
              <a:rPr lang="en-US" altLang="zh-CN" dirty="0"/>
              <a:t>escribe the side chain using the </a:t>
            </a:r>
            <a:r>
              <a:rPr lang="en-US" altLang="zh-CN" b="1" i="1" dirty="0"/>
              <a:t>adjective form </a:t>
            </a:r>
            <a:r>
              <a:rPr lang="en-US" altLang="zh-CN" dirty="0"/>
              <a:t>of carbon number.</a:t>
            </a:r>
          </a:p>
          <a:p>
            <a:endParaRPr lang="en-US" dirty="0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F2B67ABB-B2C2-9667-5F8B-3A98A50D93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38579104"/>
              </p:ext>
            </p:extLst>
          </p:nvPr>
        </p:nvGraphicFramePr>
        <p:xfrm>
          <a:off x="2854036" y="3521217"/>
          <a:ext cx="5569528" cy="31574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02BC12E-5C6E-C13B-B4E7-8BBE62B3810B}"/>
              </a:ext>
            </a:extLst>
          </p:cNvPr>
          <p:cNvSpPr txBox="1"/>
          <p:nvPr/>
        </p:nvSpPr>
        <p:spPr>
          <a:xfrm>
            <a:off x="2382982" y="5748233"/>
            <a:ext cx="7486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Locant-Multiplier-Substituent prefix-Root-Locant-Functional group suffix</a:t>
            </a:r>
          </a:p>
        </p:txBody>
      </p:sp>
    </p:spTree>
    <p:extLst>
      <p:ext uri="{BB962C8B-B14F-4D97-AF65-F5344CB8AC3E}">
        <p14:creationId xmlns:p14="http://schemas.microsoft.com/office/powerpoint/2010/main" val="1652683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3822B-A11D-41BB-6BB5-8506EA55B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8B201D-C6CD-30D9-81EC-25042DC7F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7136" y="2059564"/>
            <a:ext cx="2400300" cy="1685925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8BCD92-8043-554D-14B1-6F0B086D3D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1976DF77-A08E-2EA6-7419-109E0A07BD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5832608"/>
              </p:ext>
            </p:extLst>
          </p:nvPr>
        </p:nvGraphicFramePr>
        <p:xfrm>
          <a:off x="6827318" y="2152651"/>
          <a:ext cx="2137948" cy="12763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3" imgW="1374686" imgH="821480" progId="ChemDraw.Document.6.0">
                  <p:embed/>
                </p:oleObj>
              </mc:Choice>
              <mc:Fallback>
                <p:oleObj name="CS ChemDraw Drawing" r:id="rId3" imgW="1374686" imgH="82148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27318" y="2152651"/>
                        <a:ext cx="2137948" cy="12763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2390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5B567-8499-7F79-622B-BA8C89D27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side chains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EEAB94-59BC-69E2-F255-9EE6AB9FD5A6}"/>
              </a:ext>
            </a:extLst>
          </p:cNvPr>
          <p:cNvSpPr txBox="1"/>
          <p:nvPr/>
        </p:nvSpPr>
        <p:spPr>
          <a:xfrm>
            <a:off x="3812771" y="2382982"/>
            <a:ext cx="461570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Find the longest carbon chain (</a:t>
            </a:r>
            <a:r>
              <a:rPr lang="zh-CN" altLang="en-US" dirty="0"/>
              <a:t>碳链找最长）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Number the longest chain so the sum of numbering is the lowest </a:t>
            </a:r>
            <a:r>
              <a:rPr lang="zh-CN" altLang="en-US" dirty="0"/>
              <a:t>（序数和最小）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en-US" dirty="0"/>
              <a:t>F</a:t>
            </a:r>
            <a:r>
              <a:rPr lang="en-US" altLang="zh-CN" dirty="0"/>
              <a:t>ind all side chains and their positions</a:t>
            </a:r>
          </a:p>
          <a:p>
            <a:pPr marL="342900" indent="-342900">
              <a:buAutoNum type="arabicPeriod"/>
            </a:pPr>
            <a:r>
              <a:rPr lang="en-US" dirty="0"/>
              <a:t>Put them on the side chain following the alphabetical order (</a:t>
            </a:r>
            <a:r>
              <a:rPr lang="zh-CN" altLang="en-US" dirty="0"/>
              <a:t>先后</a:t>
            </a:r>
            <a:r>
              <a:rPr lang="en-US" altLang="zh-CN" dirty="0"/>
              <a:t>ABC</a:t>
            </a:r>
            <a:r>
              <a:rPr lang="zh-CN" altLang="en-US" dirty="0"/>
              <a:t>）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en-US" dirty="0"/>
              <a:t>P</a:t>
            </a:r>
            <a:r>
              <a:rPr lang="en-US" altLang="zh-CN" dirty="0"/>
              <a:t>ut a multiplier in front of the side chain to indicate how many of the same type side chains on the structure. (</a:t>
            </a:r>
            <a:r>
              <a:rPr lang="zh-CN" altLang="en-US" dirty="0"/>
              <a:t>数序要一致）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0F5F94-68B7-DB56-4C4B-2459653AEB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52A6AC1C-46C8-385A-02B4-F25D76BE52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7306721"/>
              </p:ext>
            </p:extLst>
          </p:nvPr>
        </p:nvGraphicFramePr>
        <p:xfrm>
          <a:off x="1330989" y="2622809"/>
          <a:ext cx="2392923" cy="16123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1703448" imgH="1147361" progId="ChemDraw.Document.6.0">
                  <p:embed/>
                </p:oleObj>
              </mc:Choice>
              <mc:Fallback>
                <p:oleObj name="CS ChemDraw Drawing" r:id="rId2" imgW="1703448" imgH="1147361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30989" y="2622809"/>
                        <a:ext cx="2392923" cy="16123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839318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62F02-0C32-C2F4-E9EB-D772552E4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</a:t>
            </a:r>
            <a:r>
              <a:rPr lang="en-US" altLang="zh-CN" dirty="0"/>
              <a:t>ractice-work individually and compare your results with your neighbors</a:t>
            </a:r>
            <a:endParaRPr lang="en-US" dirty="0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9AC57AA9-5A5D-4280-8BBE-E68053AF18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740121"/>
              </p:ext>
            </p:extLst>
          </p:nvPr>
        </p:nvGraphicFramePr>
        <p:xfrm>
          <a:off x="1719725" y="2127249"/>
          <a:ext cx="1804871" cy="21732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1080504" imgH="1301011" progId="ChemDraw.Document.6.0">
                  <p:embed/>
                </p:oleObj>
              </mc:Choice>
              <mc:Fallback>
                <p:oleObj name="CS ChemDraw Drawing" r:id="rId2" imgW="1080504" imgH="1301011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19725" y="2127249"/>
                        <a:ext cx="1804871" cy="21732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A920F232-2FBE-127A-D5FF-8AB51C8EB2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397725"/>
              </p:ext>
            </p:extLst>
          </p:nvPr>
        </p:nvGraphicFramePr>
        <p:xfrm>
          <a:off x="6674427" y="2065857"/>
          <a:ext cx="2807624" cy="2142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1447355" imgH="1104680" progId="ChemDraw.Document.6.0">
                  <p:embed/>
                </p:oleObj>
              </mc:Choice>
              <mc:Fallback>
                <p:oleObj name="CS ChemDraw Drawing" r:id="rId4" imgW="1447355" imgH="110468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674427" y="2065857"/>
                        <a:ext cx="2807624" cy="21426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799161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CFA35-EEC1-9A1A-5E69-6F00D819F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Alkene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ADC65-271A-C085-B563-DB5A30698A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Alkenes are carbon hydrogen compounds with carbon-carbon double bond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Alkene uses the suffix </a:t>
            </a:r>
            <a:r>
              <a:rPr lang="en-US" i="1" dirty="0"/>
              <a:t>–</a:t>
            </a:r>
            <a:r>
              <a:rPr lang="en-US" i="1" dirty="0" err="1"/>
              <a:t>ene</a:t>
            </a:r>
            <a:r>
              <a:rPr lang="en-US" i="1" baseline="-25000" dirty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E60122-7017-70AC-712A-A6E811D46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360" y="3429000"/>
            <a:ext cx="2752725" cy="13525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E1C556E-344C-901B-1B90-ECF0A3E73C0B}"/>
              </a:ext>
            </a:extLst>
          </p:cNvPr>
          <p:cNvSpPr txBox="1"/>
          <p:nvPr/>
        </p:nvSpPr>
        <p:spPr>
          <a:xfrm>
            <a:off x="980903" y="4324742"/>
            <a:ext cx="2687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pent-2-ene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7FC430-C7C5-DB42-E4A2-D99FC5C230EC}"/>
              </a:ext>
            </a:extLst>
          </p:cNvPr>
          <p:cNvSpPr txBox="1"/>
          <p:nvPr/>
        </p:nvSpPr>
        <p:spPr>
          <a:xfrm>
            <a:off x="4616335" y="3722040"/>
            <a:ext cx="3613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Why not trans pent-3-ene?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61189F-CE88-244D-D330-66C90081713A}"/>
              </a:ext>
            </a:extLst>
          </p:cNvPr>
          <p:cNvSpPr txBox="1"/>
          <p:nvPr/>
        </p:nvSpPr>
        <p:spPr>
          <a:xfrm>
            <a:off x="4666211" y="4145280"/>
            <a:ext cx="33583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 need to number the key functional group in a lowering number. (</a:t>
            </a:r>
            <a:r>
              <a:rPr lang="zh-CN" altLang="en-US" dirty="0"/>
              <a:t>老大靠前排）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3318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69BE7-B57F-A969-7036-8477C188A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</a:t>
            </a:r>
            <a:r>
              <a:rPr lang="en-US" altLang="zh-CN" dirty="0"/>
              <a:t>ractice</a:t>
            </a:r>
            <a:endParaRPr lang="en-US" dirty="0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17778EB6-F478-E5DB-BCBB-3D712A18B2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2078300"/>
              </p:ext>
            </p:extLst>
          </p:nvPr>
        </p:nvGraphicFramePr>
        <p:xfrm>
          <a:off x="1097280" y="2327737"/>
          <a:ext cx="3304392" cy="15072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1374185" imgH="626655" progId="ChemDraw.Document.6.0">
                  <p:embed/>
                </p:oleObj>
              </mc:Choice>
              <mc:Fallback>
                <p:oleObj name="CS ChemDraw Drawing" r:id="rId2" imgW="1374185" imgH="626655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97280" y="2327737"/>
                        <a:ext cx="3304392" cy="15072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0150A9EF-D7AE-0588-5BBA-EDDBFF9AE8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8158220"/>
              </p:ext>
            </p:extLst>
          </p:nvPr>
        </p:nvGraphicFramePr>
        <p:xfrm>
          <a:off x="6407295" y="2385580"/>
          <a:ext cx="3213302" cy="22579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1703448" imgH="1196569" progId="ChemDraw.Document.6.0">
                  <p:embed/>
                </p:oleObj>
              </mc:Choice>
              <mc:Fallback>
                <p:oleObj name="CS ChemDraw Drawing" r:id="rId4" imgW="1703448" imgH="1196569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407295" y="2385580"/>
                        <a:ext cx="3213302" cy="22579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269791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7535F-E409-1517-752E-EC0671255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Alcohol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2FEE6-E737-F1A7-90F0-4F7762D14C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Alcohol contains the hydroxyl group –OH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Alcohol name starts from alkane and converts </a:t>
            </a:r>
            <a:r>
              <a:rPr lang="en-US" i="1" dirty="0"/>
              <a:t>–</a:t>
            </a:r>
            <a:r>
              <a:rPr lang="en-US" i="1" dirty="0" err="1"/>
              <a:t>ane</a:t>
            </a:r>
            <a:r>
              <a:rPr lang="en-US" i="1" dirty="0"/>
              <a:t> </a:t>
            </a:r>
            <a:r>
              <a:rPr lang="en-US" dirty="0"/>
              <a:t>to </a:t>
            </a:r>
            <a:r>
              <a:rPr lang="en-US" i="1" dirty="0"/>
              <a:t>–</a:t>
            </a:r>
            <a:r>
              <a:rPr lang="en-US" i="1" dirty="0" err="1"/>
              <a:t>anol</a:t>
            </a: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>
              <a:buFont typeface="Arial" panose="020B0604020202020204" pitchFamily="34" charset="0"/>
              <a:buChar char="•"/>
            </a:pPr>
            <a:endParaRPr lang="en-US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10C756-6141-6517-0373-0A06A9687D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274" y="3075752"/>
            <a:ext cx="3333750" cy="12763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B6FD92-D760-FF36-7345-ACBB63AF9D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3468" y="3090651"/>
            <a:ext cx="2495550" cy="15335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2841FCB-8BD2-29AA-9A14-1F8FBD4FC55A}"/>
              </a:ext>
            </a:extLst>
          </p:cNvPr>
          <p:cNvSpPr txBox="1"/>
          <p:nvPr/>
        </p:nvSpPr>
        <p:spPr>
          <a:xfrm>
            <a:off x="1058487" y="4656859"/>
            <a:ext cx="2693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1-butanol or butan-1-ol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C622E5-5E71-80A1-5E65-F1D2F0748613}"/>
              </a:ext>
            </a:extLst>
          </p:cNvPr>
          <p:cNvSpPr txBox="1"/>
          <p:nvPr/>
        </p:nvSpPr>
        <p:spPr>
          <a:xfrm>
            <a:off x="5476531" y="4656859"/>
            <a:ext cx="2582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2-butanol or butan-2-ol</a:t>
            </a:r>
          </a:p>
        </p:txBody>
      </p:sp>
    </p:spTree>
    <p:extLst>
      <p:ext uri="{BB962C8B-B14F-4D97-AF65-F5344CB8AC3E}">
        <p14:creationId xmlns:p14="http://schemas.microsoft.com/office/powerpoint/2010/main" val="2645937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9CE78-F134-B4D6-E94C-37EC61E21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6A64102-813B-1AEE-6757-B0D5F95DDC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6390" y="2381250"/>
            <a:ext cx="2933700" cy="2095500"/>
          </a:xfrm>
        </p:spPr>
      </p:pic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3C59EE22-0D3B-ACC5-2138-D93666268E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9428003"/>
              </p:ext>
            </p:extLst>
          </p:nvPr>
        </p:nvGraphicFramePr>
        <p:xfrm>
          <a:off x="6224876" y="2623474"/>
          <a:ext cx="2680141" cy="1787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3" imgW="1350129" imgH="900314" progId="ChemDraw.Document.6.0">
                  <p:embed/>
                </p:oleObj>
              </mc:Choice>
              <mc:Fallback>
                <p:oleObj name="CS ChemDraw Drawing" r:id="rId3" imgW="1350129" imgH="900314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224876" y="2623474"/>
                        <a:ext cx="2680141" cy="17878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048470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CF66C-3B1C-00EC-AA3F-05D15965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Aldehyde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1351B-312A-C21D-6F4F-2507684F10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Aldehyde contains the –CHO group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Aldehyde converts the </a:t>
            </a:r>
            <a:r>
              <a:rPr lang="en-US" i="1" dirty="0"/>
              <a:t>–</a:t>
            </a:r>
            <a:r>
              <a:rPr lang="en-US" i="1" dirty="0" err="1"/>
              <a:t>ane</a:t>
            </a:r>
            <a:r>
              <a:rPr lang="en-US" i="1" dirty="0"/>
              <a:t> </a:t>
            </a:r>
            <a:r>
              <a:rPr lang="en-US" dirty="0"/>
              <a:t>to </a:t>
            </a:r>
            <a:r>
              <a:rPr lang="en-US" i="1" dirty="0"/>
              <a:t>–anal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DON’T FORGET THE C IN C=O DOUBLE BOND!</a:t>
            </a:r>
          </a:p>
          <a:p>
            <a:pPr marL="0" indent="0">
              <a:buNone/>
            </a:pP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4407E0-BA3E-40BA-C6BA-37CD8431F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469" y="3429000"/>
            <a:ext cx="2381250" cy="17621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34388B1-598D-389B-12DD-639F88699F8D}"/>
              </a:ext>
            </a:extLst>
          </p:cNvPr>
          <p:cNvSpPr txBox="1"/>
          <p:nvPr/>
        </p:nvSpPr>
        <p:spPr>
          <a:xfrm>
            <a:off x="2718261" y="3984331"/>
            <a:ext cx="2288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propanal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3CA354-531E-D671-4F1C-D2DA50CD8DD2}"/>
              </a:ext>
            </a:extLst>
          </p:cNvPr>
          <p:cNvSpPr txBox="1"/>
          <p:nvPr/>
        </p:nvSpPr>
        <p:spPr>
          <a:xfrm>
            <a:off x="2718260" y="4677295"/>
            <a:ext cx="59934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W</a:t>
            </a:r>
            <a:r>
              <a:rPr lang="en-US" altLang="zh-CN" b="1" dirty="0"/>
              <a:t>hy don’t you need to indicate which carbon the aldehyde group attaches to?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9553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5BE79-0502-B11E-7A0C-A0D72A9F7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Ketone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ABA0B-419A-B7BF-4F99-C2D169C5AB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Ketone contains C=O double bond on the mid of the carbon chain.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Ketone name converts </a:t>
            </a:r>
            <a:r>
              <a:rPr lang="en-US" i="1" dirty="0"/>
              <a:t>–</a:t>
            </a:r>
            <a:r>
              <a:rPr lang="en-US" i="1" dirty="0" err="1"/>
              <a:t>ane</a:t>
            </a:r>
            <a:r>
              <a:rPr lang="en-US" i="1" dirty="0"/>
              <a:t> </a:t>
            </a:r>
            <a:r>
              <a:rPr lang="en-US" dirty="0"/>
              <a:t>to </a:t>
            </a:r>
            <a:r>
              <a:rPr lang="en-US" i="1" dirty="0"/>
              <a:t>–</a:t>
            </a:r>
            <a:r>
              <a:rPr lang="en-US" i="1" dirty="0" err="1"/>
              <a:t>anone</a:t>
            </a: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E1E4EA-5DA6-D848-CF8D-804A1A10C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402" y="2945042"/>
            <a:ext cx="2619375" cy="14001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FC5E6F2-F203-9335-22E5-CF4B0A9C4D78}"/>
              </a:ext>
            </a:extLst>
          </p:cNvPr>
          <p:cNvSpPr txBox="1"/>
          <p:nvPr/>
        </p:nvSpPr>
        <p:spPr>
          <a:xfrm>
            <a:off x="3230880" y="3460463"/>
            <a:ext cx="2987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Pentan-3-one</a:t>
            </a:r>
          </a:p>
        </p:txBody>
      </p:sp>
    </p:spTree>
    <p:extLst>
      <p:ext uri="{BB962C8B-B14F-4D97-AF65-F5344CB8AC3E}">
        <p14:creationId xmlns:p14="http://schemas.microsoft.com/office/powerpoint/2010/main" val="581606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F87243A-F810-42AD-AA74-3FA38B1D8A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4710C0A-057C-4274-BA2D-001F1025E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EFAE2A0-B30D-40C7-BB2F-AE3D6D5D0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401AB748-B9E7-4AEC-AAB9-0EABDE63F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046744-3A6D-4FE5-166E-EFCF4A613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>
                <a:solidFill>
                  <a:schemeClr val="tx1">
                    <a:lumMod val="85000"/>
                    <a:lumOff val="15000"/>
                  </a:schemeClr>
                </a:solidFill>
              </a:rPr>
              <a:t>Practice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3FCA84-28AF-09C5-6E03-8DE851E602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458" y="1082357"/>
            <a:ext cx="3312784" cy="2718181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E0954B38-9C23-4C8B-AC5D-0E80CEA3BD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8553" y="886968"/>
            <a:ext cx="64008" cy="3108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1E4381E-E02E-21AD-3E9B-EBE3327FA1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432872" y="1517586"/>
            <a:ext cx="3312785" cy="1847724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791376A8-6B7C-49D5-B3B0-B1D81BC15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55969" y="886968"/>
            <a:ext cx="64008" cy="3108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9A67F4-FBD1-14B1-13B0-40A2E90C99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0289" y="1422921"/>
            <a:ext cx="3312784" cy="2037053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3A16B78-E8EF-4C99-BDA5-80142980A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3B0D8F16-5F3B-465F-9D06-983E2E8267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DED356E-7923-4393-BAEA-0116D9D76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2401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162C1-CB8A-8255-451C-8AF981E90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Carboxylic acid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8EB06-A97D-717B-F73B-564B4D454D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Carboxylic acid has a –COOH group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Carboxylic acid converts the </a:t>
            </a:r>
            <a:r>
              <a:rPr lang="en-US" i="1" dirty="0"/>
              <a:t>–</a:t>
            </a:r>
            <a:r>
              <a:rPr lang="en-US" i="1" dirty="0" err="1"/>
              <a:t>ane</a:t>
            </a:r>
            <a:r>
              <a:rPr lang="en-US" i="1" dirty="0"/>
              <a:t> </a:t>
            </a:r>
            <a:r>
              <a:rPr lang="en-US" dirty="0"/>
              <a:t>to –</a:t>
            </a:r>
            <a:r>
              <a:rPr lang="en-US" i="1" dirty="0" err="1"/>
              <a:t>anoic</a:t>
            </a:r>
            <a:r>
              <a:rPr lang="en-US" i="1" dirty="0"/>
              <a:t> acid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Again, don’t forget the C in the C=O double bond!</a:t>
            </a:r>
          </a:p>
          <a:p>
            <a:pPr marL="0" indent="0">
              <a:buNone/>
            </a:pP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EEE5AF-6681-8AE2-8D39-B7DF240076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038" y="3671887"/>
            <a:ext cx="3609975" cy="19526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AF7D539-0223-C72E-FFAB-BBD1BB064914}"/>
              </a:ext>
            </a:extLst>
          </p:cNvPr>
          <p:cNvSpPr txBox="1"/>
          <p:nvPr/>
        </p:nvSpPr>
        <p:spPr>
          <a:xfrm>
            <a:off x="4405745" y="4378036"/>
            <a:ext cx="2859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Butanoic acid</a:t>
            </a:r>
          </a:p>
        </p:txBody>
      </p:sp>
    </p:spTree>
    <p:extLst>
      <p:ext uri="{BB962C8B-B14F-4D97-AF65-F5344CB8AC3E}">
        <p14:creationId xmlns:p14="http://schemas.microsoft.com/office/powerpoint/2010/main" val="787409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667EA-DD73-94D7-BEF2-87D112466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/>
              <a:t>Ester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A9410-D29C-5A32-9F23-30916D90F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2883" y="2098515"/>
            <a:ext cx="9465200" cy="3786080"/>
          </a:xfrm>
        </p:spPr>
        <p:txBody>
          <a:bodyPr/>
          <a:lstStyle/>
          <a:p>
            <a:pPr marL="85954" indent="-85954" defTabSz="859536">
              <a:spcBef>
                <a:spcPts val="1128"/>
              </a:spcBef>
              <a:spcAft>
                <a:spcPts val="188"/>
              </a:spcAft>
              <a:buFont typeface="Arial" panose="020B0604020202020204" pitchFamily="34" charset="0"/>
              <a:buChar char="•"/>
            </a:pPr>
            <a:r>
              <a:rPr lang="en-US" sz="188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Ester has R-COO-R’ groups</a:t>
            </a:r>
          </a:p>
          <a:p>
            <a:pPr marL="85954" indent="-85954" defTabSz="859536">
              <a:spcBef>
                <a:spcPts val="1128"/>
              </a:spcBef>
              <a:spcAft>
                <a:spcPts val="188"/>
              </a:spcAft>
              <a:buFont typeface="Arial" panose="020B0604020202020204" pitchFamily="34" charset="0"/>
              <a:buChar char="•"/>
            </a:pPr>
            <a:r>
              <a:rPr lang="en-US" sz="188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Ester naming is a bit complicated</a:t>
            </a:r>
          </a:p>
          <a:p>
            <a:pPr marL="85954" indent="-85954" defTabSz="859536">
              <a:spcBef>
                <a:spcPts val="1128"/>
              </a:spcBef>
              <a:spcAft>
                <a:spcPts val="188"/>
              </a:spcAft>
              <a:buFont typeface="Arial" panose="020B0604020202020204" pitchFamily="34" charset="0"/>
              <a:buChar char="•"/>
            </a:pPr>
            <a:r>
              <a:rPr lang="en-US" sz="188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We start from the C-O single bond side, and name this part according to number of carbons, using the </a:t>
            </a:r>
            <a:r>
              <a:rPr lang="en-US" sz="1880" i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–</a:t>
            </a:r>
            <a:r>
              <a:rPr lang="en-US" sz="1880" i="1" kern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yl</a:t>
            </a:r>
            <a:r>
              <a:rPr lang="en-US" sz="1880" i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88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adjective form</a:t>
            </a:r>
          </a:p>
          <a:p>
            <a:pPr marL="85954" indent="-85954" defTabSz="859536">
              <a:spcBef>
                <a:spcPts val="1128"/>
              </a:spcBef>
              <a:spcAft>
                <a:spcPts val="188"/>
              </a:spcAft>
              <a:buFont typeface="Arial" panose="020B0604020202020204" pitchFamily="34" charset="0"/>
              <a:buChar char="•"/>
            </a:pPr>
            <a:r>
              <a:rPr lang="en-US" sz="188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We then name the C=O double bond part using the number of carbons, with a suffix from </a:t>
            </a:r>
            <a:r>
              <a:rPr lang="en-US" sz="1880" i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–</a:t>
            </a:r>
            <a:r>
              <a:rPr lang="en-US" sz="1880" i="1" kern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ane</a:t>
            </a:r>
            <a:r>
              <a:rPr lang="en-US" sz="188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 to </a:t>
            </a:r>
            <a:r>
              <a:rPr lang="en-US" sz="1880" i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–</a:t>
            </a:r>
            <a:r>
              <a:rPr lang="en-US" sz="1880" i="1" kern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anoate</a:t>
            </a:r>
            <a:r>
              <a:rPr lang="en-US" sz="1880" i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.</a:t>
            </a:r>
            <a:endParaRPr lang="en-US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6F1EBF-0B22-CAB8-9B8E-3AA4D1EEED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242" y="4616492"/>
            <a:ext cx="3011655" cy="11562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A8D9AA8-0FE4-D423-8731-9BE1EFC6FB42}"/>
              </a:ext>
            </a:extLst>
          </p:cNvPr>
          <p:cNvSpPr txBox="1"/>
          <p:nvPr/>
        </p:nvSpPr>
        <p:spPr>
          <a:xfrm>
            <a:off x="4999073" y="4679642"/>
            <a:ext cx="3003833" cy="352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29768">
              <a:spcAft>
                <a:spcPts val="600"/>
              </a:spcAft>
            </a:pPr>
            <a:r>
              <a:rPr lang="en-US" sz="1692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Ethyl butanoate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55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788DD-D2AB-F959-EF22-86392A786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B087B2A-99F1-3AA3-3E85-248512F175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2794" y="1974533"/>
            <a:ext cx="3705225" cy="218122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E69B8D-6CA0-46F5-99CE-328411C4BA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592" y="2501265"/>
            <a:ext cx="3571875" cy="173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4273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E4B9C-21D3-BBF3-846A-11CF2B99F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Plenary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49CC3-FF42-1F3C-1831-43749E5BA7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Can you use either my formula, or yours, to recite the five principles in naming organic compound?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Can you recall the suffix for alkane, alkene, alcohol, aldehyde, ketone, carboxylic acid, and ester?</a:t>
            </a:r>
          </a:p>
        </p:txBody>
      </p:sp>
    </p:spTree>
    <p:extLst>
      <p:ext uri="{BB962C8B-B14F-4D97-AF65-F5344CB8AC3E}">
        <p14:creationId xmlns:p14="http://schemas.microsoft.com/office/powerpoint/2010/main" val="274701649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307</TotalTime>
  <Words>794</Words>
  <Application>Microsoft Macintosh PowerPoint</Application>
  <PresentationFormat>Widescreen</PresentationFormat>
  <Paragraphs>148</Paragraphs>
  <Slides>25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Calibri Light</vt:lpstr>
      <vt:lpstr>Wingdings</vt:lpstr>
      <vt:lpstr>Retrospect</vt:lpstr>
      <vt:lpstr>CS ChemDraw Drawing</vt:lpstr>
      <vt:lpstr>14.4 Naming of organic compounds</vt:lpstr>
      <vt:lpstr>In this class, we will learn</vt:lpstr>
      <vt:lpstr>Naming organic compounds</vt:lpstr>
      <vt:lpstr>Number of carbons</vt:lpstr>
      <vt:lpstr>General numerical prefix</vt:lpstr>
      <vt:lpstr>Test your memory!</vt:lpstr>
      <vt:lpstr>Formula in learning</vt:lpstr>
      <vt:lpstr>Organic naming formula</vt:lpstr>
      <vt:lpstr>Alkane naming</vt:lpstr>
      <vt:lpstr>Practice</vt:lpstr>
      <vt:lpstr>Now let’s look at the side chain</vt:lpstr>
      <vt:lpstr>Practice</vt:lpstr>
      <vt:lpstr>Multiple side chains</vt:lpstr>
      <vt:lpstr>Practice-work individually and compare your results with your neighbors</vt:lpstr>
      <vt:lpstr>Alkene</vt:lpstr>
      <vt:lpstr>Practice</vt:lpstr>
      <vt:lpstr>Alcohol</vt:lpstr>
      <vt:lpstr>Practice</vt:lpstr>
      <vt:lpstr>Aldehyde</vt:lpstr>
      <vt:lpstr>Ketone</vt:lpstr>
      <vt:lpstr>Practice</vt:lpstr>
      <vt:lpstr>Carboxylic acid</vt:lpstr>
      <vt:lpstr>Ester</vt:lpstr>
      <vt:lpstr>Practice</vt:lpstr>
      <vt:lpstr>Plenary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14.3 Naming of organic compounds</dc:title>
  <dc:creator>Mr. Chen</dc:creator>
  <cp:lastModifiedBy>Xinyu Chen</cp:lastModifiedBy>
  <cp:revision>3</cp:revision>
  <dcterms:created xsi:type="dcterms:W3CDTF">2023-05-10T00:39:29Z</dcterms:created>
  <dcterms:modified xsi:type="dcterms:W3CDTF">2026-05-19T01:37:09Z</dcterms:modified>
</cp:coreProperties>
</file>